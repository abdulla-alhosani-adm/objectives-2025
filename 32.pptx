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68" r:id="rId1"/>
  </p:sldMasterIdLst>
  <p:notesMasterIdLst>
    <p:notesMasterId r:id="rId8"/>
  </p:notesMasterIdLst>
  <p:sldIdLst>
    <p:sldId id="256" r:id="rId2"/>
    <p:sldId id="257" r:id="rId3"/>
    <p:sldId id="259" r:id="rId4"/>
    <p:sldId id="260" r:id="rId5"/>
    <p:sldId id="261" r:id="rId6"/>
    <p:sldId id="262" r:id="rId7"/>
  </p:sldIdLst>
  <p:sldSz cx="18288000" cy="10287000"/>
  <p:notesSz cx="6858000" cy="9144000"/>
  <p:embeddedFontLst>
    <p:embeddedFont>
      <p:font typeface="Anton" pitchFamily="2" charset="0"/>
      <p:regular r:id="rId9"/>
    </p:embeddedFont>
    <p:embeddedFont>
      <p:font typeface="Gill Sans MT" panose="020B0502020104020203" pitchFamily="34" charset="0"/>
      <p:regular r:id="rId10"/>
      <p:bold r:id="rId11"/>
      <p:italic r:id="rId12"/>
      <p:boldItalic r:id="rId13"/>
    </p:embeddedFont>
    <p:embeddedFont>
      <p:font typeface="Poppins Medium" panose="00000600000000000000" pitchFamily="2" charset="0"/>
      <p:regular r:id="rId14"/>
      <p:italic r:id="rId1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3" d="100"/>
          <a:sy n="33" d="100"/>
        </p:scale>
        <p:origin x="946"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70149A-6492-48DB-AD51-86BBCD026030}" type="datetimeFigureOut">
              <a:rPr lang="en-AE" smtClean="0"/>
              <a:t>24/11/2025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F64A15-1292-44A9-97D2-2F4F1462F0A9}" type="slidenum">
              <a:rPr lang="en-AE" smtClean="0"/>
              <a:t>‹#›</a:t>
            </a:fld>
            <a:endParaRPr lang="en-AE"/>
          </a:p>
        </p:txBody>
      </p:sp>
    </p:spTree>
    <p:extLst>
      <p:ext uri="{BB962C8B-B14F-4D97-AF65-F5344CB8AC3E}">
        <p14:creationId xmlns:p14="http://schemas.microsoft.com/office/powerpoint/2010/main" val="3106058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2400300" y="3580116"/>
            <a:ext cx="13487400" cy="2468880"/>
          </a:xfrm>
          <a:solidFill>
            <a:srgbClr val="FFFFFF"/>
          </a:solidFill>
          <a:ln w="38100">
            <a:solidFill>
              <a:srgbClr val="404040"/>
            </a:solidFill>
          </a:ln>
        </p:spPr>
        <p:txBody>
          <a:bodyPr lIns="274320" rIns="274320" anchor="ctr" anchorCtr="1">
            <a:normAutofit/>
          </a:bodyPr>
          <a:lstStyle>
            <a:lvl1pPr algn="ctr">
              <a:defRPr sz="57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4042791" y="6528816"/>
            <a:ext cx="10202418" cy="1859841"/>
          </a:xfrm>
          <a:noFill/>
        </p:spPr>
        <p:txBody>
          <a:bodyPr>
            <a:normAutofit/>
          </a:bodyPr>
          <a:lstStyle>
            <a:lvl1pPr marL="0" indent="0" algn="ctr">
              <a:buNone/>
              <a:defRPr sz="3000">
                <a:solidFill>
                  <a:schemeClr val="tx1">
                    <a:lumMod val="75000"/>
                    <a:lumOff val="25000"/>
                  </a:schemeClr>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3816294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51998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2400300" y="3580116"/>
            <a:ext cx="13487400" cy="2468880"/>
          </a:xfrm>
          <a:solidFill>
            <a:srgbClr val="FFFFFF"/>
          </a:solidFill>
          <a:ln w="38100">
            <a:solidFill>
              <a:srgbClr val="404040"/>
            </a:solidFill>
          </a:ln>
        </p:spPr>
        <p:txBody>
          <a:bodyPr lIns="274320" rIns="274320" anchor="ctr" anchorCtr="1">
            <a:normAutofit/>
          </a:bodyPr>
          <a:lstStyle>
            <a:lvl1pPr>
              <a:defRPr sz="57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4042791" y="6528698"/>
            <a:ext cx="10202418" cy="1897623"/>
          </a:xfrm>
        </p:spPr>
        <p:txBody>
          <a:bodyPr anchor="t" anchorCtr="1">
            <a:normAutofit/>
          </a:bodyPr>
          <a:lstStyle>
            <a:lvl1pPr marL="0" indent="0">
              <a:buNone/>
              <a:defRPr sz="3000">
                <a:solidFill>
                  <a:schemeClr val="tx1"/>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7559186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372868" y="3957066"/>
            <a:ext cx="6407657" cy="4652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507473" y="3957066"/>
            <a:ext cx="6405371" cy="4652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86617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375154" y="3470150"/>
            <a:ext cx="6405372" cy="1056131"/>
          </a:xfrm>
        </p:spPr>
        <p:txBody>
          <a:bodyPr anchor="b" anchorCtr="1">
            <a:normAutofit/>
          </a:bodyPr>
          <a:lstStyle>
            <a:lvl1pPr marL="0" indent="0" algn="ctr">
              <a:buNone/>
              <a:defRPr sz="2850" b="0" cap="all" spc="150" baseline="0">
                <a:solidFill>
                  <a:schemeClr val="accent2">
                    <a:lumMod val="75000"/>
                  </a:schemeClr>
                </a:solidFill>
              </a:defRPr>
            </a:lvl1pPr>
            <a:lvl2pPr marL="685800" indent="0">
              <a:buNone/>
              <a:defRPr sz="285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2375154" y="4714875"/>
            <a:ext cx="6405372" cy="38951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9507474" y="4714875"/>
            <a:ext cx="6380226" cy="3895164"/>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9507474" y="3470150"/>
            <a:ext cx="6405372" cy="1056131"/>
          </a:xfrm>
        </p:spPr>
        <p:txBody>
          <a:bodyPr anchor="b" anchorCtr="1">
            <a:normAutofit/>
          </a:bodyPr>
          <a:lstStyle>
            <a:lvl1pPr marL="0" indent="0" algn="ctr">
              <a:buNone/>
              <a:defRPr sz="2850" b="0" cap="all" spc="150" baseline="0">
                <a:solidFill>
                  <a:schemeClr val="accent2">
                    <a:lumMod val="75000"/>
                  </a:schemeClr>
                </a:solidFill>
              </a:defRPr>
            </a:lvl1pPr>
            <a:lvl2pPr marL="685800" indent="0">
              <a:buNone/>
              <a:defRPr sz="285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418733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28503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33401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9144000" cy="1028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1207008" y="3365743"/>
            <a:ext cx="6729984" cy="1712246"/>
          </a:xfrm>
          <a:solidFill>
            <a:srgbClr val="FFFFFF"/>
          </a:solidFill>
          <a:ln>
            <a:solidFill>
              <a:srgbClr val="404040"/>
            </a:solidFill>
          </a:ln>
        </p:spPr>
        <p:txBody>
          <a:bodyPr anchor="ctr" anchorCtr="1">
            <a:normAutofit/>
          </a:bodyPr>
          <a:lstStyle>
            <a:lvl1pPr>
              <a:defRPr sz="33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10104120" y="1207008"/>
            <a:ext cx="7223760" cy="7872984"/>
          </a:xfrm>
        </p:spPr>
        <p:txBody>
          <a:bodyPr>
            <a:normAutofit/>
          </a:bodyPr>
          <a:lstStyle>
            <a:lvl1pPr>
              <a:defRPr sz="2850">
                <a:solidFill>
                  <a:schemeClr val="tx1"/>
                </a:solidFill>
              </a:defRPr>
            </a:lvl1pPr>
            <a:lvl2pPr>
              <a:defRPr sz="2400">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673352" y="5324877"/>
            <a:ext cx="5692140" cy="3291054"/>
          </a:xfrm>
        </p:spPr>
        <p:txBody>
          <a:bodyPr anchor="t" anchorCtr="1">
            <a:normAutofit/>
          </a:bodyPr>
          <a:lstStyle>
            <a:lvl1pPr marL="0" indent="0" algn="ctr">
              <a:buNone/>
              <a:defRPr sz="2250">
                <a:solidFill>
                  <a:srgbClr val="FFFFFF"/>
                </a:solidFill>
              </a:defRPr>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9" name="Date Placeholder 8"/>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10" name="Footer Placeholder 9"/>
          <p:cNvSpPr>
            <a:spLocks noGrp="1"/>
          </p:cNvSpPr>
          <p:nvPr>
            <p:ph type="ftr" sz="quarter" idx="11"/>
          </p:nvPr>
        </p:nvSpPr>
        <p:spPr>
          <a:xfrm>
            <a:off x="1207009" y="9354312"/>
            <a:ext cx="7687196" cy="48006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11605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9143999" cy="1028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1212785" y="3365742"/>
            <a:ext cx="6742497" cy="1701960"/>
          </a:xfrm>
          <a:solidFill>
            <a:srgbClr val="FFFFFF"/>
          </a:solidFill>
          <a:ln>
            <a:solidFill>
              <a:srgbClr val="404040"/>
            </a:solidFill>
          </a:ln>
        </p:spPr>
        <p:txBody>
          <a:bodyPr anchor="ctr" anchorCtr="1">
            <a:noAutofit/>
          </a:bodyPr>
          <a:lstStyle>
            <a:lvl1pPr>
              <a:defRPr sz="33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9143999" y="0"/>
            <a:ext cx="9153146" cy="10287000"/>
          </a:xfrm>
          <a:solidFill>
            <a:schemeClr val="bg1">
              <a:lumMod val="75000"/>
            </a:schemeClr>
          </a:solidFill>
        </p:spPr>
        <p:txBody>
          <a:bodyPr anchor="t"/>
          <a:lstStyle>
            <a:lvl1pPr marL="0" indent="0">
              <a:buNone/>
              <a:defRPr sz="4800">
                <a:solidFill>
                  <a:schemeClr val="bg1">
                    <a:lumMod val="85000"/>
                    <a:lumOff val="15000"/>
                  </a:schemeClr>
                </a:solidFill>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673352" y="5324878"/>
            <a:ext cx="5692140" cy="3291056"/>
          </a:xfrm>
        </p:spPr>
        <p:txBody>
          <a:bodyPr anchor="t" anchorCtr="1">
            <a:normAutofit/>
          </a:bodyPr>
          <a:lstStyle>
            <a:lvl1pPr marL="0" indent="0" algn="ctr">
              <a:buNone/>
              <a:defRPr sz="2250">
                <a:solidFill>
                  <a:srgbClr val="FFFFFF"/>
                </a:solidFill>
              </a:defRPr>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1D8BD707-D9CF-40AE-B4C6-C98DA3205C09}" type="datetimeFigureOut">
              <a:rPr lang="en-US" smtClean="0"/>
              <a:pPr/>
              <a:t>11/24/2025</a:t>
            </a:fld>
            <a:endParaRPr lang="en-US"/>
          </a:p>
        </p:txBody>
      </p:sp>
      <p:sp>
        <p:nvSpPr>
          <p:cNvPr id="9" name="Footer Placeholder 8"/>
          <p:cNvSpPr>
            <a:spLocks noGrp="1"/>
          </p:cNvSpPr>
          <p:nvPr>
            <p:ph type="ftr" sz="quarter" idx="11"/>
          </p:nvPr>
        </p:nvSpPr>
        <p:spPr>
          <a:xfrm>
            <a:off x="1207009" y="9354312"/>
            <a:ext cx="7687196" cy="48006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43610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19389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979668" y="1405890"/>
            <a:ext cx="1947912" cy="747522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346705" y="1405890"/>
            <a:ext cx="9297734" cy="74752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87364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3346704" y="1447038"/>
            <a:ext cx="11594592" cy="178308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346704" y="3957067"/>
            <a:ext cx="11594592" cy="46529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732144" y="9358224"/>
            <a:ext cx="4130619" cy="485952"/>
          </a:xfrm>
          <a:prstGeom prst="rect">
            <a:avLst/>
          </a:prstGeom>
        </p:spPr>
        <p:txBody>
          <a:bodyPr vert="horz" lIns="91440" tIns="45720" rIns="91440" bIns="45720" rtlCol="0" anchor="ctr"/>
          <a:lstStyle>
            <a:lvl1pPr algn="r">
              <a:defRPr sz="1575">
                <a:solidFill>
                  <a:schemeClr val="tx1">
                    <a:alpha val="70000"/>
                  </a:schemeClr>
                </a:solidFill>
              </a:defRPr>
            </a:lvl1pPr>
          </a:lstStyle>
          <a:p>
            <a:fld id="{1D8BD707-D9CF-40AE-B4C6-C98DA3205C09}" type="datetimeFigureOut">
              <a:rPr lang="en-US" smtClean="0"/>
              <a:pPr/>
              <a:t>11/24/2025</a:t>
            </a:fld>
            <a:endParaRPr lang="en-US"/>
          </a:p>
        </p:txBody>
      </p:sp>
      <p:sp>
        <p:nvSpPr>
          <p:cNvPr id="5" name="Footer Placeholder 4"/>
          <p:cNvSpPr>
            <a:spLocks noGrp="1"/>
          </p:cNvSpPr>
          <p:nvPr>
            <p:ph type="ftr" sz="quarter" idx="3"/>
          </p:nvPr>
        </p:nvSpPr>
        <p:spPr>
          <a:xfrm>
            <a:off x="2400301" y="9354312"/>
            <a:ext cx="8851784" cy="480060"/>
          </a:xfrm>
          <a:prstGeom prst="rect">
            <a:avLst/>
          </a:prstGeom>
        </p:spPr>
        <p:txBody>
          <a:bodyPr vert="horz" lIns="91440" tIns="45720" rIns="91440" bIns="45720" rtlCol="0" anchor="ctr"/>
          <a:lstStyle>
            <a:lvl1pPr algn="l">
              <a:defRPr sz="1575">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6138383" y="9326880"/>
            <a:ext cx="548640" cy="548640"/>
          </a:xfrm>
          <a:prstGeom prst="ellipse">
            <a:avLst/>
          </a:prstGeom>
          <a:solidFill>
            <a:srgbClr val="1D1D1D">
              <a:alpha val="70000"/>
            </a:srgbClr>
          </a:solidFill>
        </p:spPr>
        <p:txBody>
          <a:bodyPr vert="horz" lIns="18288" tIns="45720" rIns="18288" bIns="45720" rtlCol="0" anchor="ctr">
            <a:noAutofit/>
          </a:bodyPr>
          <a:lstStyle>
            <a:lvl1pPr algn="ctr">
              <a:defRPr sz="1650" spc="0" baseline="0">
                <a:solidFill>
                  <a:srgbClr val="FFFFFF"/>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656256698"/>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Lst>
  <p:txStyles>
    <p:titleStyle>
      <a:lvl1pPr algn="ctr" defTabSz="1371600" rtl="0" eaLnBrk="1" latinLnBrk="0" hangingPunct="1">
        <a:lnSpc>
          <a:spcPct val="90000"/>
        </a:lnSpc>
        <a:spcBef>
          <a:spcPct val="0"/>
        </a:spcBef>
        <a:buNone/>
        <a:defRPr sz="4200" kern="1200" cap="all" spc="300" baseline="0">
          <a:solidFill>
            <a:srgbClr val="262626"/>
          </a:solidFill>
          <a:latin typeface="+mj-lt"/>
          <a:ea typeface="+mj-ea"/>
          <a:cs typeface="+mj-cs"/>
        </a:defRPr>
      </a:lvl1pPr>
    </p:titleStyle>
    <p:bodyStyle>
      <a:lvl1pPr marL="342900" indent="-342900" algn="l" defTabSz="1371600" rtl="0" eaLnBrk="1" latinLnBrk="0" hangingPunct="1">
        <a:lnSpc>
          <a:spcPct val="100000"/>
        </a:lnSpc>
        <a:spcBef>
          <a:spcPts val="1500"/>
        </a:spcBef>
        <a:buClr>
          <a:schemeClr val="accent2"/>
        </a:buClr>
        <a:buFont typeface="Arial" panose="020B0604020202020204" pitchFamily="34" charset="0"/>
        <a:buChar char="•"/>
        <a:defRPr sz="2700" kern="1200">
          <a:solidFill>
            <a:schemeClr val="tx1">
              <a:lumMod val="85000"/>
              <a:lumOff val="15000"/>
            </a:schemeClr>
          </a:solidFill>
          <a:latin typeface="+mn-lt"/>
          <a:ea typeface="+mn-ea"/>
          <a:cs typeface="+mn-cs"/>
        </a:defRPr>
      </a:lvl1pPr>
      <a:lvl2pPr marL="685800" indent="-342900" algn="l" defTabSz="1371600" rtl="0" eaLnBrk="1" latinLnBrk="0" hangingPunct="1">
        <a:lnSpc>
          <a:spcPct val="100000"/>
        </a:lnSpc>
        <a:spcBef>
          <a:spcPts val="1500"/>
        </a:spcBef>
        <a:buClr>
          <a:schemeClr val="accent2"/>
        </a:buClr>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028700" indent="-342900" algn="l" defTabSz="1371600" rtl="0" eaLnBrk="1" latinLnBrk="0" hangingPunct="1">
        <a:lnSpc>
          <a:spcPct val="100000"/>
        </a:lnSpc>
        <a:spcBef>
          <a:spcPts val="1500"/>
        </a:spcBef>
        <a:buClr>
          <a:schemeClr val="accent2"/>
        </a:buClr>
        <a:buFont typeface="Arial" panose="020B0604020202020204" pitchFamily="34" charset="0"/>
        <a:buChar char="•"/>
        <a:defRPr sz="2400" kern="1200">
          <a:solidFill>
            <a:schemeClr val="tx1">
              <a:lumMod val="85000"/>
              <a:lumOff val="15000"/>
            </a:schemeClr>
          </a:solidFill>
          <a:latin typeface="+mn-lt"/>
          <a:ea typeface="+mn-ea"/>
          <a:cs typeface="+mn-cs"/>
        </a:defRPr>
      </a:lvl3pPr>
      <a:lvl4pPr marL="1371600" indent="-342900" algn="l" defTabSz="1371600" rtl="0" eaLnBrk="1" latinLnBrk="0" hangingPunct="1">
        <a:lnSpc>
          <a:spcPct val="100000"/>
        </a:lnSpc>
        <a:spcBef>
          <a:spcPts val="1500"/>
        </a:spcBef>
        <a:buClr>
          <a:schemeClr val="accent2"/>
        </a:buClr>
        <a:buFont typeface="Arial" panose="020B0604020202020204" pitchFamily="34" charset="0"/>
        <a:buChar char="•"/>
        <a:defRPr sz="2400" kern="1200">
          <a:solidFill>
            <a:schemeClr val="tx1">
              <a:lumMod val="85000"/>
              <a:lumOff val="15000"/>
            </a:schemeClr>
          </a:solidFill>
          <a:latin typeface="+mn-lt"/>
          <a:ea typeface="+mn-ea"/>
          <a:cs typeface="+mn-cs"/>
        </a:defRPr>
      </a:lvl4pPr>
      <a:lvl5pPr marL="1714500" indent="-342900" algn="l" defTabSz="1371600" rtl="0" eaLnBrk="1" latinLnBrk="0" hangingPunct="1">
        <a:lnSpc>
          <a:spcPct val="100000"/>
        </a:lnSpc>
        <a:spcBef>
          <a:spcPts val="1500"/>
        </a:spcBef>
        <a:buClr>
          <a:schemeClr val="accent2"/>
        </a:buClr>
        <a:buFont typeface="Arial" panose="020B0604020202020204" pitchFamily="34" charset="0"/>
        <a:buChar char="•"/>
        <a:defRPr sz="2400" kern="1200">
          <a:solidFill>
            <a:schemeClr val="tx1">
              <a:lumMod val="85000"/>
              <a:lumOff val="15000"/>
            </a:schemeClr>
          </a:solidFill>
          <a:latin typeface="+mn-lt"/>
          <a:ea typeface="+mn-ea"/>
          <a:cs typeface="+mn-cs"/>
        </a:defRPr>
      </a:lvl5pPr>
      <a:lvl6pPr marL="1969295" indent="-342900" algn="l" defTabSz="1371600" rtl="0" eaLnBrk="1" latinLnBrk="0" hangingPunct="1">
        <a:lnSpc>
          <a:spcPct val="100000"/>
        </a:lnSpc>
        <a:spcBef>
          <a:spcPts val="1500"/>
        </a:spcBef>
        <a:buClr>
          <a:schemeClr val="accent2"/>
        </a:buClr>
        <a:buFont typeface="Arial" panose="020B0604020202020204" pitchFamily="34" charset="0"/>
        <a:buChar char="•"/>
        <a:defRPr sz="2400" kern="1200">
          <a:solidFill>
            <a:schemeClr val="tx1"/>
          </a:solidFill>
          <a:latin typeface="+mn-lt"/>
          <a:ea typeface="+mn-ea"/>
          <a:cs typeface="+mn-cs"/>
        </a:defRPr>
      </a:lvl6pPr>
      <a:lvl7pPr marL="2226470" indent="-342900" algn="l" defTabSz="1371600" rtl="0" eaLnBrk="1" latinLnBrk="0" hangingPunct="1">
        <a:lnSpc>
          <a:spcPct val="100000"/>
        </a:lnSpc>
        <a:spcBef>
          <a:spcPts val="1500"/>
        </a:spcBef>
        <a:buClr>
          <a:schemeClr val="accent2"/>
        </a:buClr>
        <a:buFont typeface="Arial" panose="020B0604020202020204" pitchFamily="34" charset="0"/>
        <a:buChar char="•"/>
        <a:defRPr sz="2400" kern="1200">
          <a:solidFill>
            <a:schemeClr val="tx1"/>
          </a:solidFill>
          <a:latin typeface="+mn-lt"/>
          <a:ea typeface="+mn-ea"/>
          <a:cs typeface="+mn-cs"/>
        </a:defRPr>
      </a:lvl7pPr>
      <a:lvl8pPr marL="2486025" indent="-342900" algn="l" defTabSz="1371600" rtl="0" eaLnBrk="1" latinLnBrk="0" hangingPunct="1">
        <a:lnSpc>
          <a:spcPct val="100000"/>
        </a:lnSpc>
        <a:spcBef>
          <a:spcPts val="1500"/>
        </a:spcBef>
        <a:buClr>
          <a:schemeClr val="accent2"/>
        </a:buClr>
        <a:buFont typeface="Arial" panose="020B0604020202020204" pitchFamily="34" charset="0"/>
        <a:buChar char="•"/>
        <a:defRPr sz="2400" kern="1200" baseline="0">
          <a:solidFill>
            <a:schemeClr val="tx1"/>
          </a:solidFill>
          <a:latin typeface="+mn-lt"/>
          <a:ea typeface="+mn-ea"/>
          <a:cs typeface="+mn-cs"/>
        </a:defRPr>
      </a:lvl8pPr>
      <a:lvl9pPr marL="2824163" indent="-342900" algn="l" defTabSz="1371600" rtl="0" eaLnBrk="1" latinLnBrk="0" hangingPunct="1">
        <a:lnSpc>
          <a:spcPct val="100000"/>
        </a:lnSpc>
        <a:spcBef>
          <a:spcPts val="1500"/>
        </a:spcBef>
        <a:buClr>
          <a:schemeClr val="accent2"/>
        </a:buClr>
        <a:buFont typeface="Arial" panose="020B0604020202020204" pitchFamily="34" charset="0"/>
        <a:buChar char="•"/>
        <a:defRPr sz="2400" kern="1200" baseline="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mailto:hassan.alwani@eagle-enviro.ae"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10" Type="http://schemas.openxmlformats.org/officeDocument/2006/relationships/image" Target="../media/image4.png"/><Relationship Id="rId4" Type="http://schemas.openxmlformats.org/officeDocument/2006/relationships/image" Target="../media/image7.png"/><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png"/><Relationship Id="rId7"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sv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5.jpg"/><Relationship Id="rId7" Type="http://schemas.openxmlformats.org/officeDocument/2006/relationships/image" Target="../media/image4.png"/><Relationship Id="rId2" Type="http://schemas.openxmlformats.org/officeDocument/2006/relationships/image" Target="../media/image14.jp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7.jpg"/><Relationship Id="rId4" Type="http://schemas.openxmlformats.org/officeDocument/2006/relationships/image" Target="../media/image16.jp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g"/><Relationship Id="rId1" Type="http://schemas.openxmlformats.org/officeDocument/2006/relationships/slideLayout" Target="../slideLayouts/slideLayout7.xml"/><Relationship Id="rId5" Type="http://schemas.openxmlformats.org/officeDocument/2006/relationships/image" Target="../media/image19.jp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4637127" y="3046764"/>
            <a:ext cx="9904959" cy="4042015"/>
            <a:chOff x="0" y="0"/>
            <a:chExt cx="2608713" cy="1064564"/>
          </a:xfrm>
        </p:grpSpPr>
        <p:sp>
          <p:nvSpPr>
            <p:cNvPr id="7" name="Freeform 7"/>
            <p:cNvSpPr/>
            <p:nvPr/>
          </p:nvSpPr>
          <p:spPr>
            <a:xfrm>
              <a:off x="0" y="0"/>
              <a:ext cx="2608713" cy="1064564"/>
            </a:xfrm>
            <a:custGeom>
              <a:avLst/>
              <a:gdLst/>
              <a:ahLst/>
              <a:cxnLst/>
              <a:rect l="l" t="t" r="r" b="b"/>
              <a:pathLst>
                <a:path w="2608713" h="1064564">
                  <a:moveTo>
                    <a:pt x="0" y="0"/>
                  </a:moveTo>
                  <a:lnTo>
                    <a:pt x="2608713" y="0"/>
                  </a:lnTo>
                  <a:lnTo>
                    <a:pt x="2608713" y="1064564"/>
                  </a:lnTo>
                  <a:lnTo>
                    <a:pt x="0" y="1064564"/>
                  </a:lnTo>
                  <a:close/>
                </a:path>
              </a:pathLst>
            </a:custGeom>
            <a:solidFill>
              <a:srgbClr val="FFFFFF"/>
            </a:solidFill>
          </p:spPr>
          <p:txBody>
            <a:bodyPr/>
            <a:lstStyle/>
            <a:p>
              <a:endParaRPr lang="en-AE"/>
            </a:p>
          </p:txBody>
        </p:sp>
        <p:sp>
          <p:nvSpPr>
            <p:cNvPr id="8" name="TextBox 8"/>
            <p:cNvSpPr txBox="1"/>
            <p:nvPr/>
          </p:nvSpPr>
          <p:spPr>
            <a:xfrm>
              <a:off x="0" y="-19050"/>
              <a:ext cx="2608713" cy="1083614"/>
            </a:xfrm>
            <a:prstGeom prst="rect">
              <a:avLst/>
            </a:prstGeom>
          </p:spPr>
          <p:txBody>
            <a:bodyPr lIns="50800" tIns="50800" rIns="50800" bIns="50800" rtlCol="0" anchor="ctr"/>
            <a:lstStyle/>
            <a:p>
              <a:pPr algn="ctr">
                <a:lnSpc>
                  <a:spcPts val="2859"/>
                </a:lnSpc>
              </a:pPr>
              <a:endParaRPr/>
            </a:p>
          </p:txBody>
        </p:sp>
      </p:grpSp>
      <p:sp>
        <p:nvSpPr>
          <p:cNvPr id="2" name="Freeform 2"/>
          <p:cNvSpPr/>
          <p:nvPr/>
        </p:nvSpPr>
        <p:spPr>
          <a:xfrm flipH="1">
            <a:off x="0" y="18813"/>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b="-18555"/>
            </a:stretch>
          </a:blipFill>
          <a:ln w="28575">
            <a:solidFill>
              <a:schemeClr val="tx1"/>
            </a:solidFill>
          </a:ln>
        </p:spPr>
        <p:txBody>
          <a:bodyPr/>
          <a:lstStyle/>
          <a:p>
            <a:endParaRPr lang="en-AE"/>
          </a:p>
        </p:txBody>
      </p:sp>
      <p:sp>
        <p:nvSpPr>
          <p:cNvPr id="9" name="Freeform 9"/>
          <p:cNvSpPr/>
          <p:nvPr/>
        </p:nvSpPr>
        <p:spPr>
          <a:xfrm>
            <a:off x="4191520" y="7088779"/>
            <a:ext cx="9904959" cy="680751"/>
          </a:xfrm>
          <a:custGeom>
            <a:avLst/>
            <a:gdLst/>
            <a:ahLst/>
            <a:cxnLst/>
            <a:rect l="l" t="t" r="r" b="b"/>
            <a:pathLst>
              <a:path w="9904959" h="680751">
                <a:moveTo>
                  <a:pt x="0" y="0"/>
                </a:moveTo>
                <a:lnTo>
                  <a:pt x="9904958" y="0"/>
                </a:lnTo>
                <a:lnTo>
                  <a:pt x="9904958" y="680751"/>
                </a:lnTo>
                <a:lnTo>
                  <a:pt x="0" y="680751"/>
                </a:lnTo>
                <a:lnTo>
                  <a:pt x="0" y="0"/>
                </a:lnTo>
                <a:close/>
              </a:path>
            </a:pathLst>
          </a:custGeom>
          <a:blipFill>
            <a:blip r:embed="rId3"/>
            <a:stretch>
              <a:fillRect t="-187363"/>
            </a:stretch>
          </a:blipFill>
        </p:spPr>
        <p:txBody>
          <a:bodyPr/>
          <a:lstStyle/>
          <a:p>
            <a:endParaRPr lang="en-AE"/>
          </a:p>
        </p:txBody>
      </p:sp>
      <p:sp>
        <p:nvSpPr>
          <p:cNvPr id="12" name="TextBox 12"/>
          <p:cNvSpPr txBox="1"/>
          <p:nvPr/>
        </p:nvSpPr>
        <p:spPr>
          <a:xfrm>
            <a:off x="5029201" y="3019356"/>
            <a:ext cx="8146768" cy="6006709"/>
          </a:xfrm>
          <a:prstGeom prst="rect">
            <a:avLst/>
          </a:prstGeom>
        </p:spPr>
        <p:txBody>
          <a:bodyPr wrap="square" lIns="0" tIns="0" rIns="0" bIns="0" rtlCol="0" anchor="t">
            <a:spAutoFit/>
          </a:bodyPr>
          <a:lstStyle/>
          <a:p>
            <a:pPr algn="ctr" rtl="1">
              <a:lnSpc>
                <a:spcPts val="7984"/>
              </a:lnSpc>
            </a:pPr>
            <a:r>
              <a:rPr lang="ar-EG" sz="5786" spc="81" dirty="0">
                <a:solidFill>
                  <a:srgbClr val="040506"/>
                </a:solidFill>
                <a:latin typeface="Anton"/>
                <a:ea typeface="Anton"/>
                <a:cs typeface="Anton"/>
                <a:sym typeface="Anton"/>
                <a:rtl/>
              </a:rPr>
              <a:t>تقرير</a:t>
            </a:r>
            <a:r>
              <a:rPr lang="ar-SY" sz="5786" spc="81" dirty="0">
                <a:solidFill>
                  <a:srgbClr val="040506"/>
                </a:solidFill>
                <a:latin typeface="Anton"/>
                <a:ea typeface="Anton"/>
                <a:cs typeface="Anton"/>
                <a:sym typeface="Anton"/>
                <a:rtl/>
              </a:rPr>
              <a:t>الضبط والسيطرة على القطط </a:t>
            </a:r>
          </a:p>
          <a:p>
            <a:pPr algn="ctr" rtl="1">
              <a:lnSpc>
                <a:spcPts val="7984"/>
              </a:lnSpc>
            </a:pPr>
            <a:endParaRPr lang="ar-SY" sz="5786" spc="81" dirty="0">
              <a:solidFill>
                <a:srgbClr val="040506"/>
              </a:solidFill>
              <a:latin typeface="Anton"/>
              <a:ea typeface="Anton"/>
              <a:cs typeface="Anton"/>
              <a:sym typeface="Anton"/>
              <a:rtl/>
            </a:endParaRPr>
          </a:p>
          <a:p>
            <a:pPr algn="ctr" rtl="1">
              <a:lnSpc>
                <a:spcPts val="7984"/>
              </a:lnSpc>
            </a:pPr>
            <a:r>
              <a:rPr lang="ar-SY" sz="6000" spc="81" dirty="0">
                <a:solidFill>
                  <a:srgbClr val="040506"/>
                </a:solidFill>
                <a:latin typeface="Anton"/>
                <a:ea typeface="Anton"/>
                <a:cs typeface="Anton"/>
                <a:sym typeface="Anton"/>
                <a:rtl/>
              </a:rPr>
              <a:t>نادي السيدات البطين</a:t>
            </a:r>
          </a:p>
          <a:p>
            <a:pPr algn="ctr" rtl="1">
              <a:lnSpc>
                <a:spcPts val="7984"/>
              </a:lnSpc>
            </a:pPr>
            <a:endParaRPr lang="ar-SY" sz="5786" spc="81" dirty="0">
              <a:solidFill>
                <a:srgbClr val="040506"/>
              </a:solidFill>
              <a:latin typeface="Anton"/>
              <a:ea typeface="Anton"/>
              <a:cs typeface="Anton"/>
              <a:sym typeface="Anton"/>
              <a:rtl/>
            </a:endParaRPr>
          </a:p>
          <a:p>
            <a:pPr algn="ctr" rtl="1">
              <a:lnSpc>
                <a:spcPts val="7984"/>
              </a:lnSpc>
            </a:pPr>
            <a:r>
              <a:rPr lang="en-US" sz="3200" spc="81" dirty="0">
                <a:solidFill>
                  <a:srgbClr val="040506"/>
                </a:solidFill>
                <a:latin typeface="Anton"/>
                <a:ea typeface="Anton"/>
                <a:cs typeface="Anton"/>
                <a:sym typeface="Anton"/>
                <a:rtl/>
              </a:rPr>
              <a:t>2025</a:t>
            </a:r>
            <a:r>
              <a:rPr lang="ar-AE" sz="3200" spc="81" dirty="0">
                <a:solidFill>
                  <a:srgbClr val="040506"/>
                </a:solidFill>
                <a:latin typeface="Anton"/>
                <a:ea typeface="Anton"/>
                <a:cs typeface="Anton"/>
                <a:sym typeface="Anton"/>
                <a:rtl/>
              </a:rPr>
              <a:t>-</a:t>
            </a:r>
            <a:r>
              <a:rPr lang="en-US" sz="3200" spc="81" dirty="0">
                <a:solidFill>
                  <a:srgbClr val="040506"/>
                </a:solidFill>
                <a:latin typeface="Anton"/>
                <a:ea typeface="Anton"/>
                <a:cs typeface="Anton"/>
                <a:sym typeface="Anton"/>
                <a:rtl/>
              </a:rPr>
              <a:t>11</a:t>
            </a:r>
            <a:r>
              <a:rPr lang="ar-AE" sz="3200" spc="81" dirty="0">
                <a:solidFill>
                  <a:srgbClr val="040506"/>
                </a:solidFill>
                <a:latin typeface="Anton"/>
                <a:ea typeface="Anton"/>
                <a:cs typeface="Anton"/>
                <a:sym typeface="Anton"/>
                <a:rtl/>
              </a:rPr>
              <a:t>-</a:t>
            </a:r>
            <a:r>
              <a:rPr lang="en-US" sz="3200" spc="81" dirty="0">
                <a:solidFill>
                  <a:srgbClr val="040506"/>
                </a:solidFill>
                <a:latin typeface="Anton"/>
                <a:ea typeface="Anton"/>
                <a:cs typeface="Anton"/>
                <a:sym typeface="Anton"/>
                <a:rtl/>
              </a:rPr>
              <a:t>2025-21</a:t>
            </a:r>
            <a:r>
              <a:rPr lang="ar-AE" sz="3200" spc="81" dirty="0">
                <a:solidFill>
                  <a:srgbClr val="040506"/>
                </a:solidFill>
                <a:latin typeface="Anton"/>
                <a:ea typeface="Anton"/>
                <a:cs typeface="Anton"/>
                <a:sym typeface="Anton"/>
                <a:rtl/>
              </a:rPr>
              <a:t>-</a:t>
            </a:r>
            <a:r>
              <a:rPr lang="en-US" sz="3200" spc="81" dirty="0">
                <a:solidFill>
                  <a:srgbClr val="040506"/>
                </a:solidFill>
                <a:latin typeface="Anton"/>
                <a:ea typeface="Anton"/>
                <a:cs typeface="Anton"/>
                <a:sym typeface="Anton"/>
                <a:rtl/>
              </a:rPr>
              <a:t>11</a:t>
            </a:r>
            <a:r>
              <a:rPr lang="ar-AE" sz="3200" spc="81" dirty="0">
                <a:solidFill>
                  <a:srgbClr val="040506"/>
                </a:solidFill>
                <a:latin typeface="Anton"/>
                <a:ea typeface="Anton"/>
                <a:cs typeface="Anton"/>
                <a:sym typeface="Anton"/>
                <a:rtl/>
              </a:rPr>
              <a:t>-</a:t>
            </a:r>
            <a:r>
              <a:rPr lang="en-US" sz="3200" spc="81" dirty="0">
                <a:solidFill>
                  <a:srgbClr val="040506"/>
                </a:solidFill>
                <a:latin typeface="Anton"/>
                <a:ea typeface="Anton"/>
                <a:cs typeface="Anton"/>
                <a:sym typeface="Anton"/>
                <a:rtl/>
              </a:rPr>
              <a:t>20</a:t>
            </a:r>
            <a:endParaRPr lang="ar-AE" sz="3200" spc="81" dirty="0">
              <a:solidFill>
                <a:srgbClr val="040506"/>
              </a:solidFill>
              <a:latin typeface="Anton"/>
              <a:ea typeface="Anton"/>
              <a:cs typeface="Anton"/>
              <a:sym typeface="Anton"/>
              <a:rtl/>
            </a:endParaRPr>
          </a:p>
        </p:txBody>
      </p:sp>
      <p:sp>
        <p:nvSpPr>
          <p:cNvPr id="13" name="Rectangle 12">
            <a:extLst>
              <a:ext uri="{FF2B5EF4-FFF2-40B4-BE49-F238E27FC236}">
                <a16:creationId xmlns:a16="http://schemas.microsoft.com/office/drawing/2014/main" id="{55158EBE-7D8E-6714-1555-DC0A19BE9952}"/>
              </a:ext>
            </a:extLst>
          </p:cNvPr>
          <p:cNvSpPr/>
          <p:nvPr/>
        </p:nvSpPr>
        <p:spPr>
          <a:xfrm>
            <a:off x="4924043" y="8501349"/>
            <a:ext cx="6072340" cy="68075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l">
              <a:lnSpc>
                <a:spcPts val="1829"/>
              </a:lnSpc>
              <a:spcBef>
                <a:spcPct val="0"/>
              </a:spcBef>
            </a:pPr>
            <a:endParaRPr lang="en-US" sz="2400" u="sng" dirty="0">
              <a:solidFill>
                <a:schemeClr val="tx1"/>
              </a:solidFill>
              <a:latin typeface="Poppins Medium"/>
              <a:hlinkClick r:id="rId4" tooltip="mailto:hassan.alwani@eagle-enviro.ae">
                <a:extLst>
                  <a:ext uri="{A12FA001-AC4F-418D-AE19-62706E023703}">
                    <ahyp:hlinkClr xmlns:ahyp="http://schemas.microsoft.com/office/drawing/2018/hyperlinkcolor" val="tx"/>
                  </a:ext>
                </a:extLst>
              </a:hlinkClick>
            </a:endParaRPr>
          </a:p>
        </p:txBody>
      </p:sp>
      <p:sp>
        <p:nvSpPr>
          <p:cNvPr id="3" name="Freeform 3">
            <a:extLst>
              <a:ext uri="{FF2B5EF4-FFF2-40B4-BE49-F238E27FC236}">
                <a16:creationId xmlns:a16="http://schemas.microsoft.com/office/drawing/2014/main" id="{89925C43-B289-C6E7-B7A8-8904032C4290}"/>
              </a:ext>
            </a:extLst>
          </p:cNvPr>
          <p:cNvSpPr/>
          <p:nvPr/>
        </p:nvSpPr>
        <p:spPr>
          <a:xfrm>
            <a:off x="0" y="0"/>
            <a:ext cx="3373520" cy="1686760"/>
          </a:xfrm>
          <a:custGeom>
            <a:avLst/>
            <a:gdLst/>
            <a:ahLst/>
            <a:cxnLst/>
            <a:rect l="l" t="t" r="r" b="b"/>
            <a:pathLst>
              <a:path w="3373520" h="1686760">
                <a:moveTo>
                  <a:pt x="0" y="0"/>
                </a:moveTo>
                <a:lnTo>
                  <a:pt x="3373520" y="0"/>
                </a:lnTo>
                <a:lnTo>
                  <a:pt x="3373520" y="1686760"/>
                </a:lnTo>
                <a:lnTo>
                  <a:pt x="0" y="1686760"/>
                </a:lnTo>
                <a:lnTo>
                  <a:pt x="0" y="0"/>
                </a:lnTo>
                <a:close/>
              </a:path>
            </a:pathLst>
          </a:custGeom>
          <a:blipFill>
            <a:blip r:embed="rId5"/>
            <a:stretch>
              <a:fillRect/>
            </a:stretch>
          </a:blipFill>
        </p:spPr>
        <p:txBody>
          <a:bodyPr/>
          <a:lstStyle/>
          <a:p>
            <a:endParaRPr lang="en-AE"/>
          </a:p>
        </p:txBody>
      </p:sp>
      <p:sp>
        <p:nvSpPr>
          <p:cNvPr id="4" name="Freeform 11">
            <a:extLst>
              <a:ext uri="{FF2B5EF4-FFF2-40B4-BE49-F238E27FC236}">
                <a16:creationId xmlns:a16="http://schemas.microsoft.com/office/drawing/2014/main" id="{850691B5-72D2-33C0-D1E7-C70746683306}"/>
              </a:ext>
            </a:extLst>
          </p:cNvPr>
          <p:cNvSpPr/>
          <p:nvPr/>
        </p:nvSpPr>
        <p:spPr>
          <a:xfrm>
            <a:off x="15423023" y="38100"/>
            <a:ext cx="2859115" cy="2438400"/>
          </a:xfrm>
          <a:custGeom>
            <a:avLst/>
            <a:gdLst/>
            <a:ahLst/>
            <a:cxnLst/>
            <a:rect l="l" t="t" r="r" b="b"/>
            <a:pathLst>
              <a:path w="2859115" h="2703163">
                <a:moveTo>
                  <a:pt x="0" y="0"/>
                </a:moveTo>
                <a:lnTo>
                  <a:pt x="2859115" y="0"/>
                </a:lnTo>
                <a:lnTo>
                  <a:pt x="2859115" y="2703163"/>
                </a:lnTo>
                <a:lnTo>
                  <a:pt x="0" y="2703163"/>
                </a:lnTo>
                <a:lnTo>
                  <a:pt x="0" y="0"/>
                </a:lnTo>
                <a:close/>
              </a:path>
            </a:pathLst>
          </a:custGeom>
          <a:blipFill>
            <a:blip r:embed="rId6"/>
            <a:stretch>
              <a:fillRect/>
            </a:stretch>
          </a:blipFill>
        </p:spPr>
        <p:txBody>
          <a:bodyPr/>
          <a:lstStyle/>
          <a:p>
            <a:endParaRPr lang="en-AE"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1135381" y="4897605"/>
            <a:ext cx="1006253" cy="960515"/>
          </a:xfrm>
          <a:custGeom>
            <a:avLst/>
            <a:gdLst/>
            <a:ahLst/>
            <a:cxnLst/>
            <a:rect l="l" t="t" r="r" b="b"/>
            <a:pathLst>
              <a:path w="1006253" h="960515">
                <a:moveTo>
                  <a:pt x="0" y="0"/>
                </a:moveTo>
                <a:lnTo>
                  <a:pt x="1006253" y="0"/>
                </a:lnTo>
                <a:lnTo>
                  <a:pt x="1006253" y="960515"/>
                </a:lnTo>
                <a:lnTo>
                  <a:pt x="0" y="96051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AE"/>
          </a:p>
        </p:txBody>
      </p:sp>
      <p:sp>
        <p:nvSpPr>
          <p:cNvPr id="4" name="Freeform 4"/>
          <p:cNvSpPr/>
          <p:nvPr/>
        </p:nvSpPr>
        <p:spPr>
          <a:xfrm>
            <a:off x="13779447" y="4906117"/>
            <a:ext cx="902910" cy="916237"/>
          </a:xfrm>
          <a:custGeom>
            <a:avLst/>
            <a:gdLst/>
            <a:ahLst/>
            <a:cxnLst/>
            <a:rect l="l" t="t" r="r" b="b"/>
            <a:pathLst>
              <a:path w="902910" h="916237">
                <a:moveTo>
                  <a:pt x="0" y="0"/>
                </a:moveTo>
                <a:lnTo>
                  <a:pt x="902910" y="0"/>
                </a:lnTo>
                <a:lnTo>
                  <a:pt x="902910" y="916237"/>
                </a:lnTo>
                <a:lnTo>
                  <a:pt x="0" y="9162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E"/>
          </a:p>
        </p:txBody>
      </p:sp>
      <p:sp>
        <p:nvSpPr>
          <p:cNvPr id="5" name="Freeform 5"/>
          <p:cNvSpPr/>
          <p:nvPr/>
        </p:nvSpPr>
        <p:spPr>
          <a:xfrm>
            <a:off x="13779447" y="7532947"/>
            <a:ext cx="902910" cy="902910"/>
          </a:xfrm>
          <a:custGeom>
            <a:avLst/>
            <a:gdLst/>
            <a:ahLst/>
            <a:cxnLst/>
            <a:rect l="l" t="t" r="r" b="b"/>
            <a:pathLst>
              <a:path w="902910" h="902910">
                <a:moveTo>
                  <a:pt x="0" y="0"/>
                </a:moveTo>
                <a:lnTo>
                  <a:pt x="902910" y="0"/>
                </a:lnTo>
                <a:lnTo>
                  <a:pt x="902910" y="902910"/>
                </a:lnTo>
                <a:lnTo>
                  <a:pt x="0" y="90291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E"/>
          </a:p>
        </p:txBody>
      </p:sp>
      <p:sp>
        <p:nvSpPr>
          <p:cNvPr id="8" name="TextBox 8"/>
          <p:cNvSpPr txBox="1"/>
          <p:nvPr/>
        </p:nvSpPr>
        <p:spPr>
          <a:xfrm>
            <a:off x="3307583" y="3073061"/>
            <a:ext cx="13778972" cy="2070439"/>
          </a:xfrm>
          <a:prstGeom prst="rect">
            <a:avLst/>
          </a:prstGeom>
        </p:spPr>
        <p:txBody>
          <a:bodyPr lIns="0" tIns="0" rIns="0" bIns="0" rtlCol="0" anchor="t">
            <a:spAutoFit/>
          </a:bodyPr>
          <a:lstStyle/>
          <a:p>
            <a:pPr algn="r" rtl="1">
              <a:lnSpc>
                <a:spcPts val="8680"/>
              </a:lnSpc>
            </a:pPr>
            <a:r>
              <a:rPr lang="ar-SY" sz="3486" b="1" spc="48" dirty="0">
                <a:solidFill>
                  <a:srgbClr val="231F20"/>
                </a:solidFill>
                <a:latin typeface="Calibri Light" panose="020F0302020204030204" pitchFamily="34" charset="0"/>
                <a:ea typeface="Calibri Light" panose="020F0302020204030204" pitchFamily="34" charset="0"/>
                <a:cs typeface="Calibri Light" panose="020F0302020204030204" pitchFamily="34" charset="0"/>
                <a:sym typeface="Anton"/>
                <a:rtl/>
              </a:rPr>
              <a:t>*</a:t>
            </a:r>
            <a:r>
              <a:rPr lang="ar-EG" sz="3486" b="1" spc="48" dirty="0">
                <a:solidFill>
                  <a:srgbClr val="231F20"/>
                </a:solidFill>
                <a:latin typeface="Calibri Light" panose="020F0302020204030204" pitchFamily="34" charset="0"/>
                <a:ea typeface="Calibri Light" panose="020F0302020204030204" pitchFamily="34" charset="0"/>
                <a:cs typeface="Calibri Light" panose="020F0302020204030204" pitchFamily="34" charset="0"/>
                <a:sym typeface="Anton"/>
                <a:rtl/>
              </a:rPr>
              <a:t>تم تنفيذ عملية مسح شاملة </a:t>
            </a:r>
            <a:r>
              <a:rPr lang="ar-SY" sz="3486" b="1" spc="48" dirty="0">
                <a:solidFill>
                  <a:srgbClr val="231F20"/>
                </a:solidFill>
                <a:latin typeface="Calibri Light" panose="020F0302020204030204" pitchFamily="34" charset="0"/>
                <a:ea typeface="Calibri Light" panose="020F0302020204030204" pitchFamily="34" charset="0"/>
                <a:cs typeface="Calibri Light" panose="020F0302020204030204" pitchFamily="34" charset="0"/>
                <a:sym typeface="Anton"/>
                <a:rtl/>
              </a:rPr>
              <a:t>بناءا على طلب ادارة  النادي الساعة عاشرة مساء</a:t>
            </a:r>
            <a:r>
              <a:rPr lang="ar-AE" sz="3486" b="1" spc="48" dirty="0">
                <a:solidFill>
                  <a:srgbClr val="231F20"/>
                </a:solidFill>
                <a:latin typeface="Calibri Light" panose="020F0302020204030204" pitchFamily="34" charset="0"/>
                <a:ea typeface="Calibri Light" panose="020F0302020204030204" pitchFamily="34" charset="0"/>
                <a:cs typeface="Calibri Light" panose="020F0302020204030204" pitchFamily="34" charset="0"/>
                <a:sym typeface="Anton"/>
                <a:rtl/>
              </a:rPr>
              <a:t>. </a:t>
            </a:r>
          </a:p>
          <a:p>
            <a:pPr algn="r" rtl="1">
              <a:lnSpc>
                <a:spcPts val="8680"/>
              </a:lnSpc>
            </a:pPr>
            <a:r>
              <a:rPr lang="ar-SY" sz="3486" b="1" spc="48" dirty="0">
                <a:solidFill>
                  <a:srgbClr val="231F20"/>
                </a:solidFill>
                <a:latin typeface="Calibri Light" panose="020F0302020204030204" pitchFamily="34" charset="0"/>
                <a:ea typeface="Calibri Light" panose="020F0302020204030204" pitchFamily="34" charset="0"/>
                <a:cs typeface="Calibri Light" panose="020F0302020204030204" pitchFamily="34" charset="0"/>
                <a:sym typeface="Anton"/>
                <a:rtl/>
              </a:rPr>
              <a:t>*</a:t>
            </a:r>
            <a:r>
              <a:rPr lang="ar-EG" sz="3486" b="1" spc="48" dirty="0">
                <a:solidFill>
                  <a:srgbClr val="231F20"/>
                </a:solidFill>
                <a:latin typeface="Calibri Light" panose="020F0302020204030204" pitchFamily="34" charset="0"/>
                <a:ea typeface="Calibri Light" panose="020F0302020204030204" pitchFamily="34" charset="0"/>
                <a:cs typeface="Calibri Light" panose="020F0302020204030204" pitchFamily="34" charset="0"/>
                <a:sym typeface="Anton"/>
                <a:rtl/>
              </a:rPr>
              <a:t>الهدف </a:t>
            </a:r>
            <a:r>
              <a:rPr lang="ar-AE" sz="3486" b="1" spc="48" dirty="0">
                <a:solidFill>
                  <a:srgbClr val="231F20"/>
                </a:solidFill>
                <a:latin typeface="Calibri Light" panose="020F0302020204030204" pitchFamily="34" charset="0"/>
                <a:ea typeface="Calibri Light" panose="020F0302020204030204" pitchFamily="34" charset="0"/>
                <a:cs typeface="Calibri Light" panose="020F0302020204030204" pitchFamily="34" charset="0"/>
                <a:sym typeface="Anton"/>
                <a:rtl/>
              </a:rPr>
              <a:t>هو السيطرة على أعداد القطط الغير معقمة والحد من تكاثرها</a:t>
            </a:r>
            <a:r>
              <a:rPr lang="en-US" sz="3600" b="1" spc="48"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sym typeface="Anton"/>
                <a:rtl/>
              </a:rPr>
              <a:t>.</a:t>
            </a:r>
            <a:endParaRPr lang="ar-EG" sz="3486" b="1" spc="48" dirty="0">
              <a:solidFill>
                <a:srgbClr val="231F20"/>
              </a:solidFill>
              <a:latin typeface="Calibri Light" panose="020F0302020204030204" pitchFamily="34" charset="0"/>
              <a:ea typeface="Calibri Light" panose="020F0302020204030204" pitchFamily="34" charset="0"/>
              <a:cs typeface="Calibri Light" panose="020F0302020204030204" pitchFamily="34" charset="0"/>
              <a:sym typeface="Anton"/>
              <a:rtl/>
            </a:endParaRPr>
          </a:p>
        </p:txBody>
      </p:sp>
      <p:sp>
        <p:nvSpPr>
          <p:cNvPr id="9" name="Freeform 9"/>
          <p:cNvSpPr/>
          <p:nvPr/>
        </p:nvSpPr>
        <p:spPr>
          <a:xfrm>
            <a:off x="-6589" y="9258300"/>
            <a:ext cx="9904959" cy="680751"/>
          </a:xfrm>
          <a:custGeom>
            <a:avLst/>
            <a:gdLst/>
            <a:ahLst/>
            <a:cxnLst/>
            <a:rect l="l" t="t" r="r" b="b"/>
            <a:pathLst>
              <a:path w="9904959" h="680751">
                <a:moveTo>
                  <a:pt x="0" y="0"/>
                </a:moveTo>
                <a:lnTo>
                  <a:pt x="9904959" y="0"/>
                </a:lnTo>
                <a:lnTo>
                  <a:pt x="9904959" y="680751"/>
                </a:lnTo>
                <a:lnTo>
                  <a:pt x="0" y="680751"/>
                </a:lnTo>
                <a:lnTo>
                  <a:pt x="0" y="0"/>
                </a:lnTo>
                <a:close/>
              </a:path>
            </a:pathLst>
          </a:custGeom>
          <a:blipFill>
            <a:blip r:embed="rId8"/>
            <a:stretch>
              <a:fillRect t="-187363"/>
            </a:stretch>
          </a:blipFill>
        </p:spPr>
        <p:txBody>
          <a:bodyPr/>
          <a:lstStyle/>
          <a:p>
            <a:endParaRPr lang="en-AE"/>
          </a:p>
        </p:txBody>
      </p:sp>
      <p:sp>
        <p:nvSpPr>
          <p:cNvPr id="12" name="Rectangle 11">
            <a:extLst>
              <a:ext uri="{FF2B5EF4-FFF2-40B4-BE49-F238E27FC236}">
                <a16:creationId xmlns:a16="http://schemas.microsoft.com/office/drawing/2014/main" id="{AD9D2E86-FB89-D657-9BA2-5F06C6A0CC48}"/>
              </a:ext>
            </a:extLst>
          </p:cNvPr>
          <p:cNvSpPr/>
          <p:nvPr/>
        </p:nvSpPr>
        <p:spPr>
          <a:xfrm>
            <a:off x="5955980" y="532146"/>
            <a:ext cx="10896600" cy="1660643"/>
          </a:xfrm>
          <a:prstGeom prst="rect">
            <a:avLst/>
          </a:prstGeom>
          <a:noFill/>
          <a:ln>
            <a:noFill/>
          </a:ln>
        </p:spPr>
        <p:style>
          <a:lnRef idx="0">
            <a:scrgbClr r="0" g="0" b="0"/>
          </a:lnRef>
          <a:fillRef idx="0">
            <a:scrgbClr r="0" g="0" b="0"/>
          </a:fillRef>
          <a:effectRef idx="0">
            <a:scrgbClr r="0" g="0" b="0"/>
          </a:effectRef>
          <a:fontRef idx="minor">
            <a:schemeClr val="accent6"/>
          </a:fontRef>
        </p:style>
        <p:txBody>
          <a:bodyPr rtlCol="0" anchor="ctr"/>
          <a:lstStyle/>
          <a:p>
            <a:pPr algn="ctr"/>
            <a:r>
              <a:rPr lang="ar-SY" sz="5400" b="1" dirty="0">
                <a:solidFill>
                  <a:schemeClr val="tx1"/>
                </a:solidFill>
              </a:rPr>
              <a:t>عملية مسح لنادي السيدات</a:t>
            </a:r>
            <a:endParaRPr lang="en-AE" sz="5400" b="1" dirty="0">
              <a:solidFill>
                <a:schemeClr val="tx1"/>
              </a:solidFill>
            </a:endParaRPr>
          </a:p>
        </p:txBody>
      </p:sp>
      <p:sp>
        <p:nvSpPr>
          <p:cNvPr id="6" name="Freeform 3">
            <a:extLst>
              <a:ext uri="{FF2B5EF4-FFF2-40B4-BE49-F238E27FC236}">
                <a16:creationId xmlns:a16="http://schemas.microsoft.com/office/drawing/2014/main" id="{1F0E29F5-0A4E-9AC2-B09B-09F2BE713F1C}"/>
              </a:ext>
            </a:extLst>
          </p:cNvPr>
          <p:cNvSpPr/>
          <p:nvPr/>
        </p:nvSpPr>
        <p:spPr>
          <a:xfrm>
            <a:off x="0" y="0"/>
            <a:ext cx="3373520" cy="1686760"/>
          </a:xfrm>
          <a:custGeom>
            <a:avLst/>
            <a:gdLst/>
            <a:ahLst/>
            <a:cxnLst/>
            <a:rect l="l" t="t" r="r" b="b"/>
            <a:pathLst>
              <a:path w="3373520" h="1686760">
                <a:moveTo>
                  <a:pt x="0" y="0"/>
                </a:moveTo>
                <a:lnTo>
                  <a:pt x="3373520" y="0"/>
                </a:lnTo>
                <a:lnTo>
                  <a:pt x="3373520" y="1686760"/>
                </a:lnTo>
                <a:lnTo>
                  <a:pt x="0" y="1686760"/>
                </a:lnTo>
                <a:lnTo>
                  <a:pt x="0" y="0"/>
                </a:lnTo>
                <a:close/>
              </a:path>
            </a:pathLst>
          </a:custGeom>
          <a:blipFill>
            <a:blip r:embed="rId9"/>
            <a:stretch>
              <a:fillRect/>
            </a:stretch>
          </a:blipFill>
        </p:spPr>
        <p:txBody>
          <a:bodyPr/>
          <a:lstStyle/>
          <a:p>
            <a:endParaRPr lang="en-AE"/>
          </a:p>
        </p:txBody>
      </p:sp>
      <p:sp>
        <p:nvSpPr>
          <p:cNvPr id="7" name="Freeform 11">
            <a:extLst>
              <a:ext uri="{FF2B5EF4-FFF2-40B4-BE49-F238E27FC236}">
                <a16:creationId xmlns:a16="http://schemas.microsoft.com/office/drawing/2014/main" id="{D105AE6F-A129-BF79-24E6-B8CC24393135}"/>
              </a:ext>
            </a:extLst>
          </p:cNvPr>
          <p:cNvSpPr/>
          <p:nvPr/>
        </p:nvSpPr>
        <p:spPr>
          <a:xfrm>
            <a:off x="15423023" y="38100"/>
            <a:ext cx="2859115" cy="2438400"/>
          </a:xfrm>
          <a:custGeom>
            <a:avLst/>
            <a:gdLst/>
            <a:ahLst/>
            <a:cxnLst/>
            <a:rect l="l" t="t" r="r" b="b"/>
            <a:pathLst>
              <a:path w="2859115" h="2703163">
                <a:moveTo>
                  <a:pt x="0" y="0"/>
                </a:moveTo>
                <a:lnTo>
                  <a:pt x="2859115" y="0"/>
                </a:lnTo>
                <a:lnTo>
                  <a:pt x="2859115" y="2703163"/>
                </a:lnTo>
                <a:lnTo>
                  <a:pt x="0" y="2703163"/>
                </a:lnTo>
                <a:lnTo>
                  <a:pt x="0" y="0"/>
                </a:lnTo>
                <a:close/>
              </a:path>
            </a:pathLst>
          </a:custGeom>
          <a:blipFill>
            <a:blip r:embed="rId10"/>
            <a:stretch>
              <a:fillRect/>
            </a:stretch>
          </a:blipFill>
        </p:spPr>
        <p:txBody>
          <a:bodyPr/>
          <a:lstStyle/>
          <a:p>
            <a:endParaRPr lang="en-AE"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randombar(horizontal)">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randombar(horizontal)">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randombar(horizontal)">
                                      <p:cBhvr>
                                        <p:cTn id="17"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35169"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a:ln w="28575">
            <a:solidFill>
              <a:schemeClr val="tx1"/>
            </a:solidFill>
          </a:ln>
        </p:spPr>
        <p:txBody>
          <a:bodyPr/>
          <a:lstStyle/>
          <a:p>
            <a:endParaRPr lang="en-AE" dirty="0"/>
          </a:p>
        </p:txBody>
      </p:sp>
      <p:sp>
        <p:nvSpPr>
          <p:cNvPr id="3" name="Freeform 3"/>
          <p:cNvSpPr/>
          <p:nvPr/>
        </p:nvSpPr>
        <p:spPr>
          <a:xfrm>
            <a:off x="11135381" y="4897605"/>
            <a:ext cx="1006253" cy="960515"/>
          </a:xfrm>
          <a:custGeom>
            <a:avLst/>
            <a:gdLst/>
            <a:ahLst/>
            <a:cxnLst/>
            <a:rect l="l" t="t" r="r" b="b"/>
            <a:pathLst>
              <a:path w="1006253" h="960515">
                <a:moveTo>
                  <a:pt x="0" y="0"/>
                </a:moveTo>
                <a:lnTo>
                  <a:pt x="1006253" y="0"/>
                </a:lnTo>
                <a:lnTo>
                  <a:pt x="1006253" y="960515"/>
                </a:lnTo>
                <a:lnTo>
                  <a:pt x="0" y="9605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AE"/>
          </a:p>
        </p:txBody>
      </p:sp>
      <p:sp>
        <p:nvSpPr>
          <p:cNvPr id="4" name="Freeform 4"/>
          <p:cNvSpPr/>
          <p:nvPr/>
        </p:nvSpPr>
        <p:spPr>
          <a:xfrm>
            <a:off x="13779447" y="7532947"/>
            <a:ext cx="902910" cy="902910"/>
          </a:xfrm>
          <a:custGeom>
            <a:avLst/>
            <a:gdLst/>
            <a:ahLst/>
            <a:cxnLst/>
            <a:rect l="l" t="t" r="r" b="b"/>
            <a:pathLst>
              <a:path w="902910" h="902910">
                <a:moveTo>
                  <a:pt x="0" y="0"/>
                </a:moveTo>
                <a:lnTo>
                  <a:pt x="902910" y="0"/>
                </a:lnTo>
                <a:lnTo>
                  <a:pt x="902910" y="902910"/>
                </a:lnTo>
                <a:lnTo>
                  <a:pt x="0" y="90291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E"/>
          </a:p>
        </p:txBody>
      </p:sp>
      <p:sp>
        <p:nvSpPr>
          <p:cNvPr id="6" name="TextBox 6"/>
          <p:cNvSpPr txBox="1"/>
          <p:nvPr/>
        </p:nvSpPr>
        <p:spPr>
          <a:xfrm>
            <a:off x="6629400" y="2238961"/>
            <a:ext cx="9178104" cy="681790"/>
          </a:xfrm>
          <a:prstGeom prst="rect">
            <a:avLst/>
          </a:prstGeom>
        </p:spPr>
        <p:txBody>
          <a:bodyPr wrap="square" lIns="0" tIns="0" rIns="0" bIns="0" rtlCol="0" anchor="t">
            <a:spAutoFit/>
          </a:bodyPr>
          <a:lstStyle/>
          <a:p>
            <a:pPr marL="817415" lvl="1" indent="-408708" algn="ctr" rtl="1">
              <a:lnSpc>
                <a:spcPts val="5224"/>
              </a:lnSpc>
              <a:buFont typeface="Arial"/>
              <a:buChar char="•"/>
            </a:pPr>
            <a:r>
              <a:rPr lang="ar-EG" sz="5400" spc="53" dirty="0">
                <a:solidFill>
                  <a:srgbClr val="000000"/>
                </a:solidFill>
                <a:latin typeface="Anton"/>
                <a:ea typeface="Anton"/>
                <a:cs typeface="Anton"/>
                <a:sym typeface="Anton"/>
                <a:rtl/>
              </a:rPr>
              <a:t> الإجراءات المتخذة</a:t>
            </a:r>
            <a:r>
              <a:rPr lang="ar-AE" sz="5400" spc="53" dirty="0">
                <a:solidFill>
                  <a:srgbClr val="000000"/>
                </a:solidFill>
                <a:latin typeface="Anton"/>
                <a:ea typeface="Anton"/>
                <a:cs typeface="Anton"/>
                <a:sym typeface="Anton"/>
                <a:rtl/>
              </a:rPr>
              <a:t> :</a:t>
            </a:r>
            <a:endParaRPr lang="ar-EG" sz="5400" spc="53" dirty="0">
              <a:solidFill>
                <a:srgbClr val="000000"/>
              </a:solidFill>
              <a:latin typeface="Anton"/>
              <a:ea typeface="Anton"/>
              <a:cs typeface="Anton"/>
              <a:sym typeface="Anton"/>
              <a:rtl/>
            </a:endParaRPr>
          </a:p>
        </p:txBody>
      </p:sp>
      <p:sp>
        <p:nvSpPr>
          <p:cNvPr id="7" name="TextBox 7"/>
          <p:cNvSpPr txBox="1"/>
          <p:nvPr/>
        </p:nvSpPr>
        <p:spPr>
          <a:xfrm>
            <a:off x="6248400" y="2920224"/>
            <a:ext cx="11349607" cy="954749"/>
          </a:xfrm>
          <a:prstGeom prst="rect">
            <a:avLst/>
          </a:prstGeom>
        </p:spPr>
        <p:txBody>
          <a:bodyPr wrap="square" lIns="0" tIns="0" rIns="0" bIns="0" rtlCol="0" anchor="t">
            <a:spAutoFit/>
          </a:bodyPr>
          <a:lstStyle/>
          <a:p>
            <a:pPr algn="r" rtl="1">
              <a:lnSpc>
                <a:spcPts val="8680"/>
              </a:lnSpc>
            </a:pPr>
            <a:r>
              <a:rPr lang="ar-AE" sz="3486" b="1" spc="48"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sym typeface="Anton"/>
                <a:rtl/>
              </a:rPr>
              <a:t> </a:t>
            </a:r>
            <a:r>
              <a:rPr lang="ar-EG" sz="3486" b="1" spc="48"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sym typeface="Anton"/>
                <a:rtl/>
              </a:rPr>
              <a:t>تم </a:t>
            </a:r>
            <a:r>
              <a:rPr lang="ar-SY" sz="3486" b="1" spc="48"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sym typeface="Anton"/>
                <a:rtl/>
              </a:rPr>
              <a:t>حجز قطط عدد (</a:t>
            </a:r>
            <a:r>
              <a:rPr lang="en-US" sz="3486" b="1" spc="48"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sym typeface="Anton"/>
                <a:rtl/>
              </a:rPr>
              <a:t>2</a:t>
            </a:r>
            <a:r>
              <a:rPr lang="ar-SY" sz="3486" b="1" spc="48"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sym typeface="Anton"/>
                <a:rtl/>
              </a:rPr>
              <a:t>)</a:t>
            </a:r>
            <a:r>
              <a:rPr lang="ar-EG" sz="3486" b="1" spc="48"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sym typeface="Anton"/>
                <a:rtl/>
              </a:rPr>
              <a:t> </a:t>
            </a:r>
            <a:r>
              <a:rPr lang="ar-SY" sz="3486" b="1" spc="48"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sym typeface="Anton"/>
                <a:rtl/>
              </a:rPr>
              <a:t>وارسالها لمشفى الصقور</a:t>
            </a:r>
            <a:r>
              <a:rPr lang="en-US" sz="3486" b="1" spc="48"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sym typeface="Anton"/>
                <a:rtl/>
              </a:rPr>
              <a:t>.</a:t>
            </a:r>
            <a:endParaRPr lang="ar-AE" sz="3486" b="1" spc="48"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sym typeface="Anton"/>
              <a:rtl/>
            </a:endParaRPr>
          </a:p>
        </p:txBody>
      </p:sp>
      <p:sp>
        <p:nvSpPr>
          <p:cNvPr id="9" name="Freeform 3">
            <a:extLst>
              <a:ext uri="{FF2B5EF4-FFF2-40B4-BE49-F238E27FC236}">
                <a16:creationId xmlns:a16="http://schemas.microsoft.com/office/drawing/2014/main" id="{6C275DC3-8607-ED92-7269-DBD5AB78DBF5}"/>
              </a:ext>
            </a:extLst>
          </p:cNvPr>
          <p:cNvSpPr/>
          <p:nvPr/>
        </p:nvSpPr>
        <p:spPr>
          <a:xfrm>
            <a:off x="0" y="0"/>
            <a:ext cx="3373520" cy="1686760"/>
          </a:xfrm>
          <a:custGeom>
            <a:avLst/>
            <a:gdLst/>
            <a:ahLst/>
            <a:cxnLst/>
            <a:rect l="l" t="t" r="r" b="b"/>
            <a:pathLst>
              <a:path w="3373520" h="1686760">
                <a:moveTo>
                  <a:pt x="0" y="0"/>
                </a:moveTo>
                <a:lnTo>
                  <a:pt x="3373520" y="0"/>
                </a:lnTo>
                <a:lnTo>
                  <a:pt x="3373520" y="1686760"/>
                </a:lnTo>
                <a:lnTo>
                  <a:pt x="0" y="1686760"/>
                </a:lnTo>
                <a:lnTo>
                  <a:pt x="0" y="0"/>
                </a:lnTo>
                <a:close/>
              </a:path>
            </a:pathLst>
          </a:custGeom>
          <a:blipFill>
            <a:blip r:embed="rId7"/>
            <a:stretch>
              <a:fillRect/>
            </a:stretch>
          </a:blipFill>
        </p:spPr>
        <p:txBody>
          <a:bodyPr/>
          <a:lstStyle/>
          <a:p>
            <a:endParaRPr lang="en-AE"/>
          </a:p>
        </p:txBody>
      </p:sp>
      <p:sp>
        <p:nvSpPr>
          <p:cNvPr id="8" name="Freeform 11">
            <a:extLst>
              <a:ext uri="{FF2B5EF4-FFF2-40B4-BE49-F238E27FC236}">
                <a16:creationId xmlns:a16="http://schemas.microsoft.com/office/drawing/2014/main" id="{AFB50868-6258-3135-E763-040131FC28E0}"/>
              </a:ext>
            </a:extLst>
          </p:cNvPr>
          <p:cNvSpPr/>
          <p:nvPr/>
        </p:nvSpPr>
        <p:spPr>
          <a:xfrm>
            <a:off x="15273198" y="80193"/>
            <a:ext cx="2859115" cy="2438400"/>
          </a:xfrm>
          <a:custGeom>
            <a:avLst/>
            <a:gdLst/>
            <a:ahLst/>
            <a:cxnLst/>
            <a:rect l="l" t="t" r="r" b="b"/>
            <a:pathLst>
              <a:path w="2859115" h="2703163">
                <a:moveTo>
                  <a:pt x="0" y="0"/>
                </a:moveTo>
                <a:lnTo>
                  <a:pt x="2859115" y="0"/>
                </a:lnTo>
                <a:lnTo>
                  <a:pt x="2859115" y="2703163"/>
                </a:lnTo>
                <a:lnTo>
                  <a:pt x="0" y="2703163"/>
                </a:lnTo>
                <a:lnTo>
                  <a:pt x="0" y="0"/>
                </a:lnTo>
                <a:close/>
              </a:path>
            </a:pathLst>
          </a:custGeom>
          <a:blipFill>
            <a:blip r:embed="rId8"/>
            <a:stretch>
              <a:fillRect/>
            </a:stretch>
          </a:blipFill>
        </p:spPr>
        <p:txBody>
          <a:bodyPr/>
          <a:lstStyle/>
          <a:p>
            <a:endParaRPr lang="en-AE" dirty="0"/>
          </a:p>
        </p:txBody>
      </p:sp>
      <p:pic>
        <p:nvPicPr>
          <p:cNvPr id="11" name="صورة 10">
            <a:extLst>
              <a:ext uri="{FF2B5EF4-FFF2-40B4-BE49-F238E27FC236}">
                <a16:creationId xmlns:a16="http://schemas.microsoft.com/office/drawing/2014/main" id="{A5316872-ECFE-5DA3-B8FE-A543AECB97E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5169" y="3314700"/>
            <a:ext cx="5249008" cy="6845534"/>
          </a:xfrm>
          <a:prstGeom prst="rect">
            <a:avLst/>
          </a:prstGeom>
        </p:spPr>
      </p:pic>
      <p:pic>
        <p:nvPicPr>
          <p:cNvPr id="13" name="صورة 12">
            <a:extLst>
              <a:ext uri="{FF2B5EF4-FFF2-40B4-BE49-F238E27FC236}">
                <a16:creationId xmlns:a16="http://schemas.microsoft.com/office/drawing/2014/main" id="{08A88FD1-5E07-DAC7-77A3-10B5CBCE395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196184" y="3322382"/>
            <a:ext cx="5134692" cy="696461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randombar(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randombar(horizontal)">
                                      <p:cBhvr>
                                        <p:cTn id="12"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4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FC5775-5046-2D44-7CD8-1C6CD1BFEB2D}"/>
              </a:ext>
            </a:extLst>
          </p:cNvPr>
          <p:cNvSpPr/>
          <p:nvPr/>
        </p:nvSpPr>
        <p:spPr>
          <a:xfrm>
            <a:off x="6400800" y="190500"/>
            <a:ext cx="10896600" cy="684220"/>
          </a:xfrm>
          <a:prstGeom prst="rect">
            <a:avLst/>
          </a:prstGeom>
          <a:no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en-AE" sz="4800" b="1" dirty="0">
              <a:solidFill>
                <a:schemeClr val="tx1"/>
              </a:solidFill>
            </a:endParaRPr>
          </a:p>
        </p:txBody>
      </p:sp>
      <p:pic>
        <p:nvPicPr>
          <p:cNvPr id="30" name="صورة 29">
            <a:extLst>
              <a:ext uri="{FF2B5EF4-FFF2-40B4-BE49-F238E27FC236}">
                <a16:creationId xmlns:a16="http://schemas.microsoft.com/office/drawing/2014/main" id="{0CB66913-5FDE-C9F0-1004-AB9E58A23F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984" y="6035291"/>
            <a:ext cx="7356311" cy="4061209"/>
          </a:xfrm>
          <a:prstGeom prst="rect">
            <a:avLst/>
          </a:prstGeom>
        </p:spPr>
      </p:pic>
      <p:pic>
        <p:nvPicPr>
          <p:cNvPr id="34" name="صورة 33">
            <a:extLst>
              <a:ext uri="{FF2B5EF4-FFF2-40B4-BE49-F238E27FC236}">
                <a16:creationId xmlns:a16="http://schemas.microsoft.com/office/drawing/2014/main" id="{2E45DD86-07AB-980A-35D9-BB4882777C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707" y="1686760"/>
            <a:ext cx="7344587" cy="4348531"/>
          </a:xfrm>
          <a:prstGeom prst="rect">
            <a:avLst/>
          </a:prstGeom>
        </p:spPr>
      </p:pic>
      <p:pic>
        <p:nvPicPr>
          <p:cNvPr id="38" name="صورة 37">
            <a:extLst>
              <a:ext uri="{FF2B5EF4-FFF2-40B4-BE49-F238E27FC236}">
                <a16:creationId xmlns:a16="http://schemas.microsoft.com/office/drawing/2014/main" id="{B886B0D5-679D-9A1D-3FFD-80182F3B6B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84295" y="1686760"/>
            <a:ext cx="7344589" cy="4348531"/>
          </a:xfrm>
          <a:prstGeom prst="rect">
            <a:avLst/>
          </a:prstGeom>
        </p:spPr>
      </p:pic>
      <p:pic>
        <p:nvPicPr>
          <p:cNvPr id="40" name="صورة 39">
            <a:extLst>
              <a:ext uri="{FF2B5EF4-FFF2-40B4-BE49-F238E27FC236}">
                <a16:creationId xmlns:a16="http://schemas.microsoft.com/office/drawing/2014/main" id="{389CAC5D-91F5-2E99-2570-FD5FCAA4C86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84295" y="6035291"/>
            <a:ext cx="7344590" cy="4061209"/>
          </a:xfrm>
          <a:prstGeom prst="rect">
            <a:avLst/>
          </a:prstGeom>
        </p:spPr>
      </p:pic>
      <p:sp>
        <p:nvSpPr>
          <p:cNvPr id="3" name="Freeform 3">
            <a:extLst>
              <a:ext uri="{FF2B5EF4-FFF2-40B4-BE49-F238E27FC236}">
                <a16:creationId xmlns:a16="http://schemas.microsoft.com/office/drawing/2014/main" id="{20FEEE94-0E41-D010-8C19-DB1D29A2F67C}"/>
              </a:ext>
            </a:extLst>
          </p:cNvPr>
          <p:cNvSpPr/>
          <p:nvPr/>
        </p:nvSpPr>
        <p:spPr>
          <a:xfrm>
            <a:off x="0" y="0"/>
            <a:ext cx="3373520" cy="1686760"/>
          </a:xfrm>
          <a:custGeom>
            <a:avLst/>
            <a:gdLst/>
            <a:ahLst/>
            <a:cxnLst/>
            <a:rect l="l" t="t" r="r" b="b"/>
            <a:pathLst>
              <a:path w="3373520" h="1686760">
                <a:moveTo>
                  <a:pt x="0" y="0"/>
                </a:moveTo>
                <a:lnTo>
                  <a:pt x="3373520" y="0"/>
                </a:lnTo>
                <a:lnTo>
                  <a:pt x="3373520" y="1686760"/>
                </a:lnTo>
                <a:lnTo>
                  <a:pt x="0" y="1686760"/>
                </a:lnTo>
                <a:lnTo>
                  <a:pt x="0" y="0"/>
                </a:lnTo>
                <a:close/>
              </a:path>
            </a:pathLst>
          </a:custGeom>
          <a:blipFill>
            <a:blip r:embed="rId6"/>
            <a:stretch>
              <a:fillRect/>
            </a:stretch>
          </a:blipFill>
        </p:spPr>
        <p:txBody>
          <a:bodyPr/>
          <a:lstStyle/>
          <a:p>
            <a:endParaRPr lang="en-AE"/>
          </a:p>
        </p:txBody>
      </p:sp>
      <p:sp>
        <p:nvSpPr>
          <p:cNvPr id="4" name="Freeform 11">
            <a:extLst>
              <a:ext uri="{FF2B5EF4-FFF2-40B4-BE49-F238E27FC236}">
                <a16:creationId xmlns:a16="http://schemas.microsoft.com/office/drawing/2014/main" id="{B4959EEE-D63B-9EF9-A7D3-8111D88A6FAC}"/>
              </a:ext>
            </a:extLst>
          </p:cNvPr>
          <p:cNvSpPr/>
          <p:nvPr/>
        </p:nvSpPr>
        <p:spPr>
          <a:xfrm>
            <a:off x="15423023" y="38100"/>
            <a:ext cx="2859115" cy="2438400"/>
          </a:xfrm>
          <a:custGeom>
            <a:avLst/>
            <a:gdLst/>
            <a:ahLst/>
            <a:cxnLst/>
            <a:rect l="l" t="t" r="r" b="b"/>
            <a:pathLst>
              <a:path w="2859115" h="2703163">
                <a:moveTo>
                  <a:pt x="0" y="0"/>
                </a:moveTo>
                <a:lnTo>
                  <a:pt x="2859115" y="0"/>
                </a:lnTo>
                <a:lnTo>
                  <a:pt x="2859115" y="2703163"/>
                </a:lnTo>
                <a:lnTo>
                  <a:pt x="0" y="2703163"/>
                </a:lnTo>
                <a:lnTo>
                  <a:pt x="0" y="0"/>
                </a:lnTo>
                <a:close/>
              </a:path>
            </a:pathLst>
          </a:custGeom>
          <a:blipFill>
            <a:blip r:embed="rId7"/>
            <a:stretch>
              <a:fillRect/>
            </a:stretch>
          </a:blipFill>
        </p:spPr>
        <p:txBody>
          <a:bodyPr/>
          <a:lstStyle/>
          <a:p>
            <a:endParaRPr lang="en-AE" dirty="0"/>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FA000D98-3890-8BCA-F978-5CE33133468E}"/>
              </a:ext>
            </a:extLst>
          </p:cNvPr>
          <p:cNvSpPr txBox="1"/>
          <p:nvPr/>
        </p:nvSpPr>
        <p:spPr>
          <a:xfrm>
            <a:off x="4343400" y="-32238"/>
            <a:ext cx="9144000" cy="1009828"/>
          </a:xfrm>
          <a:prstGeom prst="rect">
            <a:avLst/>
          </a:prstGeom>
          <a:noFill/>
        </p:spPr>
        <p:txBody>
          <a:bodyPr wrap="square">
            <a:spAutoFit/>
          </a:bodyPr>
          <a:lstStyle/>
          <a:p>
            <a:pPr algn="ctr" rtl="1">
              <a:lnSpc>
                <a:spcPts val="7984"/>
              </a:lnSpc>
            </a:pPr>
            <a:r>
              <a:rPr lang="ar-SY" sz="4400" b="1" spc="81" dirty="0">
                <a:solidFill>
                  <a:srgbClr val="040506"/>
                </a:solidFill>
                <a:latin typeface="Anton"/>
                <a:ea typeface="Anton"/>
                <a:cs typeface="Anton"/>
                <a:sym typeface="Anton"/>
                <a:rtl/>
              </a:rPr>
              <a:t>صور القطط التي تم اصطيادها</a:t>
            </a:r>
          </a:p>
        </p:txBody>
      </p:sp>
      <p:pic>
        <p:nvPicPr>
          <p:cNvPr id="5" name="صورة 4">
            <a:extLst>
              <a:ext uri="{FF2B5EF4-FFF2-40B4-BE49-F238E27FC236}">
                <a16:creationId xmlns:a16="http://schemas.microsoft.com/office/drawing/2014/main" id="{DC073901-86D2-F2C1-29F9-B6EDD4561B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2933700"/>
            <a:ext cx="7715250" cy="7353300"/>
          </a:xfrm>
          <a:prstGeom prst="rect">
            <a:avLst/>
          </a:prstGeom>
        </p:spPr>
      </p:pic>
      <p:sp>
        <p:nvSpPr>
          <p:cNvPr id="2" name="Freeform 3">
            <a:extLst>
              <a:ext uri="{FF2B5EF4-FFF2-40B4-BE49-F238E27FC236}">
                <a16:creationId xmlns:a16="http://schemas.microsoft.com/office/drawing/2014/main" id="{6FAA276C-0200-D339-1334-8132634FA11F}"/>
              </a:ext>
            </a:extLst>
          </p:cNvPr>
          <p:cNvSpPr/>
          <p:nvPr/>
        </p:nvSpPr>
        <p:spPr>
          <a:xfrm>
            <a:off x="0" y="0"/>
            <a:ext cx="3373520" cy="1686760"/>
          </a:xfrm>
          <a:custGeom>
            <a:avLst/>
            <a:gdLst/>
            <a:ahLst/>
            <a:cxnLst/>
            <a:rect l="l" t="t" r="r" b="b"/>
            <a:pathLst>
              <a:path w="3373520" h="1686760">
                <a:moveTo>
                  <a:pt x="0" y="0"/>
                </a:moveTo>
                <a:lnTo>
                  <a:pt x="3373520" y="0"/>
                </a:lnTo>
                <a:lnTo>
                  <a:pt x="3373520" y="1686760"/>
                </a:lnTo>
                <a:lnTo>
                  <a:pt x="0" y="1686760"/>
                </a:lnTo>
                <a:lnTo>
                  <a:pt x="0" y="0"/>
                </a:lnTo>
                <a:close/>
              </a:path>
            </a:pathLst>
          </a:custGeom>
          <a:blipFill>
            <a:blip r:embed="rId3"/>
            <a:stretch>
              <a:fillRect/>
            </a:stretch>
          </a:blipFill>
        </p:spPr>
        <p:txBody>
          <a:bodyPr/>
          <a:lstStyle/>
          <a:p>
            <a:endParaRPr lang="en-AE"/>
          </a:p>
        </p:txBody>
      </p:sp>
      <p:sp>
        <p:nvSpPr>
          <p:cNvPr id="4" name="Freeform 4">
            <a:extLst>
              <a:ext uri="{FF2B5EF4-FFF2-40B4-BE49-F238E27FC236}">
                <a16:creationId xmlns:a16="http://schemas.microsoft.com/office/drawing/2014/main" id="{65C162FC-E52D-A2D4-85D2-8DA56FC9B5CC}"/>
              </a:ext>
            </a:extLst>
          </p:cNvPr>
          <p:cNvSpPr/>
          <p:nvPr/>
        </p:nvSpPr>
        <p:spPr>
          <a:xfrm>
            <a:off x="15316200" y="-20894"/>
            <a:ext cx="2859115" cy="2703163"/>
          </a:xfrm>
          <a:custGeom>
            <a:avLst/>
            <a:gdLst/>
            <a:ahLst/>
            <a:cxnLst/>
            <a:rect l="l" t="t" r="r" b="b"/>
            <a:pathLst>
              <a:path w="2859115" h="2703163">
                <a:moveTo>
                  <a:pt x="0" y="0"/>
                </a:moveTo>
                <a:lnTo>
                  <a:pt x="2859115" y="0"/>
                </a:lnTo>
                <a:lnTo>
                  <a:pt x="2859115" y="2703163"/>
                </a:lnTo>
                <a:lnTo>
                  <a:pt x="0" y="2703163"/>
                </a:lnTo>
                <a:lnTo>
                  <a:pt x="0" y="0"/>
                </a:lnTo>
                <a:close/>
              </a:path>
            </a:pathLst>
          </a:custGeom>
          <a:blipFill>
            <a:blip r:embed="rId4"/>
            <a:stretch>
              <a:fillRect/>
            </a:stretch>
          </a:blipFill>
        </p:spPr>
      </p:sp>
      <p:pic>
        <p:nvPicPr>
          <p:cNvPr id="8" name="صورة 7">
            <a:extLst>
              <a:ext uri="{FF2B5EF4-FFF2-40B4-BE49-F238E27FC236}">
                <a16:creationId xmlns:a16="http://schemas.microsoft.com/office/drawing/2014/main" id="{0F696057-4406-1559-DF5C-B7ABD2F575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20050" y="2933700"/>
            <a:ext cx="8056007" cy="7353300"/>
          </a:xfrm>
          <a:prstGeom prst="rect">
            <a:avLst/>
          </a:prstGeom>
        </p:spPr>
      </p:pic>
    </p:spTree>
    <p:extLst>
      <p:ext uri="{BB962C8B-B14F-4D97-AF65-F5344CB8AC3E}">
        <p14:creationId xmlns:p14="http://schemas.microsoft.com/office/powerpoint/2010/main" val="2102519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مربع نص 4">
            <a:extLst>
              <a:ext uri="{FF2B5EF4-FFF2-40B4-BE49-F238E27FC236}">
                <a16:creationId xmlns:a16="http://schemas.microsoft.com/office/drawing/2014/main" id="{E2EB70B6-EE32-FF6D-74AA-4840F017594D}"/>
              </a:ext>
            </a:extLst>
          </p:cNvPr>
          <p:cNvSpPr txBox="1"/>
          <p:nvPr/>
        </p:nvSpPr>
        <p:spPr>
          <a:xfrm>
            <a:off x="152400" y="3553527"/>
            <a:ext cx="17907000" cy="4362669"/>
          </a:xfrm>
          <a:prstGeom prst="rect">
            <a:avLst/>
          </a:prstGeom>
          <a:noFill/>
        </p:spPr>
        <p:txBody>
          <a:bodyPr wrap="square">
            <a:spAutoFit/>
          </a:bodyPr>
          <a:lstStyle/>
          <a:p>
            <a:pPr algn="ctr" rtl="1">
              <a:lnSpc>
                <a:spcPts val="8556"/>
              </a:lnSpc>
            </a:pPr>
            <a:r>
              <a:rPr lang="ar-EG" sz="4000" b="1" spc="53" dirty="0">
                <a:solidFill>
                  <a:srgbClr val="000000"/>
                </a:solidFill>
                <a:latin typeface="Anton"/>
                <a:ea typeface="Anton"/>
                <a:cs typeface="Anton"/>
                <a:sym typeface="Anton"/>
                <a:rtl/>
              </a:rPr>
              <a:t>الخاتمة</a:t>
            </a:r>
          </a:p>
          <a:p>
            <a:pPr algn="ctr" rtl="1">
              <a:lnSpc>
                <a:spcPts val="8556"/>
              </a:lnSpc>
            </a:pPr>
            <a:r>
              <a:rPr lang="ar-EG" sz="4000" b="1" spc="53" dirty="0">
                <a:solidFill>
                  <a:srgbClr val="000000"/>
                </a:solidFill>
                <a:latin typeface="Anton"/>
                <a:ea typeface="Anton"/>
                <a:cs typeface="Anton"/>
                <a:sym typeface="Anton"/>
                <a:rtl/>
              </a:rPr>
              <a:t>تلتزم شركة النسر بضمان صحة وسلامة جميع الحيوانات إن جهودنا لمكافحة الحيوانات الضالة جزء أساسي من هذا الالتزام تتطلب هذه الجهود تعاونًا مستمرًا من جميع أفراد المجتمع لضمان بيئة آمنة وصحية للجميع</a:t>
            </a:r>
          </a:p>
        </p:txBody>
      </p:sp>
      <p:sp>
        <p:nvSpPr>
          <p:cNvPr id="6" name="Freeform 4">
            <a:extLst>
              <a:ext uri="{FF2B5EF4-FFF2-40B4-BE49-F238E27FC236}">
                <a16:creationId xmlns:a16="http://schemas.microsoft.com/office/drawing/2014/main" id="{21BBFE99-3FBD-1416-1D8A-F828705FE3B1}"/>
              </a:ext>
            </a:extLst>
          </p:cNvPr>
          <p:cNvSpPr/>
          <p:nvPr/>
        </p:nvSpPr>
        <p:spPr>
          <a:xfrm>
            <a:off x="15316200" y="-20894"/>
            <a:ext cx="2859115" cy="2703163"/>
          </a:xfrm>
          <a:custGeom>
            <a:avLst/>
            <a:gdLst/>
            <a:ahLst/>
            <a:cxnLst/>
            <a:rect l="l" t="t" r="r" b="b"/>
            <a:pathLst>
              <a:path w="2859115" h="2703163">
                <a:moveTo>
                  <a:pt x="0" y="0"/>
                </a:moveTo>
                <a:lnTo>
                  <a:pt x="2859115" y="0"/>
                </a:lnTo>
                <a:lnTo>
                  <a:pt x="2859115" y="2703163"/>
                </a:lnTo>
                <a:lnTo>
                  <a:pt x="0" y="2703163"/>
                </a:lnTo>
                <a:lnTo>
                  <a:pt x="0" y="0"/>
                </a:lnTo>
                <a:close/>
              </a:path>
            </a:pathLst>
          </a:custGeom>
          <a:blipFill>
            <a:blip r:embed="rId2"/>
            <a:stretch>
              <a:fillRect/>
            </a:stretch>
          </a:blipFill>
        </p:spPr>
      </p:sp>
      <p:sp>
        <p:nvSpPr>
          <p:cNvPr id="2" name="Freeform 3">
            <a:extLst>
              <a:ext uri="{FF2B5EF4-FFF2-40B4-BE49-F238E27FC236}">
                <a16:creationId xmlns:a16="http://schemas.microsoft.com/office/drawing/2014/main" id="{B47F8635-C4D4-29DE-DFF3-BDAE0DF8E314}"/>
              </a:ext>
            </a:extLst>
          </p:cNvPr>
          <p:cNvSpPr/>
          <p:nvPr/>
        </p:nvSpPr>
        <p:spPr>
          <a:xfrm>
            <a:off x="0" y="0"/>
            <a:ext cx="3373520" cy="1686760"/>
          </a:xfrm>
          <a:custGeom>
            <a:avLst/>
            <a:gdLst/>
            <a:ahLst/>
            <a:cxnLst/>
            <a:rect l="l" t="t" r="r" b="b"/>
            <a:pathLst>
              <a:path w="3373520" h="1686760">
                <a:moveTo>
                  <a:pt x="0" y="0"/>
                </a:moveTo>
                <a:lnTo>
                  <a:pt x="3373520" y="0"/>
                </a:lnTo>
                <a:lnTo>
                  <a:pt x="3373520" y="1686760"/>
                </a:lnTo>
                <a:lnTo>
                  <a:pt x="0" y="1686760"/>
                </a:lnTo>
                <a:lnTo>
                  <a:pt x="0" y="0"/>
                </a:lnTo>
                <a:close/>
              </a:path>
            </a:pathLst>
          </a:custGeom>
          <a:blipFill>
            <a:blip r:embed="rId3"/>
            <a:stretch>
              <a:fillRect/>
            </a:stretch>
          </a:blipFill>
        </p:spPr>
        <p:txBody>
          <a:bodyPr/>
          <a:lstStyle/>
          <a:p>
            <a:endParaRPr lang="en-AE"/>
          </a:p>
        </p:txBody>
      </p:sp>
    </p:spTree>
    <p:extLst>
      <p:ext uri="{BB962C8B-B14F-4D97-AF65-F5344CB8AC3E}">
        <p14:creationId xmlns:p14="http://schemas.microsoft.com/office/powerpoint/2010/main" val="2895592266"/>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970</TotalTime>
  <Words>103</Words>
  <Application>Microsoft Office PowerPoint</Application>
  <PresentationFormat>مخصص</PresentationFormat>
  <Paragraphs>13</Paragraphs>
  <Slides>6</Slides>
  <Notes>0</Notes>
  <HiddenSlides>0</HiddenSlides>
  <MMClips>0</MMClips>
  <ScaleCrop>false</ScaleCrop>
  <HeadingPairs>
    <vt:vector size="6" baseType="variant">
      <vt:variant>
        <vt:lpstr>الخطوط المستخدمة</vt:lpstr>
      </vt:variant>
      <vt:variant>
        <vt:i4>6</vt:i4>
      </vt:variant>
      <vt:variant>
        <vt:lpstr>نسق</vt:lpstr>
      </vt:variant>
      <vt:variant>
        <vt:i4>1</vt:i4>
      </vt:variant>
      <vt:variant>
        <vt:lpstr>عناوين الشرائح</vt:lpstr>
      </vt:variant>
      <vt:variant>
        <vt:i4>6</vt:i4>
      </vt:variant>
    </vt:vector>
  </HeadingPairs>
  <TitlesOfParts>
    <vt:vector size="13" baseType="lpstr">
      <vt:lpstr>Calibri Light</vt:lpstr>
      <vt:lpstr>Poppins Medium</vt:lpstr>
      <vt:lpstr>Anton</vt:lpstr>
      <vt:lpstr>Calibri</vt:lpstr>
      <vt:lpstr>Arial</vt:lpstr>
      <vt:lpstr>Gill Sans MT</vt:lpstr>
      <vt:lpstr>Parcel</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مقدمة عن عملية المسح</dc:title>
  <dc:creator>Hassan Alwani</dc:creator>
  <cp:lastModifiedBy>Dr. Mostafa Zoza</cp:lastModifiedBy>
  <cp:revision>29</cp:revision>
  <dcterms:created xsi:type="dcterms:W3CDTF">2006-08-16T00:00:00Z</dcterms:created>
  <dcterms:modified xsi:type="dcterms:W3CDTF">2025-11-23T20:25:09Z</dcterms:modified>
  <dc:identifier>DAGc87o20Bs</dc:identifier>
</cp:coreProperties>
</file>