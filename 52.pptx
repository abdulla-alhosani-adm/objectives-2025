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311" r:id="rId5"/>
    <p:sldId id="337" r:id="rId6"/>
    <p:sldId id="338" r:id="rId7"/>
    <p:sldId id="341" r:id="rId8"/>
    <p:sldId id="325" r:id="rId9"/>
    <p:sldId id="344" r:id="rId10"/>
    <p:sldId id="336" r:id="rId11"/>
  </p:sldIdLst>
  <p:sldSz cx="9144000" cy="6858000" type="screen4x3"/>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739" autoAdjust="0"/>
    <p:restoredTop sz="94660"/>
  </p:normalViewPr>
  <p:slideViewPr>
    <p:cSldViewPr snapToGrid="0">
      <p:cViewPr varScale="1">
        <p:scale>
          <a:sx n="90" d="100"/>
          <a:sy n="90" d="100"/>
        </p:scale>
        <p:origin x="10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E46C03-BBA2-4F6B-B6AD-5D2F268231AD}"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F60F7D62-EEC8-4A09-A3A4-7002B5E669BB}">
      <dgm:prSet custT="1"/>
      <dgm:spPr/>
      <dgm:t>
        <a:bodyPr/>
        <a:lstStyle/>
        <a:p>
          <a:pPr algn="ctr"/>
          <a:r>
            <a:rPr lang="ar-AE" sz="1800" b="1" dirty="0"/>
            <a:t>1- التحضير لامتلاك حيوان أليف وشراء قائمة التسوق المناسبة لكل حيوان أليف</a:t>
          </a:r>
          <a:endParaRPr lang="en-US" sz="1800" dirty="0"/>
        </a:p>
      </dgm:t>
    </dgm:pt>
    <dgm:pt modelId="{A734EB2E-EC29-40DF-B1F0-8BE8F555DEE9}" type="parTrans" cxnId="{3A5D099D-0037-4092-B6D9-AF5ACFCE5F07}">
      <dgm:prSet/>
      <dgm:spPr/>
      <dgm:t>
        <a:bodyPr/>
        <a:lstStyle/>
        <a:p>
          <a:endParaRPr lang="en-US"/>
        </a:p>
      </dgm:t>
    </dgm:pt>
    <dgm:pt modelId="{2F1207CF-324D-4915-8118-5C8B62E95882}" type="sibTrans" cxnId="{3A5D099D-0037-4092-B6D9-AF5ACFCE5F07}">
      <dgm:prSet/>
      <dgm:spPr/>
      <dgm:t>
        <a:bodyPr/>
        <a:lstStyle/>
        <a:p>
          <a:endParaRPr lang="en-US"/>
        </a:p>
      </dgm:t>
    </dgm:pt>
    <dgm:pt modelId="{8BC3A858-816A-45C4-B568-E3782736B025}">
      <dgm:prSet custT="1"/>
      <dgm:spPr/>
      <dgm:t>
        <a:bodyPr/>
        <a:lstStyle/>
        <a:p>
          <a:pPr algn="r"/>
          <a:r>
            <a:rPr lang="ar-AE" sz="1800" b="1" dirty="0"/>
            <a:t>2- مواصفات وشروط البيئة المناسبة لكل حيوان أليف</a:t>
          </a:r>
          <a:endParaRPr lang="en-US" sz="800" dirty="0"/>
        </a:p>
      </dgm:t>
    </dgm:pt>
    <dgm:pt modelId="{86322B40-44EB-41AF-ACFD-2E7210DFB44A}" type="parTrans" cxnId="{D37FBE02-1A3D-42B6-B304-047FA4A94A2B}">
      <dgm:prSet/>
      <dgm:spPr/>
      <dgm:t>
        <a:bodyPr/>
        <a:lstStyle/>
        <a:p>
          <a:endParaRPr lang="en-US"/>
        </a:p>
      </dgm:t>
    </dgm:pt>
    <dgm:pt modelId="{CDA9D2B8-0C99-440C-92A2-73531E8FAD52}" type="sibTrans" cxnId="{D37FBE02-1A3D-42B6-B304-047FA4A94A2B}">
      <dgm:prSet/>
      <dgm:spPr/>
      <dgm:t>
        <a:bodyPr/>
        <a:lstStyle/>
        <a:p>
          <a:endParaRPr lang="en-US"/>
        </a:p>
      </dgm:t>
    </dgm:pt>
    <dgm:pt modelId="{33FCC5F6-C420-4A99-8396-58B2307472A9}">
      <dgm:prSet custT="1"/>
      <dgm:spPr/>
      <dgm:t>
        <a:bodyPr/>
        <a:lstStyle/>
        <a:p>
          <a:pPr marL="0" lvl="0" indent="0" algn="r" defTabSz="800100">
            <a:lnSpc>
              <a:spcPct val="90000"/>
            </a:lnSpc>
            <a:spcBef>
              <a:spcPct val="0"/>
            </a:spcBef>
            <a:spcAft>
              <a:spcPct val="35000"/>
            </a:spcAft>
            <a:buNone/>
          </a:pPr>
          <a:r>
            <a:rPr lang="ar-AE" sz="1800" b="1" kern="1200" dirty="0">
              <a:solidFill>
                <a:prstClr val="black">
                  <a:hueOff val="0"/>
                  <a:satOff val="0"/>
                  <a:lumOff val="0"/>
                  <a:alphaOff val="0"/>
                </a:prstClr>
              </a:solidFill>
              <a:latin typeface="Calibri" panose="020F0502020204030204"/>
              <a:ea typeface="+mn-ea"/>
              <a:cs typeface="Arial" panose="020B0604020202020204" pitchFamily="34" charset="0"/>
            </a:rPr>
            <a:t>3 - توفير المناطق المتنوعة المناسبة لكل حيوان مثل     مناطق ( الطعام – المياه – الراحة والنوم – الخدش – اللعب – منطقة الحمام )</a:t>
          </a:r>
          <a:endParaRPr lang="en-US" sz="1800" b="1" kern="1200" dirty="0">
            <a:solidFill>
              <a:prstClr val="black">
                <a:hueOff val="0"/>
                <a:satOff val="0"/>
                <a:lumOff val="0"/>
                <a:alphaOff val="0"/>
              </a:prstClr>
            </a:solidFill>
            <a:latin typeface="Calibri" panose="020F0502020204030204"/>
            <a:ea typeface="+mn-ea"/>
            <a:cs typeface="Arial" panose="020B0604020202020204" pitchFamily="34" charset="0"/>
          </a:endParaRPr>
        </a:p>
      </dgm:t>
    </dgm:pt>
    <dgm:pt modelId="{55FB017D-038D-488B-8F64-962D3EF7A402}" type="parTrans" cxnId="{36F90D8B-DD08-4B91-9A35-C767394D6828}">
      <dgm:prSet/>
      <dgm:spPr/>
      <dgm:t>
        <a:bodyPr/>
        <a:lstStyle/>
        <a:p>
          <a:endParaRPr lang="en-US"/>
        </a:p>
      </dgm:t>
    </dgm:pt>
    <dgm:pt modelId="{8FD9605E-3DFB-4DFB-92C7-05EE0A2CA9E4}" type="sibTrans" cxnId="{36F90D8B-DD08-4B91-9A35-C767394D6828}">
      <dgm:prSet/>
      <dgm:spPr/>
      <dgm:t>
        <a:bodyPr/>
        <a:lstStyle/>
        <a:p>
          <a:endParaRPr lang="en-US"/>
        </a:p>
      </dgm:t>
    </dgm:pt>
    <dgm:pt modelId="{BF1B1497-B8F9-413B-B059-B6D78A2744D2}" type="pres">
      <dgm:prSet presAssocID="{AFE46C03-BBA2-4F6B-B6AD-5D2F268231AD}" presName="compositeShape" presStyleCnt="0">
        <dgm:presLayoutVars>
          <dgm:dir/>
          <dgm:resizeHandles/>
        </dgm:presLayoutVars>
      </dgm:prSet>
      <dgm:spPr/>
    </dgm:pt>
    <dgm:pt modelId="{918C77FA-EA56-48C7-92AA-A83FAF8E449E}" type="pres">
      <dgm:prSet presAssocID="{AFE46C03-BBA2-4F6B-B6AD-5D2F268231AD}" presName="pyramid" presStyleLbl="node1" presStyleIdx="0" presStyleCnt="1" custLinFactNeighborX="-20760" custLinFactNeighborY="-2535"/>
      <dgm:spPr/>
    </dgm:pt>
    <dgm:pt modelId="{A2BAF53E-AEA8-4CEC-9F06-EFD36D229651}" type="pres">
      <dgm:prSet presAssocID="{AFE46C03-BBA2-4F6B-B6AD-5D2F268231AD}" presName="theList" presStyleCnt="0"/>
      <dgm:spPr/>
    </dgm:pt>
    <dgm:pt modelId="{D8076216-CB69-4DD0-8B35-68A87D251587}" type="pres">
      <dgm:prSet presAssocID="{F60F7D62-EEC8-4A09-A3A4-7002B5E669BB}" presName="aNode" presStyleLbl="fgAcc1" presStyleIdx="0" presStyleCnt="3" custScaleX="170378">
        <dgm:presLayoutVars>
          <dgm:bulletEnabled val="1"/>
        </dgm:presLayoutVars>
      </dgm:prSet>
      <dgm:spPr/>
    </dgm:pt>
    <dgm:pt modelId="{9C23727C-70C0-481B-B13C-E52997C837CE}" type="pres">
      <dgm:prSet presAssocID="{F60F7D62-EEC8-4A09-A3A4-7002B5E669BB}" presName="aSpace" presStyleCnt="0"/>
      <dgm:spPr/>
    </dgm:pt>
    <dgm:pt modelId="{3A2277FC-2520-47A7-8A7C-B4A6BBED12DC}" type="pres">
      <dgm:prSet presAssocID="{8BC3A858-816A-45C4-B568-E3782736B025}" presName="aNode" presStyleLbl="fgAcc1" presStyleIdx="1" presStyleCnt="3" custScaleX="169697">
        <dgm:presLayoutVars>
          <dgm:bulletEnabled val="1"/>
        </dgm:presLayoutVars>
      </dgm:prSet>
      <dgm:spPr/>
    </dgm:pt>
    <dgm:pt modelId="{4857FC4F-6D9E-424F-9277-0EDB1987FCD9}" type="pres">
      <dgm:prSet presAssocID="{8BC3A858-816A-45C4-B568-E3782736B025}" presName="aSpace" presStyleCnt="0"/>
      <dgm:spPr/>
    </dgm:pt>
    <dgm:pt modelId="{AA285E90-B492-43CD-A5E9-CC6F3FDD2549}" type="pres">
      <dgm:prSet presAssocID="{33FCC5F6-C420-4A99-8396-58B2307472A9}" presName="aNode" presStyleLbl="fgAcc1" presStyleIdx="2" presStyleCnt="3" custScaleX="170038">
        <dgm:presLayoutVars>
          <dgm:bulletEnabled val="1"/>
        </dgm:presLayoutVars>
      </dgm:prSet>
      <dgm:spPr/>
    </dgm:pt>
    <dgm:pt modelId="{FD55274F-4C10-4CC1-9F10-B28A8D802470}" type="pres">
      <dgm:prSet presAssocID="{33FCC5F6-C420-4A99-8396-58B2307472A9}" presName="aSpace" presStyleCnt="0"/>
      <dgm:spPr/>
    </dgm:pt>
  </dgm:ptLst>
  <dgm:cxnLst>
    <dgm:cxn modelId="{D37FBE02-1A3D-42B6-B304-047FA4A94A2B}" srcId="{AFE46C03-BBA2-4F6B-B6AD-5D2F268231AD}" destId="{8BC3A858-816A-45C4-B568-E3782736B025}" srcOrd="1" destOrd="0" parTransId="{86322B40-44EB-41AF-ACFD-2E7210DFB44A}" sibTransId="{CDA9D2B8-0C99-440C-92A2-73531E8FAD52}"/>
    <dgm:cxn modelId="{847C4422-5F9B-47A5-95A3-181CFE118784}" type="presOf" srcId="{F60F7D62-EEC8-4A09-A3A4-7002B5E669BB}" destId="{D8076216-CB69-4DD0-8B35-68A87D251587}" srcOrd="0" destOrd="0" presId="urn:microsoft.com/office/officeart/2005/8/layout/pyramid2"/>
    <dgm:cxn modelId="{0D4FFB67-EE82-4076-8B48-3DD4667B8461}" type="presOf" srcId="{AFE46C03-BBA2-4F6B-B6AD-5D2F268231AD}" destId="{BF1B1497-B8F9-413B-B059-B6D78A2744D2}" srcOrd="0" destOrd="0" presId="urn:microsoft.com/office/officeart/2005/8/layout/pyramid2"/>
    <dgm:cxn modelId="{0E705679-6CEA-4A6A-B1DB-6A1F3CE18F05}" type="presOf" srcId="{33FCC5F6-C420-4A99-8396-58B2307472A9}" destId="{AA285E90-B492-43CD-A5E9-CC6F3FDD2549}" srcOrd="0" destOrd="0" presId="urn:microsoft.com/office/officeart/2005/8/layout/pyramid2"/>
    <dgm:cxn modelId="{36F90D8B-DD08-4B91-9A35-C767394D6828}" srcId="{AFE46C03-BBA2-4F6B-B6AD-5D2F268231AD}" destId="{33FCC5F6-C420-4A99-8396-58B2307472A9}" srcOrd="2" destOrd="0" parTransId="{55FB017D-038D-488B-8F64-962D3EF7A402}" sibTransId="{8FD9605E-3DFB-4DFB-92C7-05EE0A2CA9E4}"/>
    <dgm:cxn modelId="{3A5D099D-0037-4092-B6D9-AF5ACFCE5F07}" srcId="{AFE46C03-BBA2-4F6B-B6AD-5D2F268231AD}" destId="{F60F7D62-EEC8-4A09-A3A4-7002B5E669BB}" srcOrd="0" destOrd="0" parTransId="{A734EB2E-EC29-40DF-B1F0-8BE8F555DEE9}" sibTransId="{2F1207CF-324D-4915-8118-5C8B62E95882}"/>
    <dgm:cxn modelId="{86A4D99F-9E4F-4A9A-9DBC-95081D6A1507}" type="presOf" srcId="{8BC3A858-816A-45C4-B568-E3782736B025}" destId="{3A2277FC-2520-47A7-8A7C-B4A6BBED12DC}" srcOrd="0" destOrd="0" presId="urn:microsoft.com/office/officeart/2005/8/layout/pyramid2"/>
    <dgm:cxn modelId="{58F3306D-A114-49E8-BDE7-177DECD25F2F}" type="presParOf" srcId="{BF1B1497-B8F9-413B-B059-B6D78A2744D2}" destId="{918C77FA-EA56-48C7-92AA-A83FAF8E449E}" srcOrd="0" destOrd="0" presId="urn:microsoft.com/office/officeart/2005/8/layout/pyramid2"/>
    <dgm:cxn modelId="{E8B96B67-F0A6-4C46-9A6B-27C820D5EBA7}" type="presParOf" srcId="{BF1B1497-B8F9-413B-B059-B6D78A2744D2}" destId="{A2BAF53E-AEA8-4CEC-9F06-EFD36D229651}" srcOrd="1" destOrd="0" presId="urn:microsoft.com/office/officeart/2005/8/layout/pyramid2"/>
    <dgm:cxn modelId="{6FDE41A0-44C0-4036-B1E8-507D48B15E87}" type="presParOf" srcId="{A2BAF53E-AEA8-4CEC-9F06-EFD36D229651}" destId="{D8076216-CB69-4DD0-8B35-68A87D251587}" srcOrd="0" destOrd="0" presId="urn:microsoft.com/office/officeart/2005/8/layout/pyramid2"/>
    <dgm:cxn modelId="{61A78161-8566-4F6F-BEA8-DBD1FE3C079D}" type="presParOf" srcId="{A2BAF53E-AEA8-4CEC-9F06-EFD36D229651}" destId="{9C23727C-70C0-481B-B13C-E52997C837CE}" srcOrd="1" destOrd="0" presId="urn:microsoft.com/office/officeart/2005/8/layout/pyramid2"/>
    <dgm:cxn modelId="{56AC8FC7-D9ED-4AE4-A5EF-B081AC65225A}" type="presParOf" srcId="{A2BAF53E-AEA8-4CEC-9F06-EFD36D229651}" destId="{3A2277FC-2520-47A7-8A7C-B4A6BBED12DC}" srcOrd="2" destOrd="0" presId="urn:microsoft.com/office/officeart/2005/8/layout/pyramid2"/>
    <dgm:cxn modelId="{010FBC7B-5E05-4581-98ED-38BA52A14381}" type="presParOf" srcId="{A2BAF53E-AEA8-4CEC-9F06-EFD36D229651}" destId="{4857FC4F-6D9E-424F-9277-0EDB1987FCD9}" srcOrd="3" destOrd="0" presId="urn:microsoft.com/office/officeart/2005/8/layout/pyramid2"/>
    <dgm:cxn modelId="{DC747BE9-E630-4229-8C79-62D37A102617}" type="presParOf" srcId="{A2BAF53E-AEA8-4CEC-9F06-EFD36D229651}" destId="{AA285E90-B492-43CD-A5E9-CC6F3FDD2549}" srcOrd="4" destOrd="0" presId="urn:microsoft.com/office/officeart/2005/8/layout/pyramid2"/>
    <dgm:cxn modelId="{2859DC96-4E48-4537-A401-BAD3083C94AA}" type="presParOf" srcId="{A2BAF53E-AEA8-4CEC-9F06-EFD36D229651}" destId="{FD55274F-4C10-4CC1-9F10-B28A8D802470}"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E46C03-BBA2-4F6B-B6AD-5D2F268231AD}"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F60F7D62-EEC8-4A09-A3A4-7002B5E669BB}">
      <dgm:prSet custT="1"/>
      <dgm:spPr/>
      <dgm:t>
        <a:bodyPr/>
        <a:lstStyle/>
        <a:p>
          <a:pPr marL="0" lvl="0" indent="0" algn="r" defTabSz="800100">
            <a:lnSpc>
              <a:spcPct val="90000"/>
            </a:lnSpc>
            <a:spcBef>
              <a:spcPct val="0"/>
            </a:spcBef>
            <a:spcAft>
              <a:spcPct val="35000"/>
            </a:spcAft>
            <a:buNone/>
          </a:pPr>
          <a:r>
            <a:rPr lang="ar-AE" sz="1800" b="1" kern="1200" dirty="0">
              <a:solidFill>
                <a:prstClr val="black">
                  <a:hueOff val="0"/>
                  <a:satOff val="0"/>
                  <a:lumOff val="0"/>
                  <a:alphaOff val="0"/>
                </a:prstClr>
              </a:solidFill>
              <a:latin typeface="Calibri" panose="020F0502020204030204"/>
              <a:ea typeface="+mn-ea"/>
              <a:cs typeface="Arial" panose="020B0604020202020204" pitchFamily="34" charset="0"/>
            </a:rPr>
            <a:t>4 – مواصفات النظام الغذائي الآمن والصحي</a:t>
          </a:r>
          <a:endParaRPr lang="en-US" sz="1800" b="1" kern="1200" dirty="0">
            <a:solidFill>
              <a:prstClr val="black">
                <a:hueOff val="0"/>
                <a:satOff val="0"/>
                <a:lumOff val="0"/>
                <a:alphaOff val="0"/>
              </a:prstClr>
            </a:solidFill>
            <a:latin typeface="Calibri" panose="020F0502020204030204"/>
            <a:ea typeface="+mn-ea"/>
            <a:cs typeface="Arial" panose="020B0604020202020204" pitchFamily="34" charset="0"/>
          </a:endParaRPr>
        </a:p>
      </dgm:t>
    </dgm:pt>
    <dgm:pt modelId="{A734EB2E-EC29-40DF-B1F0-8BE8F555DEE9}" type="parTrans" cxnId="{3A5D099D-0037-4092-B6D9-AF5ACFCE5F07}">
      <dgm:prSet/>
      <dgm:spPr/>
      <dgm:t>
        <a:bodyPr/>
        <a:lstStyle/>
        <a:p>
          <a:endParaRPr lang="en-US"/>
        </a:p>
      </dgm:t>
    </dgm:pt>
    <dgm:pt modelId="{2F1207CF-324D-4915-8118-5C8B62E95882}" type="sibTrans" cxnId="{3A5D099D-0037-4092-B6D9-AF5ACFCE5F07}">
      <dgm:prSet/>
      <dgm:spPr/>
      <dgm:t>
        <a:bodyPr/>
        <a:lstStyle/>
        <a:p>
          <a:endParaRPr lang="en-US"/>
        </a:p>
      </dgm:t>
    </dgm:pt>
    <dgm:pt modelId="{8BC3A858-816A-45C4-B568-E3782736B025}">
      <dgm:prSet custT="1"/>
      <dgm:spPr/>
      <dgm:t>
        <a:bodyPr/>
        <a:lstStyle/>
        <a:p>
          <a:pPr algn="ctr"/>
          <a:r>
            <a:rPr lang="ar-AE" sz="1800" b="1" dirty="0"/>
            <a:t> 5 – توفير الحرية المطلقة للحيوان في التعبير عن سلوكه الطبيعي</a:t>
          </a:r>
          <a:endParaRPr lang="en-US" sz="800" dirty="0"/>
        </a:p>
      </dgm:t>
    </dgm:pt>
    <dgm:pt modelId="{86322B40-44EB-41AF-ACFD-2E7210DFB44A}" type="parTrans" cxnId="{D37FBE02-1A3D-42B6-B304-047FA4A94A2B}">
      <dgm:prSet/>
      <dgm:spPr/>
      <dgm:t>
        <a:bodyPr/>
        <a:lstStyle/>
        <a:p>
          <a:endParaRPr lang="en-US"/>
        </a:p>
      </dgm:t>
    </dgm:pt>
    <dgm:pt modelId="{CDA9D2B8-0C99-440C-92A2-73531E8FAD52}" type="sibTrans" cxnId="{D37FBE02-1A3D-42B6-B304-047FA4A94A2B}">
      <dgm:prSet/>
      <dgm:spPr/>
      <dgm:t>
        <a:bodyPr/>
        <a:lstStyle/>
        <a:p>
          <a:endParaRPr lang="en-US"/>
        </a:p>
      </dgm:t>
    </dgm:pt>
    <dgm:pt modelId="{33FCC5F6-C420-4A99-8396-58B2307472A9}">
      <dgm:prSet custT="1"/>
      <dgm:spPr/>
      <dgm:t>
        <a:bodyPr/>
        <a:lstStyle/>
        <a:p>
          <a:pPr algn="r"/>
          <a:r>
            <a:rPr lang="ar-AE" sz="1800" b="1" dirty="0"/>
            <a:t>6 - ضوابط الرفقة لكل حيوان أليف</a:t>
          </a:r>
          <a:endParaRPr lang="en-US" sz="1800" dirty="0"/>
        </a:p>
      </dgm:t>
    </dgm:pt>
    <dgm:pt modelId="{55FB017D-038D-488B-8F64-962D3EF7A402}" type="parTrans" cxnId="{36F90D8B-DD08-4B91-9A35-C767394D6828}">
      <dgm:prSet/>
      <dgm:spPr/>
      <dgm:t>
        <a:bodyPr/>
        <a:lstStyle/>
        <a:p>
          <a:endParaRPr lang="en-US"/>
        </a:p>
      </dgm:t>
    </dgm:pt>
    <dgm:pt modelId="{8FD9605E-3DFB-4DFB-92C7-05EE0A2CA9E4}" type="sibTrans" cxnId="{36F90D8B-DD08-4B91-9A35-C767394D6828}">
      <dgm:prSet/>
      <dgm:spPr/>
      <dgm:t>
        <a:bodyPr/>
        <a:lstStyle/>
        <a:p>
          <a:endParaRPr lang="en-US"/>
        </a:p>
      </dgm:t>
    </dgm:pt>
    <dgm:pt modelId="{C4D8248B-E318-40FC-BBEF-8A327D6B843D}">
      <dgm:prSet custT="1"/>
      <dgm:spPr/>
      <dgm:t>
        <a:bodyPr/>
        <a:lstStyle/>
        <a:p>
          <a:pPr marL="0" lvl="0" indent="0" algn="r" defTabSz="800100">
            <a:lnSpc>
              <a:spcPct val="90000"/>
            </a:lnSpc>
            <a:spcBef>
              <a:spcPct val="0"/>
            </a:spcBef>
            <a:spcAft>
              <a:spcPct val="35000"/>
            </a:spcAft>
            <a:buNone/>
          </a:pPr>
          <a:r>
            <a:rPr lang="ar-AE" sz="1800" b="1" kern="1200" dirty="0">
              <a:solidFill>
                <a:prstClr val="black">
                  <a:hueOff val="0"/>
                  <a:satOff val="0"/>
                  <a:lumOff val="0"/>
                  <a:alphaOff val="0"/>
                </a:prstClr>
              </a:solidFill>
              <a:latin typeface="Calibri" panose="020F0502020204030204"/>
              <a:ea typeface="+mn-ea"/>
              <a:cs typeface="Arial" panose="020B0604020202020204" pitchFamily="34" charset="0"/>
            </a:rPr>
            <a:t>7- العناية بصحة كل حيوان أليف</a:t>
          </a:r>
          <a:endParaRPr lang="en-US" sz="1800" b="1" kern="1200" dirty="0">
            <a:solidFill>
              <a:prstClr val="black">
                <a:hueOff val="0"/>
                <a:satOff val="0"/>
                <a:lumOff val="0"/>
                <a:alphaOff val="0"/>
              </a:prstClr>
            </a:solidFill>
            <a:latin typeface="Calibri" panose="020F0502020204030204"/>
            <a:ea typeface="+mn-ea"/>
            <a:cs typeface="Arial" panose="020B0604020202020204" pitchFamily="34" charset="0"/>
          </a:endParaRPr>
        </a:p>
      </dgm:t>
    </dgm:pt>
    <dgm:pt modelId="{5A0F920D-26B8-4133-B829-57E6AC58B174}" type="parTrans" cxnId="{3214722D-827F-4B5E-A3CC-59B3F26E68E9}">
      <dgm:prSet/>
      <dgm:spPr/>
      <dgm:t>
        <a:bodyPr/>
        <a:lstStyle/>
        <a:p>
          <a:endParaRPr lang="en-US"/>
        </a:p>
      </dgm:t>
    </dgm:pt>
    <dgm:pt modelId="{A07A2BC3-A65A-482B-85C7-421A6BE1806F}" type="sibTrans" cxnId="{3214722D-827F-4B5E-A3CC-59B3F26E68E9}">
      <dgm:prSet/>
      <dgm:spPr/>
      <dgm:t>
        <a:bodyPr/>
        <a:lstStyle/>
        <a:p>
          <a:endParaRPr lang="en-US"/>
        </a:p>
      </dgm:t>
    </dgm:pt>
    <dgm:pt modelId="{BF1B1497-B8F9-413B-B059-B6D78A2744D2}" type="pres">
      <dgm:prSet presAssocID="{AFE46C03-BBA2-4F6B-B6AD-5D2F268231AD}" presName="compositeShape" presStyleCnt="0">
        <dgm:presLayoutVars>
          <dgm:dir/>
          <dgm:resizeHandles/>
        </dgm:presLayoutVars>
      </dgm:prSet>
      <dgm:spPr/>
    </dgm:pt>
    <dgm:pt modelId="{918C77FA-EA56-48C7-92AA-A83FAF8E449E}" type="pres">
      <dgm:prSet presAssocID="{AFE46C03-BBA2-4F6B-B6AD-5D2F268231AD}" presName="pyramid" presStyleLbl="node1" presStyleIdx="0" presStyleCnt="1" custLinFactNeighborX="-20760" custLinFactNeighborY="-2535"/>
      <dgm:spPr/>
    </dgm:pt>
    <dgm:pt modelId="{A2BAF53E-AEA8-4CEC-9F06-EFD36D229651}" type="pres">
      <dgm:prSet presAssocID="{AFE46C03-BBA2-4F6B-B6AD-5D2F268231AD}" presName="theList" presStyleCnt="0"/>
      <dgm:spPr/>
    </dgm:pt>
    <dgm:pt modelId="{D8076216-CB69-4DD0-8B35-68A87D251587}" type="pres">
      <dgm:prSet presAssocID="{F60F7D62-EEC8-4A09-A3A4-7002B5E669BB}" presName="aNode" presStyleLbl="fgAcc1" presStyleIdx="0" presStyleCnt="4" custScaleX="170378">
        <dgm:presLayoutVars>
          <dgm:bulletEnabled val="1"/>
        </dgm:presLayoutVars>
      </dgm:prSet>
      <dgm:spPr/>
    </dgm:pt>
    <dgm:pt modelId="{9C23727C-70C0-481B-B13C-E52997C837CE}" type="pres">
      <dgm:prSet presAssocID="{F60F7D62-EEC8-4A09-A3A4-7002B5E669BB}" presName="aSpace" presStyleCnt="0"/>
      <dgm:spPr/>
    </dgm:pt>
    <dgm:pt modelId="{3A2277FC-2520-47A7-8A7C-B4A6BBED12DC}" type="pres">
      <dgm:prSet presAssocID="{8BC3A858-816A-45C4-B568-E3782736B025}" presName="aNode" presStyleLbl="fgAcc1" presStyleIdx="1" presStyleCnt="4" custScaleX="169697">
        <dgm:presLayoutVars>
          <dgm:bulletEnabled val="1"/>
        </dgm:presLayoutVars>
      </dgm:prSet>
      <dgm:spPr/>
    </dgm:pt>
    <dgm:pt modelId="{4857FC4F-6D9E-424F-9277-0EDB1987FCD9}" type="pres">
      <dgm:prSet presAssocID="{8BC3A858-816A-45C4-B568-E3782736B025}" presName="aSpace" presStyleCnt="0"/>
      <dgm:spPr/>
    </dgm:pt>
    <dgm:pt modelId="{AA285E90-B492-43CD-A5E9-CC6F3FDD2549}" type="pres">
      <dgm:prSet presAssocID="{33FCC5F6-C420-4A99-8396-58B2307472A9}" presName="aNode" presStyleLbl="fgAcc1" presStyleIdx="2" presStyleCnt="4" custScaleX="170038">
        <dgm:presLayoutVars>
          <dgm:bulletEnabled val="1"/>
        </dgm:presLayoutVars>
      </dgm:prSet>
      <dgm:spPr/>
    </dgm:pt>
    <dgm:pt modelId="{FD55274F-4C10-4CC1-9F10-B28A8D802470}" type="pres">
      <dgm:prSet presAssocID="{33FCC5F6-C420-4A99-8396-58B2307472A9}" presName="aSpace" presStyleCnt="0"/>
      <dgm:spPr/>
    </dgm:pt>
    <dgm:pt modelId="{1B669717-BA67-483D-912B-79A7E4B62F45}" type="pres">
      <dgm:prSet presAssocID="{C4D8248B-E318-40FC-BBEF-8A327D6B843D}" presName="aNode" presStyleLbl="fgAcc1" presStyleIdx="3" presStyleCnt="4" custScaleX="170038" custLinFactNeighborX="321" custLinFactNeighborY="-9388">
        <dgm:presLayoutVars>
          <dgm:bulletEnabled val="1"/>
        </dgm:presLayoutVars>
      </dgm:prSet>
      <dgm:spPr/>
    </dgm:pt>
    <dgm:pt modelId="{30A06DEE-23AC-4225-9888-5E40EE0B75A9}" type="pres">
      <dgm:prSet presAssocID="{C4D8248B-E318-40FC-BBEF-8A327D6B843D}" presName="aSpace" presStyleCnt="0"/>
      <dgm:spPr/>
    </dgm:pt>
  </dgm:ptLst>
  <dgm:cxnLst>
    <dgm:cxn modelId="{D37FBE02-1A3D-42B6-B304-047FA4A94A2B}" srcId="{AFE46C03-BBA2-4F6B-B6AD-5D2F268231AD}" destId="{8BC3A858-816A-45C4-B568-E3782736B025}" srcOrd="1" destOrd="0" parTransId="{86322B40-44EB-41AF-ACFD-2E7210DFB44A}" sibTransId="{CDA9D2B8-0C99-440C-92A2-73531E8FAD52}"/>
    <dgm:cxn modelId="{847C4422-5F9B-47A5-95A3-181CFE118784}" type="presOf" srcId="{F60F7D62-EEC8-4A09-A3A4-7002B5E669BB}" destId="{D8076216-CB69-4DD0-8B35-68A87D251587}" srcOrd="0" destOrd="0" presId="urn:microsoft.com/office/officeart/2005/8/layout/pyramid2"/>
    <dgm:cxn modelId="{3214722D-827F-4B5E-A3CC-59B3F26E68E9}" srcId="{AFE46C03-BBA2-4F6B-B6AD-5D2F268231AD}" destId="{C4D8248B-E318-40FC-BBEF-8A327D6B843D}" srcOrd="3" destOrd="0" parTransId="{5A0F920D-26B8-4133-B829-57E6AC58B174}" sibTransId="{A07A2BC3-A65A-482B-85C7-421A6BE1806F}"/>
    <dgm:cxn modelId="{E58CBB37-174F-4D59-BB87-D85642719FEB}" type="presOf" srcId="{C4D8248B-E318-40FC-BBEF-8A327D6B843D}" destId="{1B669717-BA67-483D-912B-79A7E4B62F45}" srcOrd="0" destOrd="0" presId="urn:microsoft.com/office/officeart/2005/8/layout/pyramid2"/>
    <dgm:cxn modelId="{0D4FFB67-EE82-4076-8B48-3DD4667B8461}" type="presOf" srcId="{AFE46C03-BBA2-4F6B-B6AD-5D2F268231AD}" destId="{BF1B1497-B8F9-413B-B059-B6D78A2744D2}" srcOrd="0" destOrd="0" presId="urn:microsoft.com/office/officeart/2005/8/layout/pyramid2"/>
    <dgm:cxn modelId="{0E705679-6CEA-4A6A-B1DB-6A1F3CE18F05}" type="presOf" srcId="{33FCC5F6-C420-4A99-8396-58B2307472A9}" destId="{AA285E90-B492-43CD-A5E9-CC6F3FDD2549}" srcOrd="0" destOrd="0" presId="urn:microsoft.com/office/officeart/2005/8/layout/pyramid2"/>
    <dgm:cxn modelId="{36F90D8B-DD08-4B91-9A35-C767394D6828}" srcId="{AFE46C03-BBA2-4F6B-B6AD-5D2F268231AD}" destId="{33FCC5F6-C420-4A99-8396-58B2307472A9}" srcOrd="2" destOrd="0" parTransId="{55FB017D-038D-488B-8F64-962D3EF7A402}" sibTransId="{8FD9605E-3DFB-4DFB-92C7-05EE0A2CA9E4}"/>
    <dgm:cxn modelId="{3A5D099D-0037-4092-B6D9-AF5ACFCE5F07}" srcId="{AFE46C03-BBA2-4F6B-B6AD-5D2F268231AD}" destId="{F60F7D62-EEC8-4A09-A3A4-7002B5E669BB}" srcOrd="0" destOrd="0" parTransId="{A734EB2E-EC29-40DF-B1F0-8BE8F555DEE9}" sibTransId="{2F1207CF-324D-4915-8118-5C8B62E95882}"/>
    <dgm:cxn modelId="{86A4D99F-9E4F-4A9A-9DBC-95081D6A1507}" type="presOf" srcId="{8BC3A858-816A-45C4-B568-E3782736B025}" destId="{3A2277FC-2520-47A7-8A7C-B4A6BBED12DC}" srcOrd="0" destOrd="0" presId="urn:microsoft.com/office/officeart/2005/8/layout/pyramid2"/>
    <dgm:cxn modelId="{58F3306D-A114-49E8-BDE7-177DECD25F2F}" type="presParOf" srcId="{BF1B1497-B8F9-413B-B059-B6D78A2744D2}" destId="{918C77FA-EA56-48C7-92AA-A83FAF8E449E}" srcOrd="0" destOrd="0" presId="urn:microsoft.com/office/officeart/2005/8/layout/pyramid2"/>
    <dgm:cxn modelId="{E8B96B67-F0A6-4C46-9A6B-27C820D5EBA7}" type="presParOf" srcId="{BF1B1497-B8F9-413B-B059-B6D78A2744D2}" destId="{A2BAF53E-AEA8-4CEC-9F06-EFD36D229651}" srcOrd="1" destOrd="0" presId="urn:microsoft.com/office/officeart/2005/8/layout/pyramid2"/>
    <dgm:cxn modelId="{6FDE41A0-44C0-4036-B1E8-507D48B15E87}" type="presParOf" srcId="{A2BAF53E-AEA8-4CEC-9F06-EFD36D229651}" destId="{D8076216-CB69-4DD0-8B35-68A87D251587}" srcOrd="0" destOrd="0" presId="urn:microsoft.com/office/officeart/2005/8/layout/pyramid2"/>
    <dgm:cxn modelId="{61A78161-8566-4F6F-BEA8-DBD1FE3C079D}" type="presParOf" srcId="{A2BAF53E-AEA8-4CEC-9F06-EFD36D229651}" destId="{9C23727C-70C0-481B-B13C-E52997C837CE}" srcOrd="1" destOrd="0" presId="urn:microsoft.com/office/officeart/2005/8/layout/pyramid2"/>
    <dgm:cxn modelId="{56AC8FC7-D9ED-4AE4-A5EF-B081AC65225A}" type="presParOf" srcId="{A2BAF53E-AEA8-4CEC-9F06-EFD36D229651}" destId="{3A2277FC-2520-47A7-8A7C-B4A6BBED12DC}" srcOrd="2" destOrd="0" presId="urn:microsoft.com/office/officeart/2005/8/layout/pyramid2"/>
    <dgm:cxn modelId="{010FBC7B-5E05-4581-98ED-38BA52A14381}" type="presParOf" srcId="{A2BAF53E-AEA8-4CEC-9F06-EFD36D229651}" destId="{4857FC4F-6D9E-424F-9277-0EDB1987FCD9}" srcOrd="3" destOrd="0" presId="urn:microsoft.com/office/officeart/2005/8/layout/pyramid2"/>
    <dgm:cxn modelId="{DC747BE9-E630-4229-8C79-62D37A102617}" type="presParOf" srcId="{A2BAF53E-AEA8-4CEC-9F06-EFD36D229651}" destId="{AA285E90-B492-43CD-A5E9-CC6F3FDD2549}" srcOrd="4" destOrd="0" presId="urn:microsoft.com/office/officeart/2005/8/layout/pyramid2"/>
    <dgm:cxn modelId="{2859DC96-4E48-4537-A401-BAD3083C94AA}" type="presParOf" srcId="{A2BAF53E-AEA8-4CEC-9F06-EFD36D229651}" destId="{FD55274F-4C10-4CC1-9F10-B28A8D802470}" srcOrd="5" destOrd="0" presId="urn:microsoft.com/office/officeart/2005/8/layout/pyramid2"/>
    <dgm:cxn modelId="{4D1BF8D3-D783-44B7-A5A1-0658BF14A9F9}" type="presParOf" srcId="{A2BAF53E-AEA8-4CEC-9F06-EFD36D229651}" destId="{1B669717-BA67-483D-912B-79A7E4B62F45}" srcOrd="6" destOrd="0" presId="urn:microsoft.com/office/officeart/2005/8/layout/pyramid2"/>
    <dgm:cxn modelId="{39B68CD3-0239-425B-897A-D706B6B0AA53}" type="presParOf" srcId="{A2BAF53E-AEA8-4CEC-9F06-EFD36D229651}" destId="{30A06DEE-23AC-4225-9888-5E40EE0B75A9}"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C77FA-EA56-48C7-92AA-A83FAF8E449E}">
      <dsp:nvSpPr>
        <dsp:cNvPr id="0" name=""/>
        <dsp:cNvSpPr/>
      </dsp:nvSpPr>
      <dsp:spPr>
        <a:xfrm>
          <a:off x="76785" y="0"/>
          <a:ext cx="4097546" cy="4097546"/>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076216-CB69-4DD0-8B35-68A87D251587}">
      <dsp:nvSpPr>
        <dsp:cNvPr id="0" name=""/>
        <dsp:cNvSpPr/>
      </dsp:nvSpPr>
      <dsp:spPr>
        <a:xfrm>
          <a:off x="2038983" y="411955"/>
          <a:ext cx="4537856" cy="96996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ar-AE" sz="1800" b="1" kern="1200" dirty="0"/>
            <a:t>1- التحضير لامتلاك حيوان أليف وشراء قائمة التسوق المناسبة لكل حيوان أليف</a:t>
          </a:r>
          <a:endParaRPr lang="en-US" sz="1800" kern="1200" dirty="0"/>
        </a:p>
      </dsp:txBody>
      <dsp:txXfrm>
        <a:off x="2086333" y="459305"/>
        <a:ext cx="4443156" cy="875265"/>
      </dsp:txXfrm>
    </dsp:sp>
    <dsp:sp modelId="{3A2277FC-2520-47A7-8A7C-B4A6BBED12DC}">
      <dsp:nvSpPr>
        <dsp:cNvPr id="0" name=""/>
        <dsp:cNvSpPr/>
      </dsp:nvSpPr>
      <dsp:spPr>
        <a:xfrm>
          <a:off x="2048052" y="1503167"/>
          <a:ext cx="4519718" cy="96996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r" defTabSz="800100">
            <a:lnSpc>
              <a:spcPct val="90000"/>
            </a:lnSpc>
            <a:spcBef>
              <a:spcPct val="0"/>
            </a:spcBef>
            <a:spcAft>
              <a:spcPct val="35000"/>
            </a:spcAft>
            <a:buNone/>
          </a:pPr>
          <a:r>
            <a:rPr lang="ar-AE" sz="1800" b="1" kern="1200" dirty="0"/>
            <a:t>2- مواصفات وشروط البيئة المناسبة لكل حيوان أليف</a:t>
          </a:r>
          <a:endParaRPr lang="en-US" sz="800" kern="1200" dirty="0"/>
        </a:p>
      </dsp:txBody>
      <dsp:txXfrm>
        <a:off x="2095402" y="1550517"/>
        <a:ext cx="4425018" cy="875265"/>
      </dsp:txXfrm>
    </dsp:sp>
    <dsp:sp modelId="{AA285E90-B492-43CD-A5E9-CC6F3FDD2549}">
      <dsp:nvSpPr>
        <dsp:cNvPr id="0" name=""/>
        <dsp:cNvSpPr/>
      </dsp:nvSpPr>
      <dsp:spPr>
        <a:xfrm>
          <a:off x="2043511" y="2594378"/>
          <a:ext cx="4528800" cy="96996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r" defTabSz="800100">
            <a:lnSpc>
              <a:spcPct val="90000"/>
            </a:lnSpc>
            <a:spcBef>
              <a:spcPct val="0"/>
            </a:spcBef>
            <a:spcAft>
              <a:spcPct val="35000"/>
            </a:spcAft>
            <a:buNone/>
          </a:pPr>
          <a:r>
            <a:rPr lang="ar-AE" sz="1800" b="1" kern="1200" dirty="0">
              <a:solidFill>
                <a:prstClr val="black">
                  <a:hueOff val="0"/>
                  <a:satOff val="0"/>
                  <a:lumOff val="0"/>
                  <a:alphaOff val="0"/>
                </a:prstClr>
              </a:solidFill>
              <a:latin typeface="Calibri" panose="020F0502020204030204"/>
              <a:ea typeface="+mn-ea"/>
              <a:cs typeface="Arial" panose="020B0604020202020204" pitchFamily="34" charset="0"/>
            </a:rPr>
            <a:t>3 - توفير المناطق المتنوعة المناسبة لكل حيوان مثل     مناطق ( الطعام – المياه – الراحة والنوم – الخدش – اللعب – منطقة الحمام )</a:t>
          </a:r>
          <a:endParaRPr lang="en-US" sz="1800" b="1" kern="1200" dirty="0">
            <a:solidFill>
              <a:prstClr val="black">
                <a:hueOff val="0"/>
                <a:satOff val="0"/>
                <a:lumOff val="0"/>
                <a:alphaOff val="0"/>
              </a:prstClr>
            </a:solidFill>
            <a:latin typeface="Calibri" panose="020F0502020204030204"/>
            <a:ea typeface="+mn-ea"/>
            <a:cs typeface="Arial" panose="020B0604020202020204" pitchFamily="34" charset="0"/>
          </a:endParaRPr>
        </a:p>
      </dsp:txBody>
      <dsp:txXfrm>
        <a:off x="2090861" y="2641728"/>
        <a:ext cx="4434100" cy="8752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C77FA-EA56-48C7-92AA-A83FAF8E449E}">
      <dsp:nvSpPr>
        <dsp:cNvPr id="0" name=""/>
        <dsp:cNvSpPr/>
      </dsp:nvSpPr>
      <dsp:spPr>
        <a:xfrm>
          <a:off x="76785" y="0"/>
          <a:ext cx="4097546" cy="4097546"/>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076216-CB69-4DD0-8B35-68A87D251587}">
      <dsp:nvSpPr>
        <dsp:cNvPr id="0" name=""/>
        <dsp:cNvSpPr/>
      </dsp:nvSpPr>
      <dsp:spPr>
        <a:xfrm>
          <a:off x="2038983" y="410154"/>
          <a:ext cx="4537856" cy="72827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r" defTabSz="800100">
            <a:lnSpc>
              <a:spcPct val="90000"/>
            </a:lnSpc>
            <a:spcBef>
              <a:spcPct val="0"/>
            </a:spcBef>
            <a:spcAft>
              <a:spcPct val="35000"/>
            </a:spcAft>
            <a:buNone/>
          </a:pPr>
          <a:r>
            <a:rPr lang="ar-AE" sz="1800" b="1" kern="1200" dirty="0">
              <a:solidFill>
                <a:prstClr val="black">
                  <a:hueOff val="0"/>
                  <a:satOff val="0"/>
                  <a:lumOff val="0"/>
                  <a:alphaOff val="0"/>
                </a:prstClr>
              </a:solidFill>
              <a:latin typeface="Calibri" panose="020F0502020204030204"/>
              <a:ea typeface="+mn-ea"/>
              <a:cs typeface="Arial" panose="020B0604020202020204" pitchFamily="34" charset="0"/>
            </a:rPr>
            <a:t>4 – مواصفات النظام الغذائي الآمن والصحي</a:t>
          </a:r>
          <a:endParaRPr lang="en-US" sz="1800" b="1" kern="1200" dirty="0">
            <a:solidFill>
              <a:prstClr val="black">
                <a:hueOff val="0"/>
                <a:satOff val="0"/>
                <a:lumOff val="0"/>
                <a:alphaOff val="0"/>
              </a:prstClr>
            </a:solidFill>
            <a:latin typeface="Calibri" panose="020F0502020204030204"/>
            <a:ea typeface="+mn-ea"/>
            <a:cs typeface="Arial" panose="020B0604020202020204" pitchFamily="34" charset="0"/>
          </a:endParaRPr>
        </a:p>
      </dsp:txBody>
      <dsp:txXfrm>
        <a:off x="2074534" y="445705"/>
        <a:ext cx="4466754" cy="657172"/>
      </dsp:txXfrm>
    </dsp:sp>
    <dsp:sp modelId="{3A2277FC-2520-47A7-8A7C-B4A6BBED12DC}">
      <dsp:nvSpPr>
        <dsp:cNvPr id="0" name=""/>
        <dsp:cNvSpPr/>
      </dsp:nvSpPr>
      <dsp:spPr>
        <a:xfrm>
          <a:off x="2048052" y="1229463"/>
          <a:ext cx="4519718" cy="72827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ar-AE" sz="1800" b="1" kern="1200" dirty="0"/>
            <a:t> 5 – توفير الحرية المطلقة للحيوان في التعبير عن سلوكه الطبيعي</a:t>
          </a:r>
          <a:endParaRPr lang="en-US" sz="800" kern="1200" dirty="0"/>
        </a:p>
      </dsp:txBody>
      <dsp:txXfrm>
        <a:off x="2083603" y="1265014"/>
        <a:ext cx="4448616" cy="657172"/>
      </dsp:txXfrm>
    </dsp:sp>
    <dsp:sp modelId="{AA285E90-B492-43CD-A5E9-CC6F3FDD2549}">
      <dsp:nvSpPr>
        <dsp:cNvPr id="0" name=""/>
        <dsp:cNvSpPr/>
      </dsp:nvSpPr>
      <dsp:spPr>
        <a:xfrm>
          <a:off x="2043511" y="2048773"/>
          <a:ext cx="4528800" cy="72827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r" defTabSz="800100">
            <a:lnSpc>
              <a:spcPct val="90000"/>
            </a:lnSpc>
            <a:spcBef>
              <a:spcPct val="0"/>
            </a:spcBef>
            <a:spcAft>
              <a:spcPct val="35000"/>
            </a:spcAft>
            <a:buNone/>
          </a:pPr>
          <a:r>
            <a:rPr lang="ar-AE" sz="1800" b="1" kern="1200" dirty="0"/>
            <a:t>6 - ضوابط الرفقة لكل حيوان أليف</a:t>
          </a:r>
          <a:endParaRPr lang="en-US" sz="1800" kern="1200" dirty="0"/>
        </a:p>
      </dsp:txBody>
      <dsp:txXfrm>
        <a:off x="2079062" y="2084324"/>
        <a:ext cx="4457698" cy="657172"/>
      </dsp:txXfrm>
    </dsp:sp>
    <dsp:sp modelId="{1B669717-BA67-483D-912B-79A7E4B62F45}">
      <dsp:nvSpPr>
        <dsp:cNvPr id="0" name=""/>
        <dsp:cNvSpPr/>
      </dsp:nvSpPr>
      <dsp:spPr>
        <a:xfrm>
          <a:off x="2052060" y="2859535"/>
          <a:ext cx="4528800" cy="72827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r" defTabSz="800100">
            <a:lnSpc>
              <a:spcPct val="90000"/>
            </a:lnSpc>
            <a:spcBef>
              <a:spcPct val="0"/>
            </a:spcBef>
            <a:spcAft>
              <a:spcPct val="35000"/>
            </a:spcAft>
            <a:buNone/>
          </a:pPr>
          <a:r>
            <a:rPr lang="ar-AE" sz="1800" b="1" kern="1200" dirty="0">
              <a:solidFill>
                <a:prstClr val="black">
                  <a:hueOff val="0"/>
                  <a:satOff val="0"/>
                  <a:lumOff val="0"/>
                  <a:alphaOff val="0"/>
                </a:prstClr>
              </a:solidFill>
              <a:latin typeface="Calibri" panose="020F0502020204030204"/>
              <a:ea typeface="+mn-ea"/>
              <a:cs typeface="Arial" panose="020B0604020202020204" pitchFamily="34" charset="0"/>
            </a:rPr>
            <a:t>7- العناية بصحة كل حيوان أليف</a:t>
          </a:r>
          <a:endParaRPr lang="en-US" sz="1800" b="1" kern="1200" dirty="0">
            <a:solidFill>
              <a:prstClr val="black">
                <a:hueOff val="0"/>
                <a:satOff val="0"/>
                <a:lumOff val="0"/>
                <a:alphaOff val="0"/>
              </a:prstClr>
            </a:solidFill>
            <a:latin typeface="Calibri" panose="020F0502020204030204"/>
            <a:ea typeface="+mn-ea"/>
            <a:cs typeface="Arial" panose="020B0604020202020204" pitchFamily="34" charset="0"/>
          </a:endParaRPr>
        </a:p>
      </dsp:txBody>
      <dsp:txXfrm>
        <a:off x="2087611" y="2895086"/>
        <a:ext cx="4457698" cy="657172"/>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8"/>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4946650"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651625"/>
            <a:ext cx="914400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userDrawn="1"/>
        </p:nvPicPr>
        <p:blipFill rotWithShape="1">
          <a:blip r:embed="rId4" cstate="print">
            <a:extLst>
              <a:ext uri="{28A0092B-C50C-407E-A947-70E740481C1C}">
                <a14:useLocalDpi xmlns:a14="http://schemas.microsoft.com/office/drawing/2010/main" val="0"/>
              </a:ext>
            </a:extLst>
          </a:blip>
          <a:srcRect l="7436" t="10344" r="6448" b="12348"/>
          <a:stretch/>
        </p:blipFill>
        <p:spPr>
          <a:xfrm>
            <a:off x="5905144" y="153824"/>
            <a:ext cx="2973936" cy="1213503"/>
          </a:xfrm>
          <a:prstGeom prst="rect">
            <a:avLst/>
          </a:prstGeom>
        </p:spPr>
      </p:pic>
    </p:spTree>
    <p:extLst>
      <p:ext uri="{BB962C8B-B14F-4D97-AF65-F5344CB8AC3E}">
        <p14:creationId xmlns:p14="http://schemas.microsoft.com/office/powerpoint/2010/main" val="4271981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7" name="Straight Connector 6"/>
          <p:cNvCxnSpPr>
            <a:cxnSpLocks/>
          </p:cNvCxnSpPr>
          <p:nvPr userDrawn="1"/>
        </p:nvCxnSpPr>
        <p:spPr>
          <a:xfrm flipH="1">
            <a:off x="3995738" y="1052513"/>
            <a:ext cx="5148262" cy="0"/>
          </a:xfrm>
          <a:prstGeom prst="line">
            <a:avLst/>
          </a:prstGeom>
          <a:ln>
            <a:solidFill>
              <a:srgbClr val="477FB0"/>
            </a:solidFill>
            <a:tailEnd type="oval"/>
          </a:ln>
        </p:spPr>
        <p:style>
          <a:lnRef idx="1">
            <a:schemeClr val="accent1"/>
          </a:lnRef>
          <a:fillRef idx="0">
            <a:schemeClr val="accent1"/>
          </a:fillRef>
          <a:effectRef idx="0">
            <a:schemeClr val="accent1"/>
          </a:effectRef>
          <a:fontRef idx="minor">
            <a:schemeClr val="tx1"/>
          </a:fontRef>
        </p:style>
      </p:cxnSp>
      <p:sp>
        <p:nvSpPr>
          <p:cNvPr id="8" name="Text Placeholder 13"/>
          <p:cNvSpPr>
            <a:spLocks noGrp="1"/>
          </p:cNvSpPr>
          <p:nvPr>
            <p:ph type="body" sz="quarter" idx="11"/>
          </p:nvPr>
        </p:nvSpPr>
        <p:spPr>
          <a:xfrm>
            <a:off x="467544" y="392237"/>
            <a:ext cx="8208144" cy="590931"/>
          </a:xfrm>
        </p:spPr>
        <p:txBody>
          <a:bodyPr lIns="0" tIns="0" rIns="0" bIns="0">
            <a:spAutoFit/>
          </a:bodyPr>
          <a:lstStyle>
            <a:lvl1pPr algn="r" rtl="1">
              <a:buNone/>
              <a:defRPr sz="2400" b="1">
                <a:solidFill>
                  <a:srgbClr val="4D4D4F"/>
                </a:solidFill>
                <a:latin typeface="Arial" pitchFamily="34" charset="0"/>
                <a:cs typeface="Arial" pitchFamily="34" charset="0"/>
              </a:defRPr>
            </a:lvl1pPr>
            <a:lvl2pPr marL="0" indent="0" algn="r" rtl="1">
              <a:buNone/>
              <a:defRPr sz="1200" b="1" baseline="0">
                <a:solidFill>
                  <a:srgbClr val="8A2201"/>
                </a:solidFill>
                <a:latin typeface="Arial" pitchFamily="34" charset="0"/>
                <a:cs typeface="Arial" pitchFamily="34" charset="0"/>
              </a:defRPr>
            </a:lvl2pPr>
          </a:lstStyle>
          <a:p>
            <a:pPr lvl="0"/>
            <a:r>
              <a:rPr lang="en-US"/>
              <a:t>Click to edit Master text styles</a:t>
            </a:r>
          </a:p>
          <a:p>
            <a:pPr lvl="1"/>
            <a:r>
              <a:rPr lang="en-US"/>
              <a:t>Second level</a:t>
            </a:r>
          </a:p>
        </p:txBody>
      </p:sp>
      <p:pic>
        <p:nvPicPr>
          <p:cNvPr id="9" name="Picture 6"/>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4946650"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651625"/>
            <a:ext cx="914400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85864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0628E4-C365-4DBB-9B94-3291F4E78869}" type="datetimeFigureOut">
              <a:rPr lang="en-US" smtClean="0"/>
              <a:t>11/2/2025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429AE-43E8-4EA0-ABCF-4EF897484BB0}" type="slidenum">
              <a:rPr lang="en-US" smtClean="0"/>
              <a:t>‹#›</a:t>
            </a:fld>
            <a:endParaRPr lang="en-US"/>
          </a:p>
        </p:txBody>
      </p:sp>
    </p:spTree>
    <p:extLst>
      <p:ext uri="{BB962C8B-B14F-4D97-AF65-F5344CB8AC3E}">
        <p14:creationId xmlns:p14="http://schemas.microsoft.com/office/powerpoint/2010/main" val="2534935516"/>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e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1C2B86-E06C-D3DC-65E6-44B9FCE392A0}"/>
              </a:ext>
            </a:extLst>
          </p:cNvPr>
          <p:cNvSpPr txBox="1"/>
          <p:nvPr/>
        </p:nvSpPr>
        <p:spPr>
          <a:xfrm>
            <a:off x="571500" y="5074024"/>
            <a:ext cx="7581900" cy="598032"/>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endParaRPr lang="en-US" sz="3100" dirty="0">
              <a:latin typeface="+mj-lt"/>
              <a:ea typeface="+mj-ea"/>
              <a:cs typeface="+mj-cs"/>
            </a:endParaRPr>
          </a:p>
        </p:txBody>
      </p:sp>
      <p:sp>
        <p:nvSpPr>
          <p:cNvPr id="5" name="TextBox 4">
            <a:extLst>
              <a:ext uri="{FF2B5EF4-FFF2-40B4-BE49-F238E27FC236}">
                <a16:creationId xmlns:a16="http://schemas.microsoft.com/office/drawing/2014/main" id="{BF977E08-670E-0628-5043-A2D18677C61D}"/>
              </a:ext>
            </a:extLst>
          </p:cNvPr>
          <p:cNvSpPr txBox="1"/>
          <p:nvPr/>
        </p:nvSpPr>
        <p:spPr>
          <a:xfrm>
            <a:off x="1286331" y="1969265"/>
            <a:ext cx="6393039" cy="83099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r="100000" b="100000"/>
            </a:path>
            <a:tileRect l="-100000" t="-100000"/>
          </a:gradFill>
        </p:spPr>
        <p:txBody>
          <a:bodyPr wrap="square">
            <a:spAutoFit/>
          </a:bodyPr>
          <a:lstStyle/>
          <a:p>
            <a:pPr algn="ctr" rtl="1"/>
            <a:r>
              <a:rPr lang="ar-AE" sz="2400" b="1" dirty="0">
                <a:solidFill>
                  <a:srgbClr val="000000"/>
                </a:solidFill>
                <a:latin typeface="UICTFontTextStyleBody"/>
                <a:cs typeface="+mj-cs"/>
              </a:rPr>
              <a:t>محضر توعية وتوجيه وإرشاد</a:t>
            </a:r>
          </a:p>
          <a:p>
            <a:pPr algn="ctr" rtl="1"/>
            <a:r>
              <a:rPr lang="ar-AE" sz="2400" b="1" dirty="0">
                <a:solidFill>
                  <a:srgbClr val="000000"/>
                </a:solidFill>
                <a:latin typeface="UICTFontTextStyleBody"/>
                <a:cs typeface="+mj-cs"/>
              </a:rPr>
              <a:t>( دليل رعاية الحيوانات الأليفة والطيور وأسماك الزينة)</a:t>
            </a:r>
            <a:endParaRPr lang="en-US" sz="2400" b="1" dirty="0">
              <a:cs typeface="+mj-cs"/>
            </a:endParaRPr>
          </a:p>
        </p:txBody>
      </p:sp>
      <p:graphicFrame>
        <p:nvGraphicFramePr>
          <p:cNvPr id="2" name="Table 1">
            <a:extLst>
              <a:ext uri="{FF2B5EF4-FFF2-40B4-BE49-F238E27FC236}">
                <a16:creationId xmlns:a16="http://schemas.microsoft.com/office/drawing/2014/main" id="{F765A938-6283-4980-2CC4-0B7E6E127DA5}"/>
              </a:ext>
            </a:extLst>
          </p:cNvPr>
          <p:cNvGraphicFramePr>
            <a:graphicFrameLocks noGrp="1"/>
          </p:cNvGraphicFramePr>
          <p:nvPr>
            <p:extLst>
              <p:ext uri="{D42A27DB-BD31-4B8C-83A1-F6EECF244321}">
                <p14:modId xmlns:p14="http://schemas.microsoft.com/office/powerpoint/2010/main" val="4222863580"/>
              </p:ext>
            </p:extLst>
          </p:nvPr>
        </p:nvGraphicFramePr>
        <p:xfrm>
          <a:off x="619213" y="3170130"/>
          <a:ext cx="7905573" cy="2347961"/>
        </p:xfrm>
        <a:graphic>
          <a:graphicData uri="http://schemas.openxmlformats.org/drawingml/2006/table">
            <a:tbl>
              <a:tblPr firstRow="1" bandRow="1">
                <a:tableStyleId>{5C22544A-7EE6-4342-B048-85BDC9FD1C3A}</a:tableStyleId>
              </a:tblPr>
              <a:tblGrid>
                <a:gridCol w="1431778">
                  <a:extLst>
                    <a:ext uri="{9D8B030D-6E8A-4147-A177-3AD203B41FA5}">
                      <a16:colId xmlns:a16="http://schemas.microsoft.com/office/drawing/2014/main" val="2189957822"/>
                    </a:ext>
                  </a:extLst>
                </a:gridCol>
                <a:gridCol w="1367327">
                  <a:extLst>
                    <a:ext uri="{9D8B030D-6E8A-4147-A177-3AD203B41FA5}">
                      <a16:colId xmlns:a16="http://schemas.microsoft.com/office/drawing/2014/main" val="3322869328"/>
                    </a:ext>
                  </a:extLst>
                </a:gridCol>
                <a:gridCol w="2033899">
                  <a:extLst>
                    <a:ext uri="{9D8B030D-6E8A-4147-A177-3AD203B41FA5}">
                      <a16:colId xmlns:a16="http://schemas.microsoft.com/office/drawing/2014/main" val="1739141263"/>
                    </a:ext>
                  </a:extLst>
                </a:gridCol>
                <a:gridCol w="2033899">
                  <a:extLst>
                    <a:ext uri="{9D8B030D-6E8A-4147-A177-3AD203B41FA5}">
                      <a16:colId xmlns:a16="http://schemas.microsoft.com/office/drawing/2014/main" val="208528346"/>
                    </a:ext>
                  </a:extLst>
                </a:gridCol>
                <a:gridCol w="1038670">
                  <a:extLst>
                    <a:ext uri="{9D8B030D-6E8A-4147-A177-3AD203B41FA5}">
                      <a16:colId xmlns:a16="http://schemas.microsoft.com/office/drawing/2014/main" val="3033702668"/>
                    </a:ext>
                  </a:extLst>
                </a:gridCol>
              </a:tblGrid>
              <a:tr h="0">
                <a:tc gridSpan="5">
                  <a:txBody>
                    <a:bodyPr/>
                    <a:lstStyle/>
                    <a:p>
                      <a:pPr algn="r"/>
                      <a:r>
                        <a:rPr lang="ar-AE" sz="1200" kern="1200" dirty="0">
                          <a:solidFill>
                            <a:srgbClr val="000000"/>
                          </a:solidFill>
                          <a:latin typeface="UICTFontTextStyleBody"/>
                          <a:ea typeface="+mn-ea"/>
                          <a:cs typeface="+mj-cs"/>
                        </a:rPr>
                        <a:t>الفئة المستهدفة :  90 % من محلات الحيوانات الأليفة والطيور وأسماك الزينة وأصحاب المحلات والجمهور </a:t>
                      </a:r>
                      <a:endParaRPr lang="en-US" sz="1200" kern="1200" dirty="0">
                        <a:solidFill>
                          <a:srgbClr val="000000"/>
                        </a:solidFill>
                        <a:latin typeface="UICTFontTextStyleBody"/>
                        <a:ea typeface="+mn-ea"/>
                        <a:cs typeface="+mj-cs"/>
                      </a:endParaRPr>
                    </a:p>
                  </a:txBody>
                  <a:tcPr/>
                </a:tc>
                <a:tc hMerge="1">
                  <a:txBody>
                    <a:bodyPr/>
                    <a:lstStyle/>
                    <a:p>
                      <a:pPr algn="ctr"/>
                      <a:endParaRPr lang="en-US" sz="1600" kern="1200" dirty="0">
                        <a:solidFill>
                          <a:srgbClr val="000000"/>
                        </a:solidFill>
                        <a:latin typeface="UICTFontTextStyleBody"/>
                        <a:ea typeface="+mn-ea"/>
                        <a:cs typeface="+mj-cs"/>
                      </a:endParaRPr>
                    </a:p>
                  </a:txBody>
                  <a:tcPr/>
                </a:tc>
                <a:tc hMerge="1">
                  <a:txBody>
                    <a:bodyPr/>
                    <a:lstStyle/>
                    <a:p>
                      <a:endParaRPr lang="en-US"/>
                    </a:p>
                  </a:txBody>
                  <a:tcPr/>
                </a:tc>
                <a:tc hMerge="1">
                  <a:txBody>
                    <a:bodyPr/>
                    <a:lstStyle/>
                    <a:p>
                      <a:endParaRPr lang="en-US"/>
                    </a:p>
                  </a:txBody>
                  <a:tcPr/>
                </a:tc>
                <a:tc hMerge="1">
                  <a:txBody>
                    <a:bodyPr/>
                    <a:lstStyle/>
                    <a:p>
                      <a:endParaRPr dirty="0"/>
                    </a:p>
                  </a:txBody>
                  <a:tcPr/>
                </a:tc>
                <a:extLst>
                  <a:ext uri="{0D108BD9-81ED-4DB2-BD59-A6C34878D82A}">
                    <a16:rowId xmlns:a16="http://schemas.microsoft.com/office/drawing/2014/main" val="2034407504"/>
                  </a:ext>
                </a:extLst>
              </a:tr>
              <a:tr h="418145">
                <a:tc>
                  <a:txBody>
                    <a:bodyPr/>
                    <a:lstStyle/>
                    <a:p>
                      <a:pPr algn="ctr"/>
                      <a:r>
                        <a:rPr lang="ar-AE" sz="1400" dirty="0"/>
                        <a:t>الوقت</a:t>
                      </a:r>
                      <a:endParaRPr lang="en-US" sz="1400" dirty="0"/>
                    </a:p>
                  </a:txBody>
                  <a:tcPr>
                    <a:solidFill>
                      <a:srgbClr val="FFC000"/>
                    </a:solidFill>
                  </a:tcPr>
                </a:tc>
                <a:tc>
                  <a:txBody>
                    <a:bodyPr/>
                    <a:lstStyle/>
                    <a:p>
                      <a:pPr algn="ctr"/>
                      <a:r>
                        <a:rPr lang="ar-AE" sz="1400" dirty="0"/>
                        <a:t>التاريخ</a:t>
                      </a:r>
                      <a:endParaRPr lang="en-US" sz="1400" dirty="0"/>
                    </a:p>
                  </a:txBody>
                  <a:tcPr>
                    <a:solidFill>
                      <a:srgbClr val="FFC000"/>
                    </a:solidFill>
                  </a:tcPr>
                </a:tc>
                <a:tc>
                  <a:txBody>
                    <a:bodyPr/>
                    <a:lstStyle/>
                    <a:p>
                      <a:pPr algn="ctr"/>
                      <a:r>
                        <a:rPr lang="ar-AE" sz="1400" dirty="0"/>
                        <a:t>عدد العمال ( الفئة المستهدفة )</a:t>
                      </a:r>
                      <a:endParaRPr lang="en-US" sz="1400" dirty="0"/>
                    </a:p>
                  </a:txBody>
                  <a:tcPr>
                    <a:solidFill>
                      <a:srgbClr val="FFC000"/>
                    </a:solidFill>
                  </a:tcPr>
                </a:tc>
                <a:tc>
                  <a:txBody>
                    <a:bodyPr/>
                    <a:lstStyle/>
                    <a:p>
                      <a:pPr algn="ctr"/>
                      <a:r>
                        <a:rPr lang="ar-AE" sz="1400" dirty="0"/>
                        <a:t>الموقع</a:t>
                      </a:r>
                      <a:endParaRPr lang="en-US" sz="1400" dirty="0"/>
                    </a:p>
                  </a:txBody>
                  <a:tcPr>
                    <a:solidFill>
                      <a:srgbClr val="FFC000"/>
                    </a:solidFill>
                  </a:tcPr>
                </a:tc>
                <a:tc>
                  <a:txBody>
                    <a:bodyPr/>
                    <a:lstStyle/>
                    <a:p>
                      <a:pPr algn="ctr"/>
                      <a:r>
                        <a:rPr lang="ar-AE" sz="1400" dirty="0"/>
                        <a:t>م</a:t>
                      </a:r>
                      <a:endParaRPr lang="en-US" sz="1400" dirty="0"/>
                    </a:p>
                  </a:txBody>
                  <a:tcPr>
                    <a:solidFill>
                      <a:srgbClr val="FFC000"/>
                    </a:solidFill>
                  </a:tcPr>
                </a:tc>
                <a:extLst>
                  <a:ext uri="{0D108BD9-81ED-4DB2-BD59-A6C34878D82A}">
                    <a16:rowId xmlns:a16="http://schemas.microsoft.com/office/drawing/2014/main" val="4091692087"/>
                  </a:ext>
                </a:extLst>
              </a:tr>
              <a:tr h="368952">
                <a:tc>
                  <a:txBody>
                    <a:bodyPr/>
                    <a:lstStyle/>
                    <a:p>
                      <a:pPr algn="ctr"/>
                      <a:r>
                        <a:rPr lang="ar-AE" sz="1200" dirty="0"/>
                        <a:t>11:30 ص – 12:30 م</a:t>
                      </a:r>
                      <a:endParaRPr lang="en-US" sz="1200" dirty="0"/>
                    </a:p>
                  </a:txBody>
                  <a:tcPr/>
                </a:tc>
                <a:tc>
                  <a:txBody>
                    <a:bodyPr/>
                    <a:lstStyle/>
                    <a:p>
                      <a:pPr algn="ctr"/>
                      <a:r>
                        <a:rPr lang="ar-AE" sz="1200" dirty="0"/>
                        <a:t>28 - 10 - 2025</a:t>
                      </a:r>
                      <a:endParaRPr lang="en-US" sz="1200" dirty="0"/>
                    </a:p>
                  </a:txBody>
                  <a:tcPr/>
                </a:tc>
                <a:tc>
                  <a:txBody>
                    <a:bodyPr/>
                    <a:lstStyle/>
                    <a:p>
                      <a:pPr algn="ctr"/>
                      <a:r>
                        <a:rPr lang="ar-AE" sz="1200" dirty="0"/>
                        <a:t>65 عامل</a:t>
                      </a:r>
                      <a:endParaRPr lang="en-US" sz="1200" dirty="0"/>
                    </a:p>
                  </a:txBody>
                  <a:tcPr/>
                </a:tc>
                <a:tc>
                  <a:txBody>
                    <a:bodyPr/>
                    <a:lstStyle/>
                    <a:p>
                      <a:pPr algn="ctr"/>
                      <a:r>
                        <a:rPr lang="ar-AE" sz="1200" dirty="0"/>
                        <a:t>محلات سوق التراث</a:t>
                      </a:r>
                      <a:endParaRPr lang="en-US" sz="1200" dirty="0"/>
                    </a:p>
                  </a:txBody>
                  <a:tcPr/>
                </a:tc>
                <a:tc>
                  <a:txBody>
                    <a:bodyPr/>
                    <a:lstStyle/>
                    <a:p>
                      <a:pPr algn="ctr"/>
                      <a:r>
                        <a:rPr lang="ar-AE" sz="1200" dirty="0"/>
                        <a:t>التوعية الأولي</a:t>
                      </a:r>
                      <a:endParaRPr lang="en-US" sz="1200" dirty="0"/>
                    </a:p>
                  </a:txBody>
                  <a:tcPr/>
                </a:tc>
                <a:extLst>
                  <a:ext uri="{0D108BD9-81ED-4DB2-BD59-A6C34878D82A}">
                    <a16:rowId xmlns:a16="http://schemas.microsoft.com/office/drawing/2014/main" val="3367374871"/>
                  </a:ext>
                </a:extLst>
              </a:tr>
              <a:tr h="221371">
                <a:tc>
                  <a:txBody>
                    <a:bodyPr/>
                    <a:lstStyle/>
                    <a:p>
                      <a:pPr algn="ctr"/>
                      <a:r>
                        <a:rPr lang="ar-AE" sz="1200" dirty="0"/>
                        <a:t>01:30 م – 02:30 م</a:t>
                      </a:r>
                      <a:endParaRPr lang="en-US" sz="1200" dirty="0"/>
                    </a:p>
                  </a:txBody>
                  <a:tcPr/>
                </a:tc>
                <a:tc>
                  <a:txBody>
                    <a:bodyPr/>
                    <a:lstStyle/>
                    <a:p>
                      <a:pPr algn="ctr"/>
                      <a:r>
                        <a:rPr lang="ar-AE" sz="1200" dirty="0"/>
                        <a:t>28- 10 - 2025</a:t>
                      </a:r>
                      <a:endParaRPr lang="en-US" sz="1200" dirty="0"/>
                    </a:p>
                  </a:txBody>
                  <a:tcPr/>
                </a:tc>
                <a:tc>
                  <a:txBody>
                    <a:bodyPr/>
                    <a:lstStyle/>
                    <a:p>
                      <a:pPr algn="ctr"/>
                      <a:r>
                        <a:rPr lang="ar-AE" sz="1200" dirty="0"/>
                        <a:t>33 عامل</a:t>
                      </a:r>
                      <a:endParaRPr lang="en-US" sz="1200" dirty="0"/>
                    </a:p>
                  </a:txBody>
                  <a:tcPr/>
                </a:tc>
                <a:tc>
                  <a:txBody>
                    <a:bodyPr/>
                    <a:lstStyle/>
                    <a:p>
                      <a:pPr algn="ctr"/>
                      <a:r>
                        <a:rPr lang="ar-AE" sz="1200" dirty="0"/>
                        <a:t>محلات سوق الميناء</a:t>
                      </a:r>
                      <a:endParaRPr lang="en-US" sz="1200" dirty="0"/>
                    </a:p>
                  </a:txBody>
                  <a:tcPr/>
                </a:tc>
                <a:tc>
                  <a:txBody>
                    <a:bodyPr/>
                    <a:lstStyle/>
                    <a:p>
                      <a:pPr algn="ctr"/>
                      <a:r>
                        <a:rPr lang="ar-AE" sz="1200" kern="1200" dirty="0">
                          <a:solidFill>
                            <a:schemeClr val="dk1"/>
                          </a:solidFill>
                          <a:latin typeface="+mn-lt"/>
                          <a:ea typeface="+mn-ea"/>
                          <a:cs typeface="+mn-cs"/>
                        </a:rPr>
                        <a:t>التوعية الثانية</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777154527"/>
                  </a:ext>
                </a:extLst>
              </a:tr>
              <a:tr h="221371">
                <a:tc>
                  <a:txBody>
                    <a:bodyPr/>
                    <a:lstStyle/>
                    <a:p>
                      <a:pPr algn="ctr"/>
                      <a:r>
                        <a:rPr lang="ar-AE" sz="1200" dirty="0"/>
                        <a:t>05:00 م – 09:00 م</a:t>
                      </a:r>
                      <a:endParaRPr lang="en-US" sz="1200" dirty="0"/>
                    </a:p>
                  </a:txBody>
                  <a:tcPr/>
                </a:tc>
                <a:tc>
                  <a:txBody>
                    <a:bodyPr/>
                    <a:lstStyle/>
                    <a:p>
                      <a:pPr algn="ctr"/>
                      <a:r>
                        <a:rPr lang="ar-AE" sz="1200" dirty="0"/>
                        <a:t>21 - 10 - 2025</a:t>
                      </a:r>
                      <a:endParaRPr lang="en-US" sz="1200" dirty="0"/>
                    </a:p>
                  </a:txBody>
                  <a:tcPr/>
                </a:tc>
                <a:tc>
                  <a:txBody>
                    <a:bodyPr/>
                    <a:lstStyle/>
                    <a:p>
                      <a:pPr algn="ctr"/>
                      <a:r>
                        <a:rPr lang="ar-AE" sz="1200" dirty="0"/>
                        <a:t>15 عامل</a:t>
                      </a:r>
                      <a:endParaRPr lang="en-US" sz="1200" dirty="0"/>
                    </a:p>
                  </a:txBody>
                  <a:tcPr/>
                </a:tc>
                <a:tc>
                  <a:txBody>
                    <a:bodyPr/>
                    <a:lstStyle/>
                    <a:p>
                      <a:pPr algn="ctr"/>
                      <a:r>
                        <a:rPr lang="ar-AE" sz="1200" dirty="0"/>
                        <a:t>محلات شاطيء الراحة</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التوعية الثالثة</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430647708"/>
                  </a:ext>
                </a:extLst>
              </a:tr>
              <a:tr h="368952">
                <a:tc>
                  <a:txBody>
                    <a:bodyPr/>
                    <a:lstStyle/>
                    <a:p>
                      <a:pPr algn="ctr"/>
                      <a:r>
                        <a:rPr lang="ar-AE" sz="1200" dirty="0"/>
                        <a:t>06:00 م – 08:00 م</a:t>
                      </a:r>
                      <a:endParaRPr lang="en-US" sz="1200" dirty="0"/>
                    </a:p>
                  </a:txBody>
                  <a:tcPr/>
                </a:tc>
                <a:tc>
                  <a:txBody>
                    <a:bodyPr/>
                    <a:lstStyle/>
                    <a:p>
                      <a:pPr algn="ctr"/>
                      <a:r>
                        <a:rPr lang="ar-AE" sz="1200" dirty="0"/>
                        <a:t>03 - 10 - 2025</a:t>
                      </a:r>
                      <a:endParaRPr lang="en-US" sz="1200" dirty="0"/>
                    </a:p>
                  </a:txBody>
                  <a:tcPr/>
                </a:tc>
                <a:tc>
                  <a:txBody>
                    <a:bodyPr/>
                    <a:lstStyle/>
                    <a:p>
                      <a:pPr algn="ctr"/>
                      <a:r>
                        <a:rPr lang="ar-AE" sz="1200" dirty="0"/>
                        <a:t>12 عامل</a:t>
                      </a:r>
                      <a:endParaRPr lang="en-US" sz="1200" dirty="0"/>
                    </a:p>
                  </a:txBody>
                  <a:tcPr/>
                </a:tc>
                <a:tc>
                  <a:txBody>
                    <a:bodyPr/>
                    <a:lstStyle/>
                    <a:p>
                      <a:pPr algn="ctr"/>
                      <a:r>
                        <a:rPr lang="ar-AE" sz="1200" dirty="0"/>
                        <a:t>محلات الوثبة وبني ياس</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التوعية الرابعة</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37984316"/>
                  </a:ext>
                </a:extLst>
              </a:tr>
              <a:tr h="368952">
                <a:tc>
                  <a:txBody>
                    <a:bodyPr/>
                    <a:lstStyle/>
                    <a:p>
                      <a:pPr algn="ctr"/>
                      <a:r>
                        <a:rPr lang="ar-AE" sz="1200" dirty="0"/>
                        <a:t>07:00 م – 09:00 م</a:t>
                      </a:r>
                      <a:endParaRPr lang="en-US" sz="1200" dirty="0"/>
                    </a:p>
                  </a:txBody>
                  <a:tcPr/>
                </a:tc>
                <a:tc>
                  <a:txBody>
                    <a:bodyPr/>
                    <a:lstStyle/>
                    <a:p>
                      <a:pPr algn="ctr"/>
                      <a:r>
                        <a:rPr lang="ar-AE" sz="1200" dirty="0"/>
                        <a:t>02 - 10 - 2025</a:t>
                      </a:r>
                      <a:endParaRPr lang="en-US" sz="1200" dirty="0"/>
                    </a:p>
                  </a:txBody>
                  <a:tcPr/>
                </a:tc>
                <a:tc>
                  <a:txBody>
                    <a:bodyPr/>
                    <a:lstStyle/>
                    <a:p>
                      <a:pPr algn="ctr"/>
                      <a:r>
                        <a:rPr lang="ar-AE" sz="1200" dirty="0"/>
                        <a:t>45 عامل</a:t>
                      </a:r>
                      <a:endParaRPr lang="en-US" sz="1200" dirty="0"/>
                    </a:p>
                  </a:txBody>
                  <a:tcPr/>
                </a:tc>
                <a:tc>
                  <a:txBody>
                    <a:bodyPr/>
                    <a:lstStyle/>
                    <a:p>
                      <a:pPr algn="ctr"/>
                      <a:r>
                        <a:rPr lang="ar-AE" sz="1200" dirty="0"/>
                        <a:t>محلات المصفح الصناعية</a:t>
                      </a: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التوعية الخامسة</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915484897"/>
                  </a:ext>
                </a:extLst>
              </a:tr>
            </a:tbl>
          </a:graphicData>
        </a:graphic>
      </p:graphicFrame>
    </p:spTree>
    <p:extLst>
      <p:ext uri="{BB962C8B-B14F-4D97-AF65-F5344CB8AC3E}">
        <p14:creationId xmlns:p14="http://schemas.microsoft.com/office/powerpoint/2010/main" val="3559555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0165C3-FEAA-8632-01A6-D2B9853E7B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989484-BE5B-F597-DABA-F6AEAC678AC6}"/>
              </a:ext>
            </a:extLst>
          </p:cNvPr>
          <p:cNvSpPr txBox="1"/>
          <p:nvPr/>
        </p:nvSpPr>
        <p:spPr>
          <a:xfrm>
            <a:off x="571500" y="5074024"/>
            <a:ext cx="7581900" cy="598032"/>
          </a:xfrm>
          <a:prstGeom prst="rect">
            <a:avLst/>
          </a:prstGeom>
        </p:spPr>
        <p:txBody>
          <a:bodyPr vert="horz" lIns="91440" tIns="45720" rIns="91440" bIns="45720" rtlCol="0" anchor="ctr">
            <a:normAutofit/>
          </a:bodyPr>
          <a:lstStyle/>
          <a:p>
            <a:pPr algn="r" defTabSz="914400">
              <a:lnSpc>
                <a:spcPct val="90000"/>
              </a:lnSpc>
              <a:spcBef>
                <a:spcPct val="0"/>
              </a:spcBef>
              <a:spcAft>
                <a:spcPts val="600"/>
              </a:spcAft>
            </a:pPr>
            <a:endParaRPr lang="en-US" sz="3100" dirty="0">
              <a:latin typeface="+mj-lt"/>
              <a:ea typeface="+mj-ea"/>
              <a:cs typeface="+mj-cs"/>
            </a:endParaRPr>
          </a:p>
        </p:txBody>
      </p:sp>
      <p:sp>
        <p:nvSpPr>
          <p:cNvPr id="7" name="TextBox 6">
            <a:extLst>
              <a:ext uri="{FF2B5EF4-FFF2-40B4-BE49-F238E27FC236}">
                <a16:creationId xmlns:a16="http://schemas.microsoft.com/office/drawing/2014/main" id="{6574F9D3-5C6C-2325-2B24-F9A061DDB8BC}"/>
              </a:ext>
            </a:extLst>
          </p:cNvPr>
          <p:cNvSpPr txBox="1"/>
          <p:nvPr/>
        </p:nvSpPr>
        <p:spPr>
          <a:xfrm>
            <a:off x="298233" y="1465825"/>
            <a:ext cx="8547534" cy="1569660"/>
          </a:xfrm>
          <a:prstGeom prst="rect">
            <a:avLst/>
          </a:prstGeom>
          <a:noFill/>
        </p:spPr>
        <p:txBody>
          <a:bodyPr wrap="square">
            <a:spAutoFit/>
          </a:bodyPr>
          <a:lstStyle/>
          <a:p>
            <a:pPr marL="0" marR="0" algn="r" rtl="1">
              <a:spcBef>
                <a:spcPts val="0"/>
              </a:spcBef>
              <a:spcAft>
                <a:spcPts val="0"/>
              </a:spcAft>
            </a:pPr>
            <a:r>
              <a:rPr lang="ar-AE" sz="1600" dirty="0">
                <a:solidFill>
                  <a:srgbClr val="000000"/>
                </a:solidFill>
                <a:latin typeface="Sakkal Majalla" panose="02000000000000000000" pitchFamily="2" charset="-78"/>
                <a:cs typeface="Sakkal Majalla" panose="02000000000000000000" pitchFamily="2" charset="-78"/>
              </a:rPr>
              <a:t>بمعرفتي أنا الدكتور علي محمد علي محمد عبدالعال – مفتش الرقابة والرفق بالحيوان بإدارة الرفق بالحيوان – بلدية مدينة أبوظبي</a:t>
            </a:r>
            <a:endParaRPr lang="en-US" sz="1600" dirty="0">
              <a:solidFill>
                <a:srgbClr val="000000"/>
              </a:solidFill>
              <a:latin typeface="Sakkal Majalla" panose="02000000000000000000" pitchFamily="2" charset="-78"/>
              <a:cs typeface="Sakkal Majalla" panose="02000000000000000000" pitchFamily="2" charset="-78"/>
            </a:endParaRPr>
          </a:p>
          <a:p>
            <a:pPr marL="0" marR="0" algn="r" rtl="1">
              <a:spcBef>
                <a:spcPts val="0"/>
              </a:spcBef>
              <a:spcAft>
                <a:spcPts val="0"/>
              </a:spcAft>
            </a:pPr>
            <a:endParaRPr lang="en-US" sz="1600" dirty="0">
              <a:solidFill>
                <a:srgbClr val="000000"/>
              </a:solidFill>
              <a:latin typeface="Sakkal Majalla" panose="02000000000000000000" pitchFamily="2" charset="-78"/>
              <a:cs typeface="Sakkal Majalla" panose="02000000000000000000" pitchFamily="2" charset="-78"/>
            </a:endParaRPr>
          </a:p>
          <a:p>
            <a:pPr marL="0" marR="0" algn="r" rtl="1">
              <a:spcBef>
                <a:spcPts val="0"/>
              </a:spcBef>
              <a:spcAft>
                <a:spcPts val="0"/>
              </a:spcAft>
            </a:pPr>
            <a:r>
              <a:rPr lang="ar-AE" sz="1600" dirty="0">
                <a:solidFill>
                  <a:srgbClr val="000000"/>
                </a:solidFill>
                <a:latin typeface="Sakkal Majalla" panose="02000000000000000000" pitchFamily="2" charset="-78"/>
                <a:cs typeface="Sakkal Majalla" panose="02000000000000000000" pitchFamily="2" charset="-78"/>
              </a:rPr>
              <a:t>فُتح المحضر في ساعته وتاريخه الموافق الخميس 02 من شهر أكتوبر 2025 تمام الساعة 1 مساءا ،وعليه</a:t>
            </a:r>
            <a:r>
              <a:rPr lang="en-US" sz="1600" dirty="0">
                <a:solidFill>
                  <a:srgbClr val="000000"/>
                </a:solidFill>
                <a:latin typeface="Sakkal Majalla" panose="02000000000000000000" pitchFamily="2" charset="-78"/>
                <a:cs typeface="Sakkal Majalla" panose="02000000000000000000" pitchFamily="2" charset="-78"/>
              </a:rPr>
              <a:t> </a:t>
            </a:r>
            <a:r>
              <a:rPr lang="ar-AE" sz="1600" dirty="0">
                <a:solidFill>
                  <a:srgbClr val="000000"/>
                </a:solidFill>
                <a:latin typeface="Sakkal Majalla" panose="02000000000000000000" pitchFamily="2" charset="-78"/>
                <a:cs typeface="Sakkal Majalla" panose="02000000000000000000" pitchFamily="2" charset="-78"/>
              </a:rPr>
              <a:t>قمت بإجراء حملات للتوعية والتوجيه والإرشاد عملاً بمبادرة دائرة البلديات والنقل متمثلة في بلدية مدينة أبوظبي فيما يخص دليل رعاية الحيوانات الأليفة والطيور وأسماك الزينة والتي تمثلت في طباعة باركود احترافي خاص بالتعريف بسبل تقديم الرعاية ويحوى ملفات توعية وتوجيه وإرشاد لجيمع مالكي أنواع الحيوانات الأليفة والطيور وأسماك</a:t>
            </a:r>
          </a:p>
          <a:p>
            <a:pPr marL="0" marR="0" algn="r" rtl="1">
              <a:spcBef>
                <a:spcPts val="0"/>
              </a:spcBef>
              <a:spcAft>
                <a:spcPts val="0"/>
              </a:spcAft>
            </a:pPr>
            <a:r>
              <a:rPr lang="ar-AE" sz="1600" dirty="0">
                <a:solidFill>
                  <a:srgbClr val="000000"/>
                </a:solidFill>
                <a:latin typeface="Sakkal Majalla" panose="02000000000000000000" pitchFamily="2" charset="-78"/>
                <a:cs typeface="Sakkal Majalla" panose="02000000000000000000" pitchFamily="2" charset="-78"/>
              </a:rPr>
              <a:t>الزينة وغيرها من مختلف فصائل وأنواع الحيوانات الأليفة الأخري .</a:t>
            </a:r>
          </a:p>
        </p:txBody>
      </p:sp>
      <p:graphicFrame>
        <p:nvGraphicFramePr>
          <p:cNvPr id="2" name="Table 1">
            <a:extLst>
              <a:ext uri="{FF2B5EF4-FFF2-40B4-BE49-F238E27FC236}">
                <a16:creationId xmlns:a16="http://schemas.microsoft.com/office/drawing/2014/main" id="{7119ACA4-858F-E0DF-6809-4DE1BE755E3E}"/>
              </a:ext>
            </a:extLst>
          </p:cNvPr>
          <p:cNvGraphicFramePr>
            <a:graphicFrameLocks noGrp="1"/>
          </p:cNvGraphicFramePr>
          <p:nvPr>
            <p:extLst>
              <p:ext uri="{D42A27DB-BD31-4B8C-83A1-F6EECF244321}">
                <p14:modId xmlns:p14="http://schemas.microsoft.com/office/powerpoint/2010/main" val="3510634546"/>
              </p:ext>
            </p:extLst>
          </p:nvPr>
        </p:nvGraphicFramePr>
        <p:xfrm>
          <a:off x="196687" y="3095714"/>
          <a:ext cx="8750626" cy="3108960"/>
        </p:xfrm>
        <a:graphic>
          <a:graphicData uri="http://schemas.openxmlformats.org/drawingml/2006/table">
            <a:tbl>
              <a:tblPr firstRow="1" bandRow="1">
                <a:tableStyleId>{5C22544A-7EE6-4342-B048-85BDC9FD1C3A}</a:tableStyleId>
              </a:tblPr>
              <a:tblGrid>
                <a:gridCol w="6788904">
                  <a:extLst>
                    <a:ext uri="{9D8B030D-6E8A-4147-A177-3AD203B41FA5}">
                      <a16:colId xmlns:a16="http://schemas.microsoft.com/office/drawing/2014/main" val="2189957822"/>
                    </a:ext>
                  </a:extLst>
                </a:gridCol>
                <a:gridCol w="1961722">
                  <a:extLst>
                    <a:ext uri="{9D8B030D-6E8A-4147-A177-3AD203B41FA5}">
                      <a16:colId xmlns:a16="http://schemas.microsoft.com/office/drawing/2014/main" val="3033702668"/>
                    </a:ext>
                  </a:extLst>
                </a:gridCol>
              </a:tblGrid>
              <a:tr h="0">
                <a:tc>
                  <a:txBody>
                    <a:bodyPr/>
                    <a:lstStyle/>
                    <a:p>
                      <a:pPr algn="r"/>
                      <a:r>
                        <a:rPr lang="ar-AE" b="1" dirty="0">
                          <a:solidFill>
                            <a:schemeClr val="tx1"/>
                          </a:solidFill>
                        </a:rPr>
                        <a:t>دليل رعاية الحيوانات الأليفة والطيور وأسماك الزينة</a:t>
                      </a:r>
                      <a:endParaRPr lang="en-US" b="1" dirty="0">
                        <a:solidFill>
                          <a:schemeClr val="tx1"/>
                        </a:solidFill>
                      </a:endParaRPr>
                    </a:p>
                  </a:txBody>
                  <a:tcPr/>
                </a:tc>
                <a:tc>
                  <a:txBody>
                    <a:bodyPr/>
                    <a:lstStyle/>
                    <a:p>
                      <a:pPr algn="ctr"/>
                      <a:r>
                        <a:rPr lang="ar-AE" sz="1600" b="1" dirty="0">
                          <a:solidFill>
                            <a:schemeClr val="tx1"/>
                          </a:solidFill>
                        </a:rPr>
                        <a:t>الموضوع</a:t>
                      </a:r>
                      <a:endParaRPr lang="en-US" sz="1600" b="1" dirty="0">
                        <a:solidFill>
                          <a:schemeClr val="tx1"/>
                        </a:solidFill>
                      </a:endParaRPr>
                    </a:p>
                  </a:txBody>
                  <a:tcPr/>
                </a:tc>
                <a:extLst>
                  <a:ext uri="{0D108BD9-81ED-4DB2-BD59-A6C34878D82A}">
                    <a16:rowId xmlns:a16="http://schemas.microsoft.com/office/drawing/2014/main" val="4091692087"/>
                  </a:ext>
                </a:extLst>
              </a:tr>
              <a:tr h="234760">
                <a:tc>
                  <a:txBody>
                    <a:bodyPr/>
                    <a:lstStyle/>
                    <a:p>
                      <a:pPr algn="r"/>
                      <a:r>
                        <a:rPr lang="ar-AE" sz="1400" dirty="0"/>
                        <a:t>1- دليل رعاية القطط</a:t>
                      </a:r>
                    </a:p>
                    <a:p>
                      <a:pPr algn="r"/>
                      <a:r>
                        <a:rPr lang="ar-AE" sz="1400" dirty="0"/>
                        <a:t>2- دليل رعاية الكلاب</a:t>
                      </a:r>
                    </a:p>
                    <a:p>
                      <a:pPr algn="r"/>
                      <a:r>
                        <a:rPr lang="ar-AE" sz="1400" dirty="0"/>
                        <a:t>3- دليل رعاية الأسماك</a:t>
                      </a:r>
                    </a:p>
                    <a:p>
                      <a:pPr algn="r"/>
                      <a:r>
                        <a:rPr lang="ar-AE" sz="1400" dirty="0"/>
                        <a:t>4- دليل رعاية الأرانب</a:t>
                      </a:r>
                    </a:p>
                    <a:p>
                      <a:pPr algn="r"/>
                      <a:r>
                        <a:rPr lang="ar-AE" sz="1400" dirty="0"/>
                        <a:t>5- دليل رعاية السلاحف البرية والبرمائية </a:t>
                      </a:r>
                    </a:p>
                    <a:p>
                      <a:pPr algn="r"/>
                      <a:r>
                        <a:rPr lang="ar-AE" sz="1400" dirty="0"/>
                        <a:t>6- دليل رعاية الطيور </a:t>
                      </a:r>
                    </a:p>
                    <a:p>
                      <a:pPr algn="r"/>
                      <a:r>
                        <a:rPr lang="ar-AE" sz="1400" dirty="0"/>
                        <a:t>7- دليل رعاية السحالي </a:t>
                      </a:r>
                    </a:p>
                    <a:p>
                      <a:pPr algn="r"/>
                      <a:r>
                        <a:rPr lang="ar-AE" sz="1400" dirty="0"/>
                        <a:t>8- دليل رعاية القوارض </a:t>
                      </a:r>
                    </a:p>
                    <a:p>
                      <a:pPr algn="r"/>
                      <a:r>
                        <a:rPr lang="ar-AE" sz="1400" dirty="0"/>
                        <a:t>9- دليل رعاية الثعابين</a:t>
                      </a:r>
                    </a:p>
                    <a:p>
                      <a:pPr algn="r"/>
                      <a:r>
                        <a:rPr lang="ar-AE" sz="1400" dirty="0"/>
                        <a:t>10- دليل رعاية البرمائيات</a:t>
                      </a:r>
                      <a:endParaRPr lang="en-US" sz="1400" dirty="0"/>
                    </a:p>
                  </a:txBody>
                  <a:tcPr/>
                </a:tc>
                <a:tc>
                  <a:txBody>
                    <a:bodyPr/>
                    <a:lstStyle/>
                    <a:p>
                      <a:pPr algn="ctr">
                        <a:lnSpc>
                          <a:spcPct val="300000"/>
                        </a:lnSpc>
                      </a:pPr>
                      <a:r>
                        <a:rPr lang="ar-AE" sz="1600" b="1" kern="1200" dirty="0">
                          <a:solidFill>
                            <a:schemeClr val="tx1"/>
                          </a:solidFill>
                          <a:latin typeface="+mn-lt"/>
                          <a:ea typeface="+mn-ea"/>
                          <a:cs typeface="+mn-cs"/>
                        </a:rPr>
                        <a:t>أنواع الحيوانات في الدليل</a:t>
                      </a:r>
                      <a:endParaRPr lang="en-US" sz="1400" dirty="0"/>
                    </a:p>
                  </a:txBody>
                  <a:tcPr/>
                </a:tc>
                <a:extLst>
                  <a:ext uri="{0D108BD9-81ED-4DB2-BD59-A6C34878D82A}">
                    <a16:rowId xmlns:a16="http://schemas.microsoft.com/office/drawing/2014/main" val="3367374871"/>
                  </a:ext>
                </a:extLst>
              </a:tr>
              <a:tr h="234760">
                <a:tc>
                  <a:txBody>
                    <a:bodyPr/>
                    <a:lstStyle/>
                    <a:p>
                      <a:pPr algn="r"/>
                      <a:r>
                        <a:rPr lang="ar-AE" sz="1400" dirty="0"/>
                        <a:t>1- اللغة العربية</a:t>
                      </a:r>
                    </a:p>
                    <a:p>
                      <a:pPr algn="r"/>
                      <a:r>
                        <a:rPr lang="ar-AE" sz="1400" dirty="0"/>
                        <a:t>2- اللغة الإنجليزية</a:t>
                      </a:r>
                    </a:p>
                  </a:txBody>
                  <a:tcPr/>
                </a:tc>
                <a:tc>
                  <a:txBody>
                    <a:bodyPr/>
                    <a:lstStyle/>
                    <a:p>
                      <a:pPr algn="ctr"/>
                      <a:r>
                        <a:rPr lang="ar-AE" sz="1600" b="1" kern="1200" dirty="0">
                          <a:solidFill>
                            <a:schemeClr val="dk1"/>
                          </a:solidFill>
                          <a:latin typeface="+mn-lt"/>
                          <a:ea typeface="+mn-ea"/>
                          <a:cs typeface="+mn-cs"/>
                        </a:rPr>
                        <a:t>لغة الدليل </a:t>
                      </a:r>
                      <a:endParaRPr lang="en-US" sz="1600" b="1" kern="1200" dirty="0">
                        <a:solidFill>
                          <a:schemeClr val="dk1"/>
                        </a:solidFill>
                        <a:latin typeface="+mn-lt"/>
                        <a:ea typeface="+mn-ea"/>
                        <a:cs typeface="+mn-cs"/>
                      </a:endParaRPr>
                    </a:p>
                  </a:txBody>
                  <a:tcPr/>
                </a:tc>
                <a:extLst>
                  <a:ext uri="{0D108BD9-81ED-4DB2-BD59-A6C34878D82A}">
                    <a16:rowId xmlns:a16="http://schemas.microsoft.com/office/drawing/2014/main" val="777154527"/>
                  </a:ext>
                </a:extLst>
              </a:tr>
            </a:tbl>
          </a:graphicData>
        </a:graphic>
      </p:graphicFrame>
    </p:spTree>
    <p:extLst>
      <p:ext uri="{BB962C8B-B14F-4D97-AF65-F5344CB8AC3E}">
        <p14:creationId xmlns:p14="http://schemas.microsoft.com/office/powerpoint/2010/main" val="3451535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6AF776-F8DD-0EFA-62FA-5FB36003FB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012FA3-9B44-1739-C720-813FA3FB93E3}"/>
              </a:ext>
            </a:extLst>
          </p:cNvPr>
          <p:cNvSpPr txBox="1"/>
          <p:nvPr/>
        </p:nvSpPr>
        <p:spPr>
          <a:xfrm>
            <a:off x="571500" y="5074024"/>
            <a:ext cx="7581900" cy="598032"/>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endParaRPr lang="en-US" sz="3100" dirty="0">
              <a:latin typeface="+mj-lt"/>
              <a:ea typeface="+mj-ea"/>
              <a:cs typeface="+mj-cs"/>
            </a:endParaRPr>
          </a:p>
        </p:txBody>
      </p:sp>
      <p:graphicFrame>
        <p:nvGraphicFramePr>
          <p:cNvPr id="4" name="Diagram 3">
            <a:extLst>
              <a:ext uri="{FF2B5EF4-FFF2-40B4-BE49-F238E27FC236}">
                <a16:creationId xmlns:a16="http://schemas.microsoft.com/office/drawing/2014/main" id="{0D01F514-C78F-CF38-991C-696DCCA591E5}"/>
              </a:ext>
            </a:extLst>
          </p:cNvPr>
          <p:cNvGraphicFramePr/>
          <p:nvPr>
            <p:extLst>
              <p:ext uri="{D42A27DB-BD31-4B8C-83A1-F6EECF244321}">
                <p14:modId xmlns:p14="http://schemas.microsoft.com/office/powerpoint/2010/main" val="2236412208"/>
              </p:ext>
            </p:extLst>
          </p:nvPr>
        </p:nvGraphicFramePr>
        <p:xfrm>
          <a:off x="571500" y="2072518"/>
          <a:ext cx="7504275" cy="4097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B9FCD47D-3BDE-5B86-9DCD-727DC31C09FE}"/>
              </a:ext>
            </a:extLst>
          </p:cNvPr>
          <p:cNvSpPr txBox="1"/>
          <p:nvPr/>
        </p:nvSpPr>
        <p:spPr>
          <a:xfrm>
            <a:off x="4426722" y="1783976"/>
            <a:ext cx="3845608" cy="369332"/>
          </a:xfrm>
          <a:prstGeom prst="rect">
            <a:avLst/>
          </a:prstGeom>
          <a:solidFill>
            <a:srgbClr val="FFC000"/>
          </a:solidFill>
        </p:spPr>
        <p:txBody>
          <a:bodyPr wrap="square" rtlCol="0">
            <a:spAutoFit/>
          </a:bodyPr>
          <a:lstStyle/>
          <a:p>
            <a:pPr lvl="0" algn="r"/>
            <a:r>
              <a:rPr lang="ar-AE" b="1" dirty="0"/>
              <a:t>محاور الرعاية لكل نوع من الحيوانات في الدليل :</a:t>
            </a:r>
            <a:endParaRPr lang="en-US" dirty="0"/>
          </a:p>
        </p:txBody>
      </p:sp>
    </p:spTree>
    <p:extLst>
      <p:ext uri="{BB962C8B-B14F-4D97-AF65-F5344CB8AC3E}">
        <p14:creationId xmlns:p14="http://schemas.microsoft.com/office/powerpoint/2010/main" val="4274485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C8A81E-EA0F-C1C5-6BBA-9DB4C89AB5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4651D51-671B-E965-B504-140E8B8FACA9}"/>
              </a:ext>
            </a:extLst>
          </p:cNvPr>
          <p:cNvSpPr txBox="1"/>
          <p:nvPr/>
        </p:nvSpPr>
        <p:spPr>
          <a:xfrm>
            <a:off x="571500" y="5074024"/>
            <a:ext cx="7581900" cy="598032"/>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endParaRPr lang="en-US" sz="3100" dirty="0">
              <a:latin typeface="+mj-lt"/>
              <a:ea typeface="+mj-ea"/>
              <a:cs typeface="+mj-cs"/>
            </a:endParaRPr>
          </a:p>
        </p:txBody>
      </p:sp>
      <p:graphicFrame>
        <p:nvGraphicFramePr>
          <p:cNvPr id="4" name="Diagram 3">
            <a:extLst>
              <a:ext uri="{FF2B5EF4-FFF2-40B4-BE49-F238E27FC236}">
                <a16:creationId xmlns:a16="http://schemas.microsoft.com/office/drawing/2014/main" id="{F40E1748-26EF-42ED-4D0A-46E8CF9DBAA6}"/>
              </a:ext>
            </a:extLst>
          </p:cNvPr>
          <p:cNvGraphicFramePr/>
          <p:nvPr>
            <p:extLst>
              <p:ext uri="{D42A27DB-BD31-4B8C-83A1-F6EECF244321}">
                <p14:modId xmlns:p14="http://schemas.microsoft.com/office/powerpoint/2010/main" val="3065230276"/>
              </p:ext>
            </p:extLst>
          </p:nvPr>
        </p:nvGraphicFramePr>
        <p:xfrm>
          <a:off x="904785" y="1662320"/>
          <a:ext cx="7504275" cy="40975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6120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415F0A-8250-FCD9-3277-012FF843E4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80C218-7EA8-C0BA-AABC-698FFD031FB0}"/>
              </a:ext>
            </a:extLst>
          </p:cNvPr>
          <p:cNvSpPr txBox="1"/>
          <p:nvPr/>
        </p:nvSpPr>
        <p:spPr>
          <a:xfrm>
            <a:off x="571500" y="5074024"/>
            <a:ext cx="7581900" cy="598032"/>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endParaRPr lang="en-US" sz="3100" dirty="0">
              <a:latin typeface="+mj-lt"/>
              <a:ea typeface="+mj-ea"/>
              <a:cs typeface="+mj-cs"/>
            </a:endParaRPr>
          </a:p>
        </p:txBody>
      </p:sp>
      <p:sp>
        <p:nvSpPr>
          <p:cNvPr id="2" name="TextBox 1">
            <a:extLst>
              <a:ext uri="{FF2B5EF4-FFF2-40B4-BE49-F238E27FC236}">
                <a16:creationId xmlns:a16="http://schemas.microsoft.com/office/drawing/2014/main" id="{EF466029-BCD2-65D0-5945-3D3975DA1FD4}"/>
              </a:ext>
            </a:extLst>
          </p:cNvPr>
          <p:cNvSpPr txBox="1"/>
          <p:nvPr/>
        </p:nvSpPr>
        <p:spPr>
          <a:xfrm>
            <a:off x="362663" y="1252121"/>
            <a:ext cx="8362237" cy="5386090"/>
          </a:xfrm>
          <a:prstGeom prst="rect">
            <a:avLst/>
          </a:prstGeom>
          <a:noFill/>
        </p:spPr>
        <p:txBody>
          <a:bodyPr wrap="square">
            <a:spAutoFit/>
          </a:bodyPr>
          <a:lstStyle/>
          <a:p>
            <a:pPr algn="r"/>
            <a:endParaRPr lang="ar-AE" sz="1600" b="1" dirty="0">
              <a:solidFill>
                <a:srgbClr val="000000"/>
              </a:solidFill>
              <a:latin typeface="UICTFontTextStyleBody"/>
              <a:cs typeface="+mj-cs"/>
            </a:endParaRPr>
          </a:p>
          <a:p>
            <a:pPr algn="r"/>
            <a:r>
              <a:rPr lang="ar-AE" sz="1600" b="1" dirty="0">
                <a:solidFill>
                  <a:srgbClr val="000000"/>
                </a:solidFill>
                <a:latin typeface="UICTFontTextStyleBody"/>
                <a:cs typeface="+mj-cs"/>
              </a:rPr>
              <a:t>   </a:t>
            </a:r>
            <a:r>
              <a:rPr lang="ar-AE" sz="1600" b="1" dirty="0">
                <a:solidFill>
                  <a:srgbClr val="000000"/>
                </a:solidFill>
                <a:highlight>
                  <a:srgbClr val="FFFF00"/>
                </a:highlight>
                <a:latin typeface="UICTFontTextStyleBody"/>
                <a:cs typeface="+mj-cs"/>
              </a:rPr>
              <a:t> </a:t>
            </a:r>
            <a:r>
              <a:rPr lang="ar-AE" sz="2000" b="1" dirty="0">
                <a:solidFill>
                  <a:srgbClr val="000000"/>
                </a:solidFill>
                <a:highlight>
                  <a:srgbClr val="FFFF00"/>
                </a:highlight>
                <a:latin typeface="UICTFontTextStyleBody"/>
                <a:cs typeface="+mj-cs"/>
              </a:rPr>
              <a:t>صور</a:t>
            </a:r>
            <a:r>
              <a:rPr lang="ar-AE" sz="1600" b="1" dirty="0">
                <a:solidFill>
                  <a:srgbClr val="000000"/>
                </a:solidFill>
                <a:highlight>
                  <a:srgbClr val="FFFF00"/>
                </a:highlight>
                <a:latin typeface="UICTFontTextStyleBody"/>
                <a:cs typeface="+mj-cs"/>
              </a:rPr>
              <a:t> </a:t>
            </a:r>
            <a:r>
              <a:rPr lang="ar-AE" sz="2000" b="1" dirty="0">
                <a:solidFill>
                  <a:srgbClr val="000000"/>
                </a:solidFill>
                <a:highlight>
                  <a:srgbClr val="FFFF00"/>
                </a:highlight>
                <a:latin typeface="UICTFontTextStyleBody"/>
                <a:cs typeface="+mj-cs"/>
              </a:rPr>
              <a:t>التوعية </a:t>
            </a:r>
            <a:r>
              <a:rPr lang="ar-AE" sz="1600" b="1" dirty="0">
                <a:solidFill>
                  <a:srgbClr val="000000"/>
                </a:solidFill>
                <a:latin typeface="UICTFontTextStyleBody"/>
                <a:cs typeface="+mj-cs"/>
              </a:rPr>
              <a:t>:</a:t>
            </a: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endParaRPr lang="ar-AE" sz="1600" b="1" dirty="0">
              <a:solidFill>
                <a:srgbClr val="000000"/>
              </a:solidFill>
              <a:latin typeface="UICTFontTextStyleBody"/>
              <a:cs typeface="+mj-cs"/>
            </a:endParaRPr>
          </a:p>
          <a:p>
            <a:pPr algn="r"/>
            <a:r>
              <a:rPr lang="ar-AE" sz="1600" b="1" dirty="0">
                <a:solidFill>
                  <a:srgbClr val="000000"/>
                </a:solidFill>
                <a:latin typeface="UICTFontTextStyleBody"/>
                <a:cs typeface="+mj-cs"/>
              </a:rPr>
              <a:t> </a:t>
            </a:r>
          </a:p>
        </p:txBody>
      </p:sp>
      <p:pic>
        <p:nvPicPr>
          <p:cNvPr id="6" name="Picture 5">
            <a:extLst>
              <a:ext uri="{FF2B5EF4-FFF2-40B4-BE49-F238E27FC236}">
                <a16:creationId xmlns:a16="http://schemas.microsoft.com/office/drawing/2014/main" id="{AD2217EB-F490-F56A-ECB4-5C003A9B919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222130" y="2021021"/>
            <a:ext cx="1502769" cy="2003693"/>
          </a:xfrm>
          <a:prstGeom prst="rect">
            <a:avLst/>
          </a:prstGeom>
        </p:spPr>
      </p:pic>
      <p:pic>
        <p:nvPicPr>
          <p:cNvPr id="8" name="Picture 7">
            <a:extLst>
              <a:ext uri="{FF2B5EF4-FFF2-40B4-BE49-F238E27FC236}">
                <a16:creationId xmlns:a16="http://schemas.microsoft.com/office/drawing/2014/main" id="{4D1802CF-FF07-E99E-E677-19242A2CA96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616031" y="2021021"/>
            <a:ext cx="2671590" cy="2003693"/>
          </a:xfrm>
          <a:prstGeom prst="rect">
            <a:avLst/>
          </a:prstGeom>
        </p:spPr>
      </p:pic>
      <p:pic>
        <p:nvPicPr>
          <p:cNvPr id="13" name="Picture 12">
            <a:extLst>
              <a:ext uri="{FF2B5EF4-FFF2-40B4-BE49-F238E27FC236}">
                <a16:creationId xmlns:a16="http://schemas.microsoft.com/office/drawing/2014/main" id="{E40AC056-8E46-7ABF-EFC2-06C4424045F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503491" y="2021021"/>
            <a:ext cx="1502769" cy="2003693"/>
          </a:xfrm>
          <a:prstGeom prst="rect">
            <a:avLst/>
          </a:prstGeom>
        </p:spPr>
      </p:pic>
      <p:pic>
        <p:nvPicPr>
          <p:cNvPr id="5" name="Picture 4">
            <a:extLst>
              <a:ext uri="{FF2B5EF4-FFF2-40B4-BE49-F238E27FC236}">
                <a16:creationId xmlns:a16="http://schemas.microsoft.com/office/drawing/2014/main" id="{3A0BE127-F235-4A59-A773-16EEE54D075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41316" y="2021020"/>
            <a:ext cx="1854302" cy="2003694"/>
          </a:xfrm>
          <a:prstGeom prst="rect">
            <a:avLst/>
          </a:prstGeom>
        </p:spPr>
      </p:pic>
      <p:pic>
        <p:nvPicPr>
          <p:cNvPr id="9" name="Picture 8">
            <a:extLst>
              <a:ext uri="{FF2B5EF4-FFF2-40B4-BE49-F238E27FC236}">
                <a16:creationId xmlns:a16="http://schemas.microsoft.com/office/drawing/2014/main" id="{3E9C7044-FAD7-874B-CBD7-DF073C2F0C7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7284818" y="4239534"/>
            <a:ext cx="1377395" cy="1836527"/>
          </a:xfrm>
          <a:prstGeom prst="rect">
            <a:avLst/>
          </a:prstGeom>
        </p:spPr>
      </p:pic>
      <p:pic>
        <p:nvPicPr>
          <p:cNvPr id="11" name="Picture 10">
            <a:extLst>
              <a:ext uri="{FF2B5EF4-FFF2-40B4-BE49-F238E27FC236}">
                <a16:creationId xmlns:a16="http://schemas.microsoft.com/office/drawing/2014/main" id="{7232E948-F83B-E093-AA26-70435BDBE3C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147714" y="4256463"/>
            <a:ext cx="1858546" cy="1819598"/>
          </a:xfrm>
          <a:prstGeom prst="rect">
            <a:avLst/>
          </a:prstGeom>
        </p:spPr>
      </p:pic>
      <p:pic>
        <p:nvPicPr>
          <p:cNvPr id="14" name="Picture 13">
            <a:extLst>
              <a:ext uri="{FF2B5EF4-FFF2-40B4-BE49-F238E27FC236}">
                <a16:creationId xmlns:a16="http://schemas.microsoft.com/office/drawing/2014/main" id="{F8B32F47-0886-D957-35CE-BE20447B55F9}"/>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2737006" y="4256463"/>
            <a:ext cx="2253737" cy="1819598"/>
          </a:xfrm>
          <a:prstGeom prst="rect">
            <a:avLst/>
          </a:prstGeom>
        </p:spPr>
      </p:pic>
      <p:pic>
        <p:nvPicPr>
          <p:cNvPr id="16" name="Picture 15">
            <a:extLst>
              <a:ext uri="{FF2B5EF4-FFF2-40B4-BE49-F238E27FC236}">
                <a16:creationId xmlns:a16="http://schemas.microsoft.com/office/drawing/2014/main" id="{1F25426E-FF31-808B-665A-995F66FECA84}"/>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641316" y="4239534"/>
            <a:ext cx="1854302" cy="1856088"/>
          </a:xfrm>
          <a:prstGeom prst="rect">
            <a:avLst/>
          </a:prstGeom>
        </p:spPr>
      </p:pic>
    </p:spTree>
    <p:extLst>
      <p:ext uri="{BB962C8B-B14F-4D97-AF65-F5344CB8AC3E}">
        <p14:creationId xmlns:p14="http://schemas.microsoft.com/office/powerpoint/2010/main" val="161222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4CC15D-1F29-8173-E9D1-919721EEC0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6B8FA6-B5BA-B45A-A50D-AD0A5413F2B4}"/>
              </a:ext>
            </a:extLst>
          </p:cNvPr>
          <p:cNvSpPr txBox="1"/>
          <p:nvPr/>
        </p:nvSpPr>
        <p:spPr>
          <a:xfrm>
            <a:off x="571500" y="5074024"/>
            <a:ext cx="7581900" cy="598032"/>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endParaRPr lang="en-US" sz="3100" dirty="0">
              <a:latin typeface="+mj-lt"/>
              <a:ea typeface="+mj-ea"/>
              <a:cs typeface="+mj-cs"/>
            </a:endParaRPr>
          </a:p>
        </p:txBody>
      </p:sp>
      <p:sp>
        <p:nvSpPr>
          <p:cNvPr id="2" name="TextBox 1">
            <a:extLst>
              <a:ext uri="{FF2B5EF4-FFF2-40B4-BE49-F238E27FC236}">
                <a16:creationId xmlns:a16="http://schemas.microsoft.com/office/drawing/2014/main" id="{A3FA42C2-B147-E991-01F5-79776920139C}"/>
              </a:ext>
            </a:extLst>
          </p:cNvPr>
          <p:cNvSpPr txBox="1"/>
          <p:nvPr/>
        </p:nvSpPr>
        <p:spPr>
          <a:xfrm>
            <a:off x="294653" y="1525586"/>
            <a:ext cx="8362237" cy="338554"/>
          </a:xfrm>
          <a:prstGeom prst="rect">
            <a:avLst/>
          </a:prstGeom>
          <a:noFill/>
        </p:spPr>
        <p:txBody>
          <a:bodyPr wrap="square">
            <a:spAutoFit/>
          </a:bodyPr>
          <a:lstStyle/>
          <a:p>
            <a:pPr algn="r"/>
            <a:r>
              <a:rPr lang="ar-AE" sz="1200" b="1" dirty="0">
                <a:solidFill>
                  <a:srgbClr val="000000"/>
                </a:solidFill>
                <a:highlight>
                  <a:srgbClr val="FFFF00"/>
                </a:highlight>
                <a:latin typeface="UICTFontTextStyleBody"/>
                <a:cs typeface="+mj-cs"/>
              </a:rPr>
              <a:t> </a:t>
            </a:r>
            <a:r>
              <a:rPr lang="ar-AE" sz="1600" b="1" dirty="0">
                <a:solidFill>
                  <a:srgbClr val="000000"/>
                </a:solidFill>
                <a:highlight>
                  <a:srgbClr val="FFFF00"/>
                </a:highlight>
                <a:latin typeface="UICTFontTextStyleBody"/>
                <a:cs typeface="+mj-cs"/>
              </a:rPr>
              <a:t>توقيع بعض متلقي التوعية </a:t>
            </a:r>
            <a:r>
              <a:rPr lang="ar-AE" sz="1200" b="1" dirty="0">
                <a:solidFill>
                  <a:srgbClr val="000000"/>
                </a:solidFill>
                <a:latin typeface="UICTFontTextStyleBody"/>
                <a:cs typeface="+mj-cs"/>
              </a:rPr>
              <a:t>:</a:t>
            </a:r>
            <a:endParaRPr lang="ar-AE" sz="1600" b="1" dirty="0">
              <a:solidFill>
                <a:srgbClr val="000000"/>
              </a:solidFill>
              <a:latin typeface="UICTFontTextStyleBody"/>
              <a:cs typeface="+mj-cs"/>
            </a:endParaRPr>
          </a:p>
        </p:txBody>
      </p:sp>
      <p:pic>
        <p:nvPicPr>
          <p:cNvPr id="7" name="Picture 6" descr="A piece of paper with writing">
            <a:extLst>
              <a:ext uri="{FF2B5EF4-FFF2-40B4-BE49-F238E27FC236}">
                <a16:creationId xmlns:a16="http://schemas.microsoft.com/office/drawing/2014/main" id="{EB220E55-135D-7C8E-11EA-FB76C97370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60945" y="2042445"/>
            <a:ext cx="2465301" cy="1914460"/>
          </a:xfrm>
          <a:prstGeom prst="rect">
            <a:avLst/>
          </a:prstGeom>
        </p:spPr>
      </p:pic>
      <p:pic>
        <p:nvPicPr>
          <p:cNvPr id="9" name="Picture 8" descr="A piece of paper with writing&#10;&#10;AI-generated content may be incorrect.">
            <a:extLst>
              <a:ext uri="{FF2B5EF4-FFF2-40B4-BE49-F238E27FC236}">
                <a16:creationId xmlns:a16="http://schemas.microsoft.com/office/drawing/2014/main" id="{D3786606-F7F3-3AA5-C866-1BC0BB2C5B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236" y="4181096"/>
            <a:ext cx="2670702" cy="2178719"/>
          </a:xfrm>
          <a:prstGeom prst="rect">
            <a:avLst/>
          </a:prstGeom>
        </p:spPr>
      </p:pic>
      <p:pic>
        <p:nvPicPr>
          <p:cNvPr id="11" name="Picture 10" descr="A piece of paper with writing">
            <a:extLst>
              <a:ext uri="{FF2B5EF4-FFF2-40B4-BE49-F238E27FC236}">
                <a16:creationId xmlns:a16="http://schemas.microsoft.com/office/drawing/2014/main" id="{73660DE4-7B1C-18C2-DF56-7694A5D806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99573" y="2049344"/>
            <a:ext cx="3455737" cy="1914460"/>
          </a:xfrm>
          <a:prstGeom prst="rect">
            <a:avLst/>
          </a:prstGeom>
        </p:spPr>
      </p:pic>
      <p:pic>
        <p:nvPicPr>
          <p:cNvPr id="13" name="Picture 12" descr="A piece of paper with writing on it&#10;&#10;AI-generated content may be incorrect.">
            <a:extLst>
              <a:ext uri="{FF2B5EF4-FFF2-40B4-BE49-F238E27FC236}">
                <a16:creationId xmlns:a16="http://schemas.microsoft.com/office/drawing/2014/main" id="{3BC77808-3934-737B-25FE-BEE6393842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3236" y="2049343"/>
            <a:ext cx="2670702" cy="1914459"/>
          </a:xfrm>
          <a:prstGeom prst="rect">
            <a:avLst/>
          </a:prstGeom>
        </p:spPr>
      </p:pic>
      <p:pic>
        <p:nvPicPr>
          <p:cNvPr id="16" name="Picture 15" descr="A piece of paper with writing on it&#10;&#10;AI-generated content may be incorrect.">
            <a:extLst>
              <a:ext uri="{FF2B5EF4-FFF2-40B4-BE49-F238E27FC236}">
                <a16:creationId xmlns:a16="http://schemas.microsoft.com/office/drawing/2014/main" id="{7574E45F-5359-7296-AAD2-4C19073046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99574" y="4201278"/>
            <a:ext cx="3455736" cy="2191878"/>
          </a:xfrm>
          <a:prstGeom prst="rect">
            <a:avLst/>
          </a:prstGeom>
        </p:spPr>
      </p:pic>
      <p:pic>
        <p:nvPicPr>
          <p:cNvPr id="18" name="Picture 17" descr="A piece of paper with writing on it&#10;&#10;AI-generated content may be incorrect.">
            <a:extLst>
              <a:ext uri="{FF2B5EF4-FFF2-40B4-BE49-F238E27FC236}">
                <a16:creationId xmlns:a16="http://schemas.microsoft.com/office/drawing/2014/main" id="{464455B7-3E4E-07FD-4047-49F1B618EF9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60945" y="4246762"/>
            <a:ext cx="2465301" cy="2113053"/>
          </a:xfrm>
          <a:prstGeom prst="rect">
            <a:avLst/>
          </a:prstGeom>
        </p:spPr>
      </p:pic>
    </p:spTree>
    <p:extLst>
      <p:ext uri="{BB962C8B-B14F-4D97-AF65-F5344CB8AC3E}">
        <p14:creationId xmlns:p14="http://schemas.microsoft.com/office/powerpoint/2010/main" val="787504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376C98-CFD6-305F-6277-B2CA1ED0A8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02F613-D28B-C4E1-A2A3-FF9C170EEF03}"/>
              </a:ext>
            </a:extLst>
          </p:cNvPr>
          <p:cNvSpPr txBox="1"/>
          <p:nvPr/>
        </p:nvSpPr>
        <p:spPr>
          <a:xfrm>
            <a:off x="562955" y="4740738"/>
            <a:ext cx="3163012" cy="598032"/>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ar-AE" sz="2000" dirty="0"/>
              <a:t>توقيع المفتش</a:t>
            </a:r>
          </a:p>
        </p:txBody>
      </p:sp>
      <p:sp>
        <p:nvSpPr>
          <p:cNvPr id="9" name="TextBox 8">
            <a:extLst>
              <a:ext uri="{FF2B5EF4-FFF2-40B4-BE49-F238E27FC236}">
                <a16:creationId xmlns:a16="http://schemas.microsoft.com/office/drawing/2014/main" id="{FA050CEA-F0E2-9C86-1C8A-8B4C699D4C6E}"/>
              </a:ext>
            </a:extLst>
          </p:cNvPr>
          <p:cNvSpPr txBox="1"/>
          <p:nvPr/>
        </p:nvSpPr>
        <p:spPr>
          <a:xfrm>
            <a:off x="846034" y="2029787"/>
            <a:ext cx="7759581" cy="369332"/>
          </a:xfrm>
          <a:prstGeom prst="rect">
            <a:avLst/>
          </a:prstGeom>
          <a:noFill/>
        </p:spPr>
        <p:txBody>
          <a:bodyPr wrap="square">
            <a:spAutoFit/>
          </a:bodyPr>
          <a:lstStyle/>
          <a:p>
            <a:pPr algn="r"/>
            <a:r>
              <a:rPr lang="ar-AE" dirty="0"/>
              <a:t> هذا وأغلق المحضر في تاريخه يوم الثلاثاء الموافق 28 من أكتوبر 2025 تمام الساعة 09:00 مساءاً</a:t>
            </a:r>
          </a:p>
        </p:txBody>
      </p:sp>
      <p:sp>
        <p:nvSpPr>
          <p:cNvPr id="11" name="TextBox 10">
            <a:extLst>
              <a:ext uri="{FF2B5EF4-FFF2-40B4-BE49-F238E27FC236}">
                <a16:creationId xmlns:a16="http://schemas.microsoft.com/office/drawing/2014/main" id="{B86CA56B-81BF-6415-54B5-37AB0F5A3203}"/>
              </a:ext>
            </a:extLst>
          </p:cNvPr>
          <p:cNvSpPr txBox="1"/>
          <p:nvPr/>
        </p:nvSpPr>
        <p:spPr>
          <a:xfrm>
            <a:off x="846034" y="5422406"/>
            <a:ext cx="4572000" cy="341632"/>
          </a:xfrm>
          <a:prstGeom prst="rect">
            <a:avLst/>
          </a:prstGeom>
          <a:noFill/>
        </p:spPr>
        <p:txBody>
          <a:bodyPr wrap="square">
            <a:spAutoFit/>
          </a:bodyPr>
          <a:lstStyle/>
          <a:p>
            <a:pPr defTabSz="914400">
              <a:lnSpc>
                <a:spcPct val="90000"/>
              </a:lnSpc>
              <a:spcBef>
                <a:spcPct val="0"/>
              </a:spcBef>
              <a:spcAft>
                <a:spcPts val="600"/>
              </a:spcAft>
            </a:pPr>
            <a:r>
              <a:rPr lang="ar-AE" sz="1800" dirty="0">
                <a:latin typeface="+mj-lt"/>
                <a:ea typeface="+mj-ea"/>
                <a:cs typeface="+mj-cs"/>
              </a:rPr>
              <a:t>دكتور / علي محمد علي عبدالعال</a:t>
            </a:r>
            <a:endParaRPr lang="en-US" sz="1800" dirty="0">
              <a:latin typeface="+mj-lt"/>
              <a:ea typeface="+mj-ea"/>
              <a:cs typeface="+mj-cs"/>
            </a:endParaRPr>
          </a:p>
        </p:txBody>
      </p:sp>
      <p:pic>
        <p:nvPicPr>
          <p:cNvPr id="6" name="Picture 5" descr="A black and white image of a dog and cat">
            <a:extLst>
              <a:ext uri="{FF2B5EF4-FFF2-40B4-BE49-F238E27FC236}">
                <a16:creationId xmlns:a16="http://schemas.microsoft.com/office/drawing/2014/main" id="{C1722749-1CEA-568F-7EA9-E4A0496F6E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25967" y="2662015"/>
            <a:ext cx="2193751" cy="2736177"/>
          </a:xfrm>
          <a:prstGeom prst="rect">
            <a:avLst/>
          </a:prstGeom>
        </p:spPr>
      </p:pic>
    </p:spTree>
    <p:extLst>
      <p:ext uri="{BB962C8B-B14F-4D97-AF65-F5344CB8AC3E}">
        <p14:creationId xmlns:p14="http://schemas.microsoft.com/office/powerpoint/2010/main" val="36684721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e8fa5e3-d385-4a70-ba9c-17b9cfa7f32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F4896BA9F71648A70A3E0DD3C62EB4" ma:contentTypeVersion="18" ma:contentTypeDescription="Create a new document." ma:contentTypeScope="" ma:versionID="6191d1eabbe4624c488d0f4c8442c33b">
  <xsd:schema xmlns:xsd="http://www.w3.org/2001/XMLSchema" xmlns:xs="http://www.w3.org/2001/XMLSchema" xmlns:p="http://schemas.microsoft.com/office/2006/metadata/properties" xmlns:ns3="fe8fa5e3-d385-4a70-ba9c-17b9cfa7f32e" xmlns:ns4="1b1bfd6c-04ad-4d81-87f9-a0ebb485d633" targetNamespace="http://schemas.microsoft.com/office/2006/metadata/properties" ma:root="true" ma:fieldsID="93a29b868b386d43fe34cbdae8a44efd" ns3:_="" ns4:_="">
    <xsd:import namespace="fe8fa5e3-d385-4a70-ba9c-17b9cfa7f32e"/>
    <xsd:import namespace="1b1bfd6c-04ad-4d81-87f9-a0ebb485d633"/>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8fa5e3-d385-4a70-ba9c-17b9cfa7f3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1bfd6c-04ad-4d81-87f9-a0ebb485d63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0354EC-73A2-420B-ADB8-7F139D52E777}">
  <ds:schemaRefs>
    <ds:schemaRef ds:uri="fe8fa5e3-d385-4a70-ba9c-17b9cfa7f32e"/>
    <ds:schemaRef ds:uri="http://schemas.microsoft.com/office/2006/documentManagement/types"/>
    <ds:schemaRef ds:uri="http://purl.org/dc/elements/1.1/"/>
    <ds:schemaRef ds:uri="http://schemas.openxmlformats.org/package/2006/metadata/core-properties"/>
    <ds:schemaRef ds:uri="1b1bfd6c-04ad-4d81-87f9-a0ebb485d633"/>
    <ds:schemaRef ds:uri="http://purl.org/dc/terms/"/>
    <ds:schemaRef ds:uri="http://www.w3.org/XML/1998/namespace"/>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6F77E7ED-628C-4C25-9711-B87C3845F7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8fa5e3-d385-4a70-ba9c-17b9cfa7f32e"/>
    <ds:schemaRef ds:uri="1b1bfd6c-04ad-4d81-87f9-a0ebb485d6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1E3699-CD0A-4F96-BCBB-0E151CC16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محضر منعي ووقائي للمخالفات</Template>
  <TotalTime>2445</TotalTime>
  <Words>403</Words>
  <Application>Microsoft Office PowerPoint</Application>
  <PresentationFormat>On-screen Show (4:3)</PresentationFormat>
  <Paragraphs>86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Sakkal Majalla</vt:lpstr>
      <vt:lpstr>UICTFontTextStyleBody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Mohamed Ali Abdel Aal</dc:creator>
  <cp:lastModifiedBy>mr mask</cp:lastModifiedBy>
  <cp:revision>18</cp:revision>
  <cp:lastPrinted>2025-01-06T15:29:45Z</cp:lastPrinted>
  <dcterms:created xsi:type="dcterms:W3CDTF">2025-01-08T15:20:27Z</dcterms:created>
  <dcterms:modified xsi:type="dcterms:W3CDTF">2025-11-02T00:44:42Z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0x01010060F4896BA9F71648A70A3E0DD3C62EB4</vt:lpwstr>
  </property>
</Properties>
</file>