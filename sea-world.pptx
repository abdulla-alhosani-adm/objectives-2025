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73"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3" d="100"/>
          <a:sy n="103" d="100"/>
        </p:scale>
        <p:origin x="114"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4459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9800"/>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4A90E2">
              <a:alpha val="70000"/>
            </a:srgbClr>
          </a:solidFill>
          <a:ln/>
        </p:spPr>
        <p:txBody>
          <a:bodyPr/>
          <a:lstStyle/>
          <a:p>
            <a:endParaRPr lang="en-US"/>
          </a:p>
        </p:txBody>
      </p:sp>
      <p:sp>
        <p:nvSpPr>
          <p:cNvPr id="3" name="Text 1"/>
          <p:cNvSpPr/>
          <p:nvPr/>
        </p:nvSpPr>
        <p:spPr>
          <a:xfrm>
            <a:off x="1642188" y="1417320"/>
            <a:ext cx="8229600" cy="1371600"/>
          </a:xfrm>
          <a:prstGeom prst="rect">
            <a:avLst/>
          </a:prstGeom>
          <a:noFill/>
          <a:ln/>
          <a:effectLst>
            <a:outerShdw blurRad="101600" dist="38100" dir="2700000" algn="bl" rotWithShape="0">
              <a:srgbClr val="000000">
                <a:alpha val="50000"/>
              </a:srgbClr>
            </a:outerShdw>
          </a:effectLst>
        </p:spPr>
        <p:txBody>
          <a:bodyPr wrap="square" rtlCol="0" anchor="ctr"/>
          <a:lstStyle/>
          <a:p>
            <a:pPr marL="0" indent="0" algn="ctr" rtl="1">
              <a:buNone/>
            </a:pPr>
            <a:r>
              <a:rPr lang="en-US" sz="5400" b="1" dirty="0">
                <a:solidFill>
                  <a:srgbClr val="FFFFFF"/>
                </a:solidFill>
                <a:latin typeface="Arial" pitchFamily="34" charset="0"/>
                <a:ea typeface="Arial" pitchFamily="34" charset="-122"/>
                <a:cs typeface="Arial" pitchFamily="34" charset="-120"/>
              </a:rPr>
              <a:t>📋 تقارير التفتيش الجماعي</a:t>
            </a:r>
            <a:endParaRPr lang="en-US" sz="5400" dirty="0"/>
          </a:p>
        </p:txBody>
      </p:sp>
      <p:sp>
        <p:nvSpPr>
          <p:cNvPr id="4" name="Text 2"/>
          <p:cNvSpPr/>
          <p:nvPr/>
        </p:nvSpPr>
        <p:spPr>
          <a:xfrm>
            <a:off x="1856792" y="3053909"/>
            <a:ext cx="8229600" cy="548640"/>
          </a:xfrm>
          <a:prstGeom prst="rect">
            <a:avLst/>
          </a:prstGeom>
          <a:noFill/>
          <a:ln/>
        </p:spPr>
        <p:txBody>
          <a:bodyPr wrap="square" rtlCol="0" anchor="ctr"/>
          <a:lstStyle/>
          <a:p>
            <a:pPr marL="0" indent="0" algn="ctr" rtl="1">
              <a:buNone/>
            </a:pPr>
            <a:r>
              <a:rPr lang="en-US" sz="2400" dirty="0">
                <a:solidFill>
                  <a:srgbClr val="FFFFFF"/>
                </a:solidFill>
                <a:latin typeface="Arial" pitchFamily="34" charset="0"/>
                <a:ea typeface="Arial" pitchFamily="34" charset="-122"/>
                <a:cs typeface="Arial" pitchFamily="34" charset="-120"/>
              </a:rPr>
              <a:t>📊 إجمالي التقارير: 1 | 📋 </a:t>
            </a:r>
            <a:r>
              <a:rPr lang="en-US" sz="2400" dirty="0" err="1">
                <a:solidFill>
                  <a:srgbClr val="FFFFFF"/>
                </a:solidFill>
                <a:latin typeface="Arial" pitchFamily="34" charset="0"/>
                <a:ea typeface="Arial" pitchFamily="34" charset="-122"/>
                <a:cs typeface="Arial" pitchFamily="34" charset="-120"/>
              </a:rPr>
              <a:t>بنود</a:t>
            </a:r>
            <a:r>
              <a:rPr lang="en-US" sz="2400" dirty="0">
                <a:solidFill>
                  <a:srgbClr val="FFFFFF"/>
                </a:solidFill>
                <a:latin typeface="Arial" pitchFamily="34" charset="0"/>
                <a:ea typeface="Arial" pitchFamily="34" charset="-122"/>
                <a:cs typeface="Arial" pitchFamily="34" charset="-120"/>
              </a:rPr>
              <a:t> رئيسية 4 : </a:t>
            </a:r>
            <a:endParaRPr lang="en-US" sz="2400" dirty="0"/>
          </a:p>
        </p:txBody>
      </p:sp>
      <p:sp>
        <p:nvSpPr>
          <p:cNvPr id="5" name="Text 3"/>
          <p:cNvSpPr/>
          <p:nvPr/>
        </p:nvSpPr>
        <p:spPr>
          <a:xfrm>
            <a:off x="1707502" y="4114800"/>
            <a:ext cx="8229600" cy="548640"/>
          </a:xfrm>
          <a:prstGeom prst="rect">
            <a:avLst/>
          </a:prstGeom>
          <a:noFill/>
          <a:ln/>
        </p:spPr>
        <p:txBody>
          <a:bodyPr wrap="square" rtlCol="0" anchor="ctr"/>
          <a:lstStyle/>
          <a:p>
            <a:pPr marL="0" indent="0" algn="ctr" rtl="1">
              <a:buNone/>
            </a:pPr>
            <a:r>
              <a:rPr lang="en-US" sz="2000" dirty="0">
                <a:solidFill>
                  <a:srgbClr val="FFFFFF"/>
                </a:solidFill>
                <a:latin typeface="Arial" pitchFamily="34" charset="0"/>
                <a:ea typeface="Arial" pitchFamily="34" charset="-122"/>
                <a:cs typeface="Arial" pitchFamily="34" charset="-120"/>
              </a:rPr>
              <a:t>📅 تاريخ إنشاء </a:t>
            </a:r>
            <a:r>
              <a:rPr lang="en-US" sz="2000" dirty="0" err="1">
                <a:solidFill>
                  <a:srgbClr val="FFFFFF"/>
                </a:solidFill>
                <a:latin typeface="Arial" pitchFamily="34" charset="0"/>
                <a:ea typeface="Arial" pitchFamily="34" charset="-122"/>
                <a:cs typeface="Arial" pitchFamily="34" charset="-120"/>
              </a:rPr>
              <a:t>التقرير</a:t>
            </a:r>
            <a:r>
              <a:rPr lang="en-US" sz="2000" dirty="0">
                <a:solidFill>
                  <a:srgbClr val="FFFFFF"/>
                </a:solidFill>
                <a:latin typeface="Arial" pitchFamily="34" charset="0"/>
                <a:ea typeface="Arial" pitchFamily="34" charset="-122"/>
                <a:cs typeface="Arial" pitchFamily="34" charset="-120"/>
              </a:rPr>
              <a:t>: الثلاثاء٢٥ نوفمبر ٢٠٢٥</a:t>
            </a:r>
            <a:endParaRPr lang="en-US" sz="2000" dirty="0"/>
          </a:p>
        </p:txBody>
      </p:sp>
      <p:sp>
        <p:nvSpPr>
          <p:cNvPr id="6" name="Shape 4"/>
          <p:cNvSpPr/>
          <p:nvPr/>
        </p:nvSpPr>
        <p:spPr>
          <a:xfrm>
            <a:off x="0" y="5943600"/>
            <a:ext cx="9144000" cy="457200"/>
          </a:xfrm>
          <a:prstGeom prst="rect">
            <a:avLst/>
          </a:prstGeom>
          <a:solidFill>
            <a:srgbClr val="4A90E2">
              <a:alpha val="70000"/>
            </a:srgbClr>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01012" y="0"/>
            <a:ext cx="9144000" cy="731520"/>
          </a:xfrm>
          <a:prstGeom prst="rect">
            <a:avLst/>
          </a:prstGeom>
          <a:solidFill>
            <a:srgbClr val="FF9800"/>
          </a:solidFill>
          <a:ln/>
        </p:spPr>
        <p:txBody>
          <a:bodyPr/>
          <a:lstStyle/>
          <a:p>
            <a:endParaRPr lang="en-US"/>
          </a:p>
        </p:txBody>
      </p:sp>
      <p:sp>
        <p:nvSpPr>
          <p:cNvPr id="3" name="Text 1"/>
          <p:cNvSpPr/>
          <p:nvPr/>
        </p:nvSpPr>
        <p:spPr>
          <a:xfrm>
            <a:off x="1558212" y="137160"/>
            <a:ext cx="8229600" cy="457200"/>
          </a:xfrm>
          <a:prstGeom prst="rect">
            <a:avLst/>
          </a:prstGeom>
          <a:noFill/>
          <a:ln/>
        </p:spPr>
        <p:txBody>
          <a:bodyPr wrap="square"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 </a:t>
            </a:r>
            <a:r>
              <a:rPr lang="en-US" sz="3600" b="1" dirty="0" err="1">
                <a:solidFill>
                  <a:srgbClr val="FFFFFF"/>
                </a:solidFill>
                <a:latin typeface="Arial" pitchFamily="34" charset="0"/>
                <a:ea typeface="Arial" pitchFamily="34" charset="-122"/>
                <a:cs typeface="Arial" pitchFamily="34" charset="-120"/>
              </a:rPr>
              <a:t>الملخص</a:t>
            </a:r>
            <a:r>
              <a:rPr lang="en-US" sz="3600" b="1" dirty="0">
                <a:solidFill>
                  <a:srgbClr val="FFFFFF"/>
                </a:solidFill>
                <a:latin typeface="Arial" pitchFamily="34" charset="0"/>
                <a:ea typeface="Arial" pitchFamily="34" charset="-122"/>
                <a:cs typeface="Arial" pitchFamily="34" charset="-120"/>
              </a:rPr>
              <a:t> التنفيذي</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3989799015"/>
              </p:ext>
            </p:extLst>
          </p:nvPr>
        </p:nvGraphicFramePr>
        <p:xfrm>
          <a:off x="1558212" y="868680"/>
          <a:ext cx="8229600" cy="5852160"/>
        </p:xfrm>
        <a:graphic>
          <a:graphicData uri="http://schemas.openxmlformats.org/drawingml/2006/table">
            <a:tbl>
              <a:tblPr/>
              <a:tblGrid>
                <a:gridCol w="54864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384048">
                <a:tc>
                  <a:txBody>
                    <a:bodyPr/>
                    <a:lstStyle/>
                    <a:p>
                      <a:pPr marL="0" indent="0" algn="r">
                        <a:buNone/>
                      </a:pPr>
                      <a:r>
                        <a:rPr lang="ar-AE" sz="2000" dirty="0">
                          <a:solidFill>
                            <a:srgbClr val="000000"/>
                          </a:solidFill>
                          <a:latin typeface="Arial" pitchFamily="34" charset="0"/>
                          <a:ea typeface="Arial" pitchFamily="34" charset="-122"/>
                          <a:cs typeface="Arial" pitchFamily="34" charset="-120"/>
                        </a:rPr>
                        <a:t>د.</a:t>
                      </a:r>
                      <a:r>
                        <a:rPr lang="en-US" sz="2000" dirty="0" err="1">
                          <a:solidFill>
                            <a:srgbClr val="000000"/>
                          </a:solidFill>
                          <a:latin typeface="Arial" pitchFamily="34" charset="0"/>
                          <a:ea typeface="Arial" pitchFamily="34" charset="-122"/>
                          <a:cs typeface="Arial" pitchFamily="34" charset="-120"/>
                        </a:rPr>
                        <a:t>علي</a:t>
                      </a:r>
                      <a:r>
                        <a:rPr lang="en-US" sz="2000" dirty="0">
                          <a:solidFill>
                            <a:srgbClr val="000000"/>
                          </a:solidFill>
                          <a:latin typeface="Arial" pitchFamily="34" charset="0"/>
                          <a:ea typeface="Arial" pitchFamily="34" charset="-122"/>
                          <a:cs typeface="Arial" pitchFamily="34" charset="-120"/>
                        </a:rPr>
                        <a:t> </a:t>
                      </a:r>
                      <a:r>
                        <a:rPr lang="en-US" sz="2000" dirty="0" err="1">
                          <a:solidFill>
                            <a:srgbClr val="000000"/>
                          </a:solidFill>
                          <a:latin typeface="Arial" pitchFamily="34" charset="0"/>
                          <a:ea typeface="Arial" pitchFamily="34" charset="-122"/>
                          <a:cs typeface="Arial" pitchFamily="34" charset="-120"/>
                        </a:rPr>
                        <a:t>عبدالعال</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المفتش المسؤول</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extLst>
                  <a:ext uri="{0D108BD9-81ED-4DB2-BD59-A6C34878D82A}">
                    <a16:rowId xmlns:a16="http://schemas.microsoft.com/office/drawing/2014/main" val="10000"/>
                  </a:ext>
                </a:extLst>
              </a:tr>
              <a:tr h="384048">
                <a:tc>
                  <a:txBody>
                    <a:bodyPr/>
                    <a:lstStyle/>
                    <a:p>
                      <a:pPr marL="0" indent="0" algn="r">
                        <a:buNone/>
                      </a:pPr>
                      <a:r>
                        <a:rPr lang="en-US" sz="2000" dirty="0" err="1">
                          <a:solidFill>
                            <a:srgbClr val="000000"/>
                          </a:solidFill>
                          <a:latin typeface="Arial" pitchFamily="34" charset="0"/>
                          <a:ea typeface="Arial" pitchFamily="34" charset="-122"/>
                          <a:cs typeface="Arial" pitchFamily="34" charset="-120"/>
                        </a:rPr>
                        <a:t>حصة</a:t>
                      </a:r>
                      <a:r>
                        <a:rPr lang="en-US" sz="2000" dirty="0">
                          <a:solidFill>
                            <a:srgbClr val="000000"/>
                          </a:solidFill>
                          <a:latin typeface="Arial" pitchFamily="34" charset="0"/>
                          <a:ea typeface="Arial" pitchFamily="34" charset="-122"/>
                          <a:cs typeface="Arial" pitchFamily="34" charset="-120"/>
                        </a:rPr>
                        <a:t> </a:t>
                      </a:r>
                      <a:r>
                        <a:rPr lang="en-US" sz="2000" dirty="0" err="1">
                          <a:solidFill>
                            <a:srgbClr val="000000"/>
                          </a:solidFill>
                          <a:latin typeface="Arial" pitchFamily="34" charset="0"/>
                          <a:ea typeface="Arial" pitchFamily="34" charset="-122"/>
                          <a:cs typeface="Arial" pitchFamily="34" charset="-120"/>
                        </a:rPr>
                        <a:t>العلي</a:t>
                      </a:r>
                      <a:r>
                        <a:rPr lang="en-US" sz="2000" dirty="0">
                          <a:solidFill>
                            <a:srgbClr val="000000"/>
                          </a:solidFill>
                          <a:latin typeface="Arial" pitchFamily="34" charset="0"/>
                          <a:ea typeface="Arial" pitchFamily="34" charset="-122"/>
                          <a:cs typeface="Arial" pitchFamily="34" charset="-120"/>
                        </a:rPr>
                        <a:t>. </a:t>
                      </a:r>
                      <a:r>
                        <a:rPr lang="en-US" sz="2000" dirty="0" err="1">
                          <a:solidFill>
                            <a:srgbClr val="000000"/>
                          </a:solidFill>
                          <a:latin typeface="Arial" pitchFamily="34" charset="0"/>
                          <a:ea typeface="Arial" pitchFamily="34" charset="-122"/>
                          <a:cs typeface="Arial" pitchFamily="34" charset="-120"/>
                        </a:rPr>
                        <a:t>علي</a:t>
                      </a:r>
                      <a:r>
                        <a:rPr lang="en-US" sz="2000" dirty="0">
                          <a:solidFill>
                            <a:srgbClr val="000000"/>
                          </a:solidFill>
                          <a:latin typeface="Arial" pitchFamily="34" charset="0"/>
                          <a:ea typeface="Arial" pitchFamily="34" charset="-122"/>
                          <a:cs typeface="Arial" pitchFamily="34" charset="-120"/>
                        </a:rPr>
                        <a:t> </a:t>
                      </a:r>
                      <a:r>
                        <a:rPr lang="en-US" sz="2000" dirty="0" err="1">
                          <a:solidFill>
                            <a:srgbClr val="000000"/>
                          </a:solidFill>
                          <a:latin typeface="Arial" pitchFamily="34" charset="0"/>
                          <a:ea typeface="Arial" pitchFamily="34" charset="-122"/>
                          <a:cs typeface="Arial" pitchFamily="34" charset="-120"/>
                        </a:rPr>
                        <a:t>عبدالعال</a:t>
                      </a:r>
                      <a:r>
                        <a:rPr lang="ar-AE" sz="2000" dirty="0">
                          <a:solidFill>
                            <a:srgbClr val="000000"/>
                          </a:solidFill>
                          <a:latin typeface="Arial" pitchFamily="34" charset="0"/>
                          <a:ea typeface="Arial" pitchFamily="34" charset="-122"/>
                          <a:cs typeface="Arial" pitchFamily="34" charset="-120"/>
                        </a:rPr>
                        <a:t> </a:t>
                      </a:r>
                      <a:r>
                        <a:rPr lang="en-US" sz="2000" dirty="0">
                          <a:solidFill>
                            <a:srgbClr val="000000"/>
                          </a:solidFill>
                          <a:latin typeface="Arial" pitchFamily="34" charset="0"/>
                          <a:ea typeface="Arial" pitchFamily="34" charset="-122"/>
                          <a:cs typeface="Arial" pitchFamily="34" charset="-120"/>
                        </a:rPr>
                        <a:t>، د.</a:t>
                      </a:r>
                      <a:r>
                        <a:rPr lang="ar-AE" sz="2000" dirty="0">
                          <a:solidFill>
                            <a:srgbClr val="000000"/>
                          </a:solidFill>
                          <a:latin typeface="Arial" pitchFamily="34" charset="0"/>
                          <a:ea typeface="Arial" pitchFamily="34" charset="-122"/>
                          <a:cs typeface="Arial" pitchFamily="34" charset="-120"/>
                        </a:rPr>
                        <a:t> </a:t>
                      </a:r>
                      <a:r>
                        <a:rPr lang="en-US" sz="2000" dirty="0" err="1">
                          <a:solidFill>
                            <a:srgbClr val="000000"/>
                          </a:solidFill>
                          <a:latin typeface="Arial" pitchFamily="34" charset="0"/>
                          <a:ea typeface="Arial" pitchFamily="34" charset="-122"/>
                          <a:cs typeface="Arial" pitchFamily="34" charset="-120"/>
                        </a:rPr>
                        <a:t>محمد</a:t>
                      </a:r>
                      <a:r>
                        <a:rPr lang="en-US" sz="2000" dirty="0">
                          <a:solidFill>
                            <a:srgbClr val="000000"/>
                          </a:solidFill>
                          <a:latin typeface="Arial" pitchFamily="34" charset="0"/>
                          <a:ea typeface="Arial" pitchFamily="34" charset="-122"/>
                          <a:cs typeface="Arial" pitchFamily="34" charset="-120"/>
                        </a:rPr>
                        <a:t> </a:t>
                      </a:r>
                      <a:r>
                        <a:rPr lang="en-US" sz="2000" dirty="0" err="1">
                          <a:solidFill>
                            <a:srgbClr val="000000"/>
                          </a:solidFill>
                          <a:latin typeface="Arial" pitchFamily="34" charset="0"/>
                          <a:ea typeface="Arial" pitchFamily="34" charset="-122"/>
                          <a:cs typeface="Arial" pitchFamily="34" charset="-120"/>
                        </a:rPr>
                        <a:t>سعيد</a:t>
                      </a:r>
                      <a:r>
                        <a:rPr lang="ar-AE" sz="2000" dirty="0">
                          <a:solidFill>
                            <a:srgbClr val="000000"/>
                          </a:solidFill>
                          <a:latin typeface="Arial" pitchFamily="34" charset="0"/>
                          <a:ea typeface="Arial" pitchFamily="34" charset="-122"/>
                          <a:cs typeface="Arial" pitchFamily="34" charset="-120"/>
                        </a:rPr>
                        <a:t> </a:t>
                      </a:r>
                      <a:r>
                        <a:rPr lang="en-US" sz="2000" dirty="0">
                          <a:solidFill>
                            <a:srgbClr val="000000"/>
                          </a:solidFill>
                          <a:latin typeface="Arial" pitchFamily="34" charset="0"/>
                          <a:ea typeface="Arial" pitchFamily="34" charset="-122"/>
                          <a:cs typeface="Arial" pitchFamily="34" charset="-120"/>
                        </a:rPr>
                        <a:t>، د.</a:t>
                      </a:r>
                      <a:r>
                        <a:rPr lang="ar-AE" sz="2000" dirty="0">
                          <a:solidFill>
                            <a:srgbClr val="000000"/>
                          </a:solidFill>
                          <a:latin typeface="Arial" pitchFamily="34" charset="0"/>
                          <a:ea typeface="Arial" pitchFamily="34" charset="-122"/>
                          <a:cs typeface="Arial" pitchFamily="34" charset="-120"/>
                        </a:rPr>
                        <a:t>د</a:t>
                      </a:r>
                      <a:r>
                        <a:rPr lang="en-US" sz="2000" dirty="0">
                          <a:solidFill>
                            <a:srgbClr val="000000"/>
                          </a:solidFill>
                          <a:latin typeface="Arial" pitchFamily="34" charset="0"/>
                          <a:ea typeface="Arial" pitchFamily="34" charset="-122"/>
                          <a:cs typeface="Arial" pitchFamily="34" charset="-120"/>
                        </a:rPr>
                        <a:t> </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جميع المفتشين</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extLst>
                  <a:ext uri="{0D108BD9-81ED-4DB2-BD59-A6C34878D82A}">
                    <a16:rowId xmlns:a16="http://schemas.microsoft.com/office/drawing/2014/main" val="10001"/>
                  </a:ext>
                </a:extLst>
              </a:tr>
              <a:tr h="384048">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2025-11-25</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تاريخ التفتيش</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extLst>
                  <a:ext uri="{0D108BD9-81ED-4DB2-BD59-A6C34878D82A}">
                    <a16:rowId xmlns:a16="http://schemas.microsoft.com/office/drawing/2014/main" val="10002"/>
                  </a:ext>
                </a:extLst>
              </a:tr>
              <a:tr h="384048">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صباحية</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المناوبة</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extLst>
                  <a:ext uri="{0D108BD9-81ED-4DB2-BD59-A6C34878D82A}">
                    <a16:rowId xmlns:a16="http://schemas.microsoft.com/office/drawing/2014/main" val="10003"/>
                  </a:ext>
                </a:extLst>
              </a:tr>
              <a:tr h="384048">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جزيرة ياس</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المنطقة</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extLst>
                  <a:ext uri="{0D108BD9-81ED-4DB2-BD59-A6C34878D82A}">
                    <a16:rowId xmlns:a16="http://schemas.microsoft.com/office/drawing/2014/main" val="10004"/>
                  </a:ext>
                </a:extLst>
              </a:tr>
              <a:tr h="384048">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سى وورلد جزيرة ياس</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المحلات</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extLst>
                  <a:ext uri="{0D108BD9-81ED-4DB2-BD59-A6C34878D82A}">
                    <a16:rowId xmlns:a16="http://schemas.microsoft.com/office/drawing/2014/main" val="10005"/>
                  </a:ext>
                </a:extLst>
              </a:tr>
              <a:tr h="384048">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الثلاثاء٢٥ نوفمبر٢٠٢٥</a:t>
                      </a:r>
                      <a:r>
                        <a:rPr lang="ar-AE" sz="2000" dirty="0">
                          <a:solidFill>
                            <a:srgbClr val="000000"/>
                          </a:solidFill>
                          <a:latin typeface="Arial" pitchFamily="34" charset="0"/>
                          <a:ea typeface="Arial" pitchFamily="34" charset="-122"/>
                          <a:cs typeface="Arial" pitchFamily="34" charset="-120"/>
                        </a:rPr>
                        <a:t>  - 10:00 ص</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وقت الإرسال</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extLst>
                  <a:ext uri="{0D108BD9-81ED-4DB2-BD59-A6C34878D82A}">
                    <a16:rowId xmlns:a16="http://schemas.microsoft.com/office/drawing/2014/main" val="10006"/>
                  </a:ext>
                </a:extLst>
              </a:tr>
              <a:tr h="384048">
                <a:tc>
                  <a:txBody>
                    <a:bodyPr/>
                    <a:lstStyle/>
                    <a:p>
                      <a:pPr marL="0" indent="0" algn="r">
                        <a:buNone/>
                      </a:pPr>
                      <a:r>
                        <a:rPr lang="ar-AE" sz="2000" dirty="0">
                          <a:solidFill>
                            <a:srgbClr val="000000"/>
                          </a:solidFill>
                          <a:latin typeface="Arial" pitchFamily="34" charset="0"/>
                          <a:ea typeface="Arial" pitchFamily="34" charset="-122"/>
                          <a:cs typeface="Arial" pitchFamily="34" charset="-120"/>
                        </a:rPr>
                        <a:t>11689997</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tc>
                  <a:txBody>
                    <a:bodyPr/>
                    <a:lstStyle/>
                    <a:p>
                      <a:pPr marL="0" indent="0" algn="r">
                        <a:buNone/>
                      </a:pPr>
                      <a:r>
                        <a:rPr lang="en-US" sz="2000" dirty="0" err="1">
                          <a:solidFill>
                            <a:srgbClr val="000000"/>
                          </a:solidFill>
                          <a:latin typeface="Arial" pitchFamily="34" charset="0"/>
                          <a:ea typeface="Arial" pitchFamily="34" charset="-122"/>
                          <a:cs typeface="Arial" pitchFamily="34" charset="-120"/>
                        </a:rPr>
                        <a:t>رقم</a:t>
                      </a:r>
                      <a:r>
                        <a:rPr lang="en-US" sz="2000" dirty="0">
                          <a:solidFill>
                            <a:srgbClr val="000000"/>
                          </a:solidFill>
                          <a:latin typeface="Arial" pitchFamily="34" charset="0"/>
                          <a:ea typeface="Arial" pitchFamily="34" charset="-122"/>
                          <a:cs typeface="Arial" pitchFamily="34" charset="-120"/>
                        </a:rPr>
                        <a:t> </a:t>
                      </a:r>
                      <a:r>
                        <a:rPr lang="ar-AE" sz="2000" dirty="0">
                          <a:solidFill>
                            <a:srgbClr val="000000"/>
                          </a:solidFill>
                          <a:latin typeface="Arial" pitchFamily="34" charset="0"/>
                          <a:ea typeface="Arial" pitchFamily="34" charset="-122"/>
                          <a:cs typeface="Arial" pitchFamily="34" charset="-120"/>
                        </a:rPr>
                        <a:t>مهمة التفتيش </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extLst>
                  <a:ext uri="{0D108BD9-81ED-4DB2-BD59-A6C34878D82A}">
                    <a16:rowId xmlns:a16="http://schemas.microsoft.com/office/drawing/2014/main" val="10007"/>
                  </a:ext>
                </a:extLst>
              </a:tr>
              <a:tr h="384048">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75%</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نسبة الامتثال</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extLst>
                  <a:ext uri="{0D108BD9-81ED-4DB2-BD59-A6C34878D82A}">
                    <a16:rowId xmlns:a16="http://schemas.microsoft.com/office/drawing/2014/main" val="10008"/>
                  </a:ext>
                </a:extLst>
              </a:tr>
              <a:tr h="384048">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3</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بنود مستوفاة ✅</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extLst>
                  <a:ext uri="{0D108BD9-81ED-4DB2-BD59-A6C34878D82A}">
                    <a16:rowId xmlns:a16="http://schemas.microsoft.com/office/drawing/2014/main" val="10009"/>
                  </a:ext>
                </a:extLst>
              </a:tr>
              <a:tr h="384048">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1</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بنود غير مستوفاة ❌</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extLst>
                  <a:ext uri="{0D108BD9-81ED-4DB2-BD59-A6C34878D82A}">
                    <a16:rowId xmlns:a16="http://schemas.microsoft.com/office/drawing/2014/main" val="10010"/>
                  </a:ext>
                </a:extLst>
              </a:tr>
              <a:tr h="384048">
                <a:tc>
                  <a:txBody>
                    <a:bodyPr/>
                    <a:lstStyle/>
                    <a:p>
                      <a:pPr marL="0" indent="0" algn="r">
                        <a:buNone/>
                      </a:pPr>
                      <a:r>
                        <a:rPr lang="ar-AE" sz="2000" dirty="0">
                          <a:solidFill>
                            <a:srgbClr val="000000"/>
                          </a:solidFill>
                          <a:latin typeface="Arial" pitchFamily="34" charset="0"/>
                          <a:ea typeface="Arial" pitchFamily="34" charset="-122"/>
                          <a:cs typeface="Arial" pitchFamily="34" charset="-120"/>
                        </a:rPr>
                        <a:t>4</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tc>
                  <a:txBody>
                    <a:bodyPr/>
                    <a:lstStyle/>
                    <a:p>
                      <a:pPr marL="0" indent="0" algn="r">
                        <a:buNone/>
                      </a:pPr>
                      <a:r>
                        <a:rPr lang="en-US" sz="2000" dirty="0">
                          <a:solidFill>
                            <a:srgbClr val="000000"/>
                          </a:solidFill>
                          <a:latin typeface="Arial" pitchFamily="34" charset="0"/>
                          <a:ea typeface="Arial" pitchFamily="34" charset="-122"/>
                          <a:cs typeface="Arial" pitchFamily="34" charset="-120"/>
                        </a:rPr>
                        <a:t>عدد الصور 📷</a:t>
                      </a:r>
                      <a:endParaRPr lang="en-US" sz="2000" dirty="0">
                        <a:latin typeface="Arial" charset="0"/>
                        <a:ea typeface="Arial" charset="0"/>
                        <a:cs typeface="Arial" charset="0"/>
                      </a:endParaRPr>
                    </a:p>
                  </a:txBody>
                  <a:tcPr marT="91440" marB="91440" anchor="ctr">
                    <a:lnL w="25400" cap="flat" cmpd="sng" algn="ctr">
                      <a:solidFill>
                        <a:srgbClr val="FF9800"/>
                      </a:solidFill>
                      <a:prstDash val="solid"/>
                      <a:round/>
                      <a:headEnd type="none" w="med" len="med"/>
                      <a:tailEnd type="none" w="med" len="med"/>
                    </a:lnL>
                    <a:lnR w="25400" cap="flat" cmpd="sng" algn="ctr">
                      <a:solidFill>
                        <a:srgbClr val="FF9800"/>
                      </a:solidFill>
                      <a:prstDash val="solid"/>
                      <a:round/>
                      <a:headEnd type="none" w="med" len="med"/>
                      <a:tailEnd type="none" w="med" len="med"/>
                    </a:lnR>
                    <a:lnT w="25400" cap="flat" cmpd="sng" algn="ctr">
                      <a:solidFill>
                        <a:srgbClr val="FF9800"/>
                      </a:solidFill>
                      <a:prstDash val="solid"/>
                      <a:round/>
                      <a:headEnd type="none" w="med" len="med"/>
                      <a:tailEnd type="none" w="med" len="med"/>
                    </a:lnT>
                    <a:lnB w="25400" cap="flat" cmpd="sng" algn="ctr">
                      <a:solidFill>
                        <a:srgbClr val="FF9800"/>
                      </a:solidFill>
                      <a:prstDash val="solid"/>
                      <a:round/>
                      <a:headEnd type="none" w="med" len="med"/>
                      <a:tailEnd type="none" w="med" len="med"/>
                    </a:lnB>
                    <a:solidFill>
                      <a:srgbClr val="ECF0F1"/>
                    </a:solidFill>
                  </a:tcPr>
                </a:tc>
                <a:extLst>
                  <a:ext uri="{0D108BD9-81ED-4DB2-BD59-A6C34878D82A}">
                    <a16:rowId xmlns:a16="http://schemas.microsoft.com/office/drawing/2014/main" val="10011"/>
                  </a:ext>
                </a:extLst>
              </a:tr>
            </a:tbl>
          </a:graphicData>
        </a:graphic>
      </p:graphicFrame>
      <p:sp>
        <p:nvSpPr>
          <p:cNvPr id="5" name="Shape 2"/>
          <p:cNvSpPr/>
          <p:nvPr/>
        </p:nvSpPr>
        <p:spPr>
          <a:xfrm>
            <a:off x="5281127" y="5326847"/>
            <a:ext cx="914400" cy="365760"/>
          </a:xfrm>
          <a:prstGeom prst="rect">
            <a:avLst/>
          </a:prstGeom>
          <a:solidFill>
            <a:srgbClr val="F39C12"/>
          </a:solidFill>
          <a:ln/>
        </p:spPr>
        <p:txBody>
          <a:bodyPr/>
          <a:lstStyle/>
          <a:p>
            <a:pPr algn="r" rtl="1"/>
            <a:endParaRPr lang="en-US" dirty="0"/>
          </a:p>
        </p:txBody>
      </p:sp>
      <p:sp>
        <p:nvSpPr>
          <p:cNvPr id="6" name="Text 3"/>
          <p:cNvSpPr/>
          <p:nvPr/>
        </p:nvSpPr>
        <p:spPr>
          <a:xfrm>
            <a:off x="5281127" y="5326847"/>
            <a:ext cx="914400" cy="36576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75%</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47665" y="137160"/>
            <a:ext cx="9144000" cy="731520"/>
          </a:xfrm>
          <a:prstGeom prst="rect">
            <a:avLst/>
          </a:prstGeom>
          <a:solidFill>
            <a:srgbClr val="4A90E2"/>
          </a:solidFill>
          <a:ln/>
        </p:spPr>
        <p:txBody>
          <a:bodyPr/>
          <a:lstStyle/>
          <a:p>
            <a:endParaRPr lang="en-US"/>
          </a:p>
        </p:txBody>
      </p:sp>
      <p:sp>
        <p:nvSpPr>
          <p:cNvPr id="3" name="Text 1"/>
          <p:cNvSpPr/>
          <p:nvPr/>
        </p:nvSpPr>
        <p:spPr>
          <a:xfrm>
            <a:off x="1604865" y="274320"/>
            <a:ext cx="8229600" cy="457200"/>
          </a:xfrm>
          <a:prstGeom prst="rect">
            <a:avLst/>
          </a:prstGeom>
          <a:noFill/>
          <a:ln/>
        </p:spPr>
        <p:txBody>
          <a:bodyPr wrap="square"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 </a:t>
            </a:r>
            <a:r>
              <a:rPr lang="en-US" sz="3600" b="1" dirty="0" err="1">
                <a:solidFill>
                  <a:srgbClr val="FFFFFF"/>
                </a:solidFill>
                <a:latin typeface="Arial" pitchFamily="34" charset="0"/>
                <a:ea typeface="Arial" pitchFamily="34" charset="-122"/>
                <a:cs typeface="Arial" pitchFamily="34" charset="-120"/>
              </a:rPr>
              <a:t>بنود</a:t>
            </a:r>
            <a:r>
              <a:rPr lang="en-US" sz="3600" b="1" dirty="0">
                <a:solidFill>
                  <a:srgbClr val="FFFFFF"/>
                </a:solidFill>
                <a:latin typeface="Arial" pitchFamily="34" charset="0"/>
                <a:ea typeface="Arial" pitchFamily="34" charset="-122"/>
                <a:cs typeface="Arial" pitchFamily="34" charset="-120"/>
              </a:rPr>
              <a:t> التفتيش التفصيلية</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2300204254"/>
              </p:ext>
            </p:extLst>
          </p:nvPr>
        </p:nvGraphicFramePr>
        <p:xfrm>
          <a:off x="1604865" y="1212980"/>
          <a:ext cx="8229600" cy="3566160"/>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47472">
                <a:tc>
                  <a:txBody>
                    <a:bodyPr/>
                    <a:lstStyle/>
                    <a:p>
                      <a:pPr marL="0" indent="0" algn="r">
                        <a:buNone/>
                      </a:pPr>
                      <a:r>
                        <a:rPr lang="en-US" sz="1800" dirty="0">
                          <a:solidFill>
                            <a:srgbClr val="000000"/>
                          </a:solidFill>
                          <a:latin typeface="Arial" pitchFamily="34" charset="0"/>
                          <a:ea typeface="Arial" pitchFamily="34" charset="-122"/>
                          <a:cs typeface="Arial" pitchFamily="34" charset="-120"/>
                        </a:rPr>
                        <a:t>الحالة</a:t>
                      </a:r>
                      <a:endParaRPr lang="en-US" sz="1800" dirty="0">
                        <a:latin typeface="Arial" charset="0"/>
                        <a:ea typeface="Arial" charset="0"/>
                        <a:cs typeface="Arial" charset="0"/>
                      </a:endParaRPr>
                    </a:p>
                  </a:txBody>
                  <a:tcPr marT="91440" marB="91440" anchor="ctr">
                    <a:lnL w="25400" cap="flat" cmpd="sng" algn="ctr">
                      <a:solidFill>
                        <a:srgbClr val="4A90E2"/>
                      </a:solidFill>
                      <a:prstDash val="solid"/>
                      <a:round/>
                      <a:headEnd type="none" w="med" len="med"/>
                      <a:tailEnd type="none" w="med" len="med"/>
                    </a:lnL>
                    <a:lnR w="25400" cap="flat" cmpd="sng" algn="ctr">
                      <a:solidFill>
                        <a:srgbClr val="4A90E2"/>
                      </a:solidFill>
                      <a:prstDash val="solid"/>
                      <a:round/>
                      <a:headEnd type="none" w="med" len="med"/>
                      <a:tailEnd type="none" w="med" len="med"/>
                    </a:lnR>
                    <a:lnT w="25400" cap="flat" cmpd="sng" algn="ctr">
                      <a:solidFill>
                        <a:srgbClr val="4A90E2"/>
                      </a:solidFill>
                      <a:prstDash val="solid"/>
                      <a:round/>
                      <a:headEnd type="none" w="med" len="med"/>
                      <a:tailEnd type="none" w="med" len="med"/>
                    </a:lnT>
                    <a:lnB w="25400" cap="flat" cmpd="sng" algn="ctr">
                      <a:solidFill>
                        <a:srgbClr val="4A90E2"/>
                      </a:solidFill>
                      <a:prstDash val="solid"/>
                      <a:round/>
                      <a:headEnd type="none" w="med" len="med"/>
                      <a:tailEnd type="none" w="med" len="med"/>
                    </a:lnB>
                    <a:solidFill>
                      <a:srgbClr val="ECF0F1"/>
                    </a:solidFill>
                  </a:tcPr>
                </a:tc>
                <a:tc>
                  <a:txBody>
                    <a:bodyPr/>
                    <a:lstStyle/>
                    <a:p>
                      <a:pPr marL="0" indent="0" algn="r">
                        <a:buNone/>
                      </a:pPr>
                      <a:r>
                        <a:rPr lang="en-US" sz="1800" dirty="0">
                          <a:solidFill>
                            <a:srgbClr val="000000"/>
                          </a:solidFill>
                          <a:latin typeface="Arial" pitchFamily="34" charset="0"/>
                          <a:ea typeface="Arial" pitchFamily="34" charset="-122"/>
                          <a:cs typeface="Arial" pitchFamily="34" charset="-120"/>
                        </a:rPr>
                        <a:t>البند</a:t>
                      </a:r>
                      <a:endParaRPr lang="en-US" sz="1800" dirty="0">
                        <a:latin typeface="Arial" charset="0"/>
                        <a:ea typeface="Arial" charset="0"/>
                        <a:cs typeface="Arial" charset="0"/>
                      </a:endParaRPr>
                    </a:p>
                  </a:txBody>
                  <a:tcPr marT="91440" marB="91440" anchor="ctr">
                    <a:lnL w="25400" cap="flat" cmpd="sng" algn="ctr">
                      <a:solidFill>
                        <a:srgbClr val="4A90E2"/>
                      </a:solidFill>
                      <a:prstDash val="solid"/>
                      <a:round/>
                      <a:headEnd type="none" w="med" len="med"/>
                      <a:tailEnd type="none" w="med" len="med"/>
                    </a:lnL>
                    <a:lnR w="25400" cap="flat" cmpd="sng" algn="ctr">
                      <a:solidFill>
                        <a:srgbClr val="4A90E2"/>
                      </a:solidFill>
                      <a:prstDash val="solid"/>
                      <a:round/>
                      <a:headEnd type="none" w="med" len="med"/>
                      <a:tailEnd type="none" w="med" len="med"/>
                    </a:lnR>
                    <a:lnT w="25400" cap="flat" cmpd="sng" algn="ctr">
                      <a:solidFill>
                        <a:srgbClr val="4A90E2"/>
                      </a:solidFill>
                      <a:prstDash val="solid"/>
                      <a:round/>
                      <a:headEnd type="none" w="med" len="med"/>
                      <a:tailEnd type="none" w="med" len="med"/>
                    </a:lnT>
                    <a:lnB w="25400" cap="flat" cmpd="sng" algn="ctr">
                      <a:solidFill>
                        <a:srgbClr val="4A90E2"/>
                      </a:solidFill>
                      <a:prstDash val="solid"/>
                      <a:round/>
                      <a:headEnd type="none" w="med" len="med"/>
                      <a:tailEnd type="none" w="med" len="med"/>
                    </a:lnB>
                    <a:solidFill>
                      <a:srgbClr val="ECF0F1"/>
                    </a:solidFill>
                  </a:tcPr>
                </a:tc>
                <a:extLst>
                  <a:ext uri="{0D108BD9-81ED-4DB2-BD59-A6C34878D82A}">
                    <a16:rowId xmlns:a16="http://schemas.microsoft.com/office/drawing/2014/main" val="10000"/>
                  </a:ext>
                </a:extLst>
              </a:tr>
              <a:tr h="347472">
                <a:tc>
                  <a:txBody>
                    <a:bodyPr/>
                    <a:lstStyle/>
                    <a:p>
                      <a:pPr marL="0" indent="0" algn="r">
                        <a:buNone/>
                      </a:pPr>
                      <a:r>
                        <a:rPr lang="en-US" sz="1800" dirty="0">
                          <a:solidFill>
                            <a:srgbClr val="000000"/>
                          </a:solidFill>
                          <a:latin typeface="Arial" pitchFamily="34" charset="0"/>
                          <a:ea typeface="Arial" pitchFamily="34" charset="-122"/>
                          <a:cs typeface="Arial" pitchFamily="34" charset="-120"/>
                        </a:rPr>
                        <a:t>✅ مستوفى</a:t>
                      </a:r>
                      <a:endParaRPr lang="en-US" sz="1800" dirty="0">
                        <a:latin typeface="Arial" charset="0"/>
                        <a:ea typeface="Arial" charset="0"/>
                        <a:cs typeface="Arial" charset="0"/>
                      </a:endParaRPr>
                    </a:p>
                  </a:txBody>
                  <a:tcPr marT="91440" marB="91440" anchor="ctr">
                    <a:lnL w="25400" cap="flat" cmpd="sng" algn="ctr">
                      <a:solidFill>
                        <a:srgbClr val="4A90E2"/>
                      </a:solidFill>
                      <a:prstDash val="solid"/>
                      <a:round/>
                      <a:headEnd type="none" w="med" len="med"/>
                      <a:tailEnd type="none" w="med" len="med"/>
                    </a:lnL>
                    <a:lnR w="25400" cap="flat" cmpd="sng" algn="ctr">
                      <a:solidFill>
                        <a:srgbClr val="4A90E2"/>
                      </a:solidFill>
                      <a:prstDash val="solid"/>
                      <a:round/>
                      <a:headEnd type="none" w="med" len="med"/>
                      <a:tailEnd type="none" w="med" len="med"/>
                    </a:lnR>
                    <a:lnT w="25400" cap="flat" cmpd="sng" algn="ctr">
                      <a:solidFill>
                        <a:srgbClr val="4A90E2"/>
                      </a:solidFill>
                      <a:prstDash val="solid"/>
                      <a:round/>
                      <a:headEnd type="none" w="med" len="med"/>
                      <a:tailEnd type="none" w="med" len="med"/>
                    </a:lnT>
                    <a:lnB w="25400" cap="flat" cmpd="sng" algn="ctr">
                      <a:solidFill>
                        <a:srgbClr val="4A90E2"/>
                      </a:solidFill>
                      <a:prstDash val="solid"/>
                      <a:round/>
                      <a:headEnd type="none" w="med" len="med"/>
                      <a:tailEnd type="none" w="med" len="med"/>
                    </a:lnB>
                    <a:solidFill>
                      <a:srgbClr val="ECF0F1"/>
                    </a:solidFill>
                  </a:tcPr>
                </a:tc>
                <a:tc>
                  <a:txBody>
                    <a:bodyPr/>
                    <a:lstStyle/>
                    <a:p>
                      <a:pPr marL="0" indent="0" algn="r">
                        <a:buNone/>
                      </a:pPr>
                      <a:r>
                        <a:rPr lang="en-US" sz="1800" dirty="0">
                          <a:solidFill>
                            <a:srgbClr val="000000"/>
                          </a:solidFill>
                          <a:latin typeface="Arial" pitchFamily="34" charset="0"/>
                          <a:ea typeface="Arial" pitchFamily="34" charset="-122"/>
                          <a:cs typeface="Arial" pitchFamily="34" charset="-120"/>
                        </a:rPr>
                        <a:t>بنود الرقابة على المنشآت غير الغذائية الخاضعة للرقابة الصحية</a:t>
                      </a:r>
                      <a:endParaRPr lang="en-US" sz="1800" dirty="0">
                        <a:latin typeface="Arial" charset="0"/>
                        <a:ea typeface="Arial" charset="0"/>
                        <a:cs typeface="Arial" charset="0"/>
                      </a:endParaRPr>
                    </a:p>
                  </a:txBody>
                  <a:tcPr marT="91440" marB="91440" anchor="ctr">
                    <a:lnL w="25400" cap="flat" cmpd="sng" algn="ctr">
                      <a:solidFill>
                        <a:srgbClr val="4A90E2"/>
                      </a:solidFill>
                      <a:prstDash val="solid"/>
                      <a:round/>
                      <a:headEnd type="none" w="med" len="med"/>
                      <a:tailEnd type="none" w="med" len="med"/>
                    </a:lnL>
                    <a:lnR w="25400" cap="flat" cmpd="sng" algn="ctr">
                      <a:solidFill>
                        <a:srgbClr val="4A90E2"/>
                      </a:solidFill>
                      <a:prstDash val="solid"/>
                      <a:round/>
                      <a:headEnd type="none" w="med" len="med"/>
                      <a:tailEnd type="none" w="med" len="med"/>
                    </a:lnR>
                    <a:lnT w="25400" cap="flat" cmpd="sng" algn="ctr">
                      <a:solidFill>
                        <a:srgbClr val="4A90E2"/>
                      </a:solidFill>
                      <a:prstDash val="solid"/>
                      <a:round/>
                      <a:headEnd type="none" w="med" len="med"/>
                      <a:tailEnd type="none" w="med" len="med"/>
                    </a:lnT>
                    <a:lnB w="25400" cap="flat" cmpd="sng" algn="ctr">
                      <a:solidFill>
                        <a:srgbClr val="4A90E2"/>
                      </a:solidFill>
                      <a:prstDash val="solid"/>
                      <a:round/>
                      <a:headEnd type="none" w="med" len="med"/>
                      <a:tailEnd type="none" w="med" len="med"/>
                    </a:lnB>
                    <a:solidFill>
                      <a:srgbClr val="ECF0F1"/>
                    </a:solidFill>
                  </a:tcPr>
                </a:tc>
                <a:extLst>
                  <a:ext uri="{0D108BD9-81ED-4DB2-BD59-A6C34878D82A}">
                    <a16:rowId xmlns:a16="http://schemas.microsoft.com/office/drawing/2014/main" val="10001"/>
                  </a:ext>
                </a:extLst>
              </a:tr>
              <a:tr h="347472">
                <a:tc>
                  <a:txBody>
                    <a:bodyPr/>
                    <a:lstStyle/>
                    <a:p>
                      <a:pPr marL="0" indent="0" algn="r">
                        <a:buNone/>
                      </a:pPr>
                      <a:r>
                        <a:rPr lang="en-US" sz="1800" dirty="0">
                          <a:solidFill>
                            <a:srgbClr val="000000"/>
                          </a:solidFill>
                          <a:latin typeface="Arial" pitchFamily="34" charset="0"/>
                          <a:ea typeface="Arial" pitchFamily="34" charset="-122"/>
                          <a:cs typeface="Arial" pitchFamily="34" charset="-120"/>
                        </a:rPr>
                        <a:t>✅ مستوفى</a:t>
                      </a:r>
                      <a:endParaRPr lang="en-US" sz="1800" dirty="0">
                        <a:latin typeface="Arial" charset="0"/>
                        <a:ea typeface="Arial" charset="0"/>
                        <a:cs typeface="Arial" charset="0"/>
                      </a:endParaRPr>
                    </a:p>
                  </a:txBody>
                  <a:tcPr marT="91440" marB="91440" anchor="ctr">
                    <a:lnL w="25400" cap="flat" cmpd="sng" algn="ctr">
                      <a:solidFill>
                        <a:srgbClr val="4A90E2"/>
                      </a:solidFill>
                      <a:prstDash val="solid"/>
                      <a:round/>
                      <a:headEnd type="none" w="med" len="med"/>
                      <a:tailEnd type="none" w="med" len="med"/>
                    </a:lnL>
                    <a:lnR w="25400" cap="flat" cmpd="sng" algn="ctr">
                      <a:solidFill>
                        <a:srgbClr val="4A90E2"/>
                      </a:solidFill>
                      <a:prstDash val="solid"/>
                      <a:round/>
                      <a:headEnd type="none" w="med" len="med"/>
                      <a:tailEnd type="none" w="med" len="med"/>
                    </a:lnR>
                    <a:lnT w="25400" cap="flat" cmpd="sng" algn="ctr">
                      <a:solidFill>
                        <a:srgbClr val="4A90E2"/>
                      </a:solidFill>
                      <a:prstDash val="solid"/>
                      <a:round/>
                      <a:headEnd type="none" w="med" len="med"/>
                      <a:tailEnd type="none" w="med" len="med"/>
                    </a:lnT>
                    <a:lnB w="25400" cap="flat" cmpd="sng" algn="ctr">
                      <a:solidFill>
                        <a:srgbClr val="4A90E2"/>
                      </a:solidFill>
                      <a:prstDash val="solid"/>
                      <a:round/>
                      <a:headEnd type="none" w="med" len="med"/>
                      <a:tailEnd type="none" w="med" len="med"/>
                    </a:lnB>
                    <a:solidFill>
                      <a:srgbClr val="ECF0F1"/>
                    </a:solidFill>
                  </a:tcPr>
                </a:tc>
                <a:tc>
                  <a:txBody>
                    <a:bodyPr/>
                    <a:lstStyle/>
                    <a:p>
                      <a:pPr marL="0" indent="0" algn="r">
                        <a:buNone/>
                      </a:pPr>
                      <a:r>
                        <a:rPr lang="en-US" sz="1800" dirty="0">
                          <a:solidFill>
                            <a:srgbClr val="000000"/>
                          </a:solidFill>
                          <a:latin typeface="Arial" pitchFamily="34" charset="0"/>
                          <a:ea typeface="Arial" pitchFamily="34" charset="-122"/>
                          <a:cs typeface="Arial" pitchFamily="34" charset="-120"/>
                        </a:rPr>
                        <a:t>بنود الرقابة على المنشآت الخاضعة للرقابة البيطرية</a:t>
                      </a:r>
                      <a:endParaRPr lang="en-US" sz="1800" dirty="0">
                        <a:latin typeface="Arial" charset="0"/>
                        <a:ea typeface="Arial" charset="0"/>
                        <a:cs typeface="Arial" charset="0"/>
                      </a:endParaRPr>
                    </a:p>
                  </a:txBody>
                  <a:tcPr marT="91440" marB="91440" anchor="ctr">
                    <a:lnL w="25400" cap="flat" cmpd="sng" algn="ctr">
                      <a:solidFill>
                        <a:srgbClr val="4A90E2"/>
                      </a:solidFill>
                      <a:prstDash val="solid"/>
                      <a:round/>
                      <a:headEnd type="none" w="med" len="med"/>
                      <a:tailEnd type="none" w="med" len="med"/>
                    </a:lnL>
                    <a:lnR w="25400" cap="flat" cmpd="sng" algn="ctr">
                      <a:solidFill>
                        <a:srgbClr val="4A90E2"/>
                      </a:solidFill>
                      <a:prstDash val="solid"/>
                      <a:round/>
                      <a:headEnd type="none" w="med" len="med"/>
                      <a:tailEnd type="none" w="med" len="med"/>
                    </a:lnR>
                    <a:lnT w="25400" cap="flat" cmpd="sng" algn="ctr">
                      <a:solidFill>
                        <a:srgbClr val="4A90E2"/>
                      </a:solidFill>
                      <a:prstDash val="solid"/>
                      <a:round/>
                      <a:headEnd type="none" w="med" len="med"/>
                      <a:tailEnd type="none" w="med" len="med"/>
                    </a:lnT>
                    <a:lnB w="25400" cap="flat" cmpd="sng" algn="ctr">
                      <a:solidFill>
                        <a:srgbClr val="4A90E2"/>
                      </a:solidFill>
                      <a:prstDash val="solid"/>
                      <a:round/>
                      <a:headEnd type="none" w="med" len="med"/>
                      <a:tailEnd type="none" w="med" len="med"/>
                    </a:lnB>
                    <a:solidFill>
                      <a:srgbClr val="ECF0F1"/>
                    </a:solidFill>
                  </a:tcPr>
                </a:tc>
                <a:extLst>
                  <a:ext uri="{0D108BD9-81ED-4DB2-BD59-A6C34878D82A}">
                    <a16:rowId xmlns:a16="http://schemas.microsoft.com/office/drawing/2014/main" val="10002"/>
                  </a:ext>
                </a:extLst>
              </a:tr>
              <a:tr h="347472">
                <a:tc>
                  <a:txBody>
                    <a:bodyPr/>
                    <a:lstStyle/>
                    <a:p>
                      <a:pPr marL="0" indent="0" algn="r">
                        <a:buNone/>
                      </a:pPr>
                      <a:r>
                        <a:rPr lang="en-US" sz="1800" dirty="0">
                          <a:solidFill>
                            <a:srgbClr val="000000"/>
                          </a:solidFill>
                          <a:latin typeface="Arial" pitchFamily="34" charset="0"/>
                          <a:ea typeface="Arial" pitchFamily="34" charset="-122"/>
                          <a:cs typeface="Arial" pitchFamily="34" charset="-120"/>
                        </a:rPr>
                        <a:t>❌ غير مستوفى</a:t>
                      </a:r>
                      <a:endParaRPr lang="en-US" sz="1800" dirty="0">
                        <a:latin typeface="Arial" charset="0"/>
                        <a:ea typeface="Arial" charset="0"/>
                        <a:cs typeface="Arial" charset="0"/>
                      </a:endParaRPr>
                    </a:p>
                  </a:txBody>
                  <a:tcPr marT="91440" marB="91440" anchor="ctr">
                    <a:lnL w="25400" cap="flat" cmpd="sng" algn="ctr">
                      <a:solidFill>
                        <a:srgbClr val="4A90E2"/>
                      </a:solidFill>
                      <a:prstDash val="solid"/>
                      <a:round/>
                      <a:headEnd type="none" w="med" len="med"/>
                      <a:tailEnd type="none" w="med" len="med"/>
                    </a:lnL>
                    <a:lnR w="25400" cap="flat" cmpd="sng" algn="ctr">
                      <a:solidFill>
                        <a:srgbClr val="4A90E2"/>
                      </a:solidFill>
                      <a:prstDash val="solid"/>
                      <a:round/>
                      <a:headEnd type="none" w="med" len="med"/>
                      <a:tailEnd type="none" w="med" len="med"/>
                    </a:lnR>
                    <a:lnT w="25400" cap="flat" cmpd="sng" algn="ctr">
                      <a:solidFill>
                        <a:srgbClr val="4A90E2"/>
                      </a:solidFill>
                      <a:prstDash val="solid"/>
                      <a:round/>
                      <a:headEnd type="none" w="med" len="med"/>
                      <a:tailEnd type="none" w="med" len="med"/>
                    </a:lnT>
                    <a:lnB w="25400" cap="flat" cmpd="sng" algn="ctr">
                      <a:solidFill>
                        <a:srgbClr val="4A90E2"/>
                      </a:solidFill>
                      <a:prstDash val="solid"/>
                      <a:round/>
                      <a:headEnd type="none" w="med" len="med"/>
                      <a:tailEnd type="none" w="med" len="med"/>
                    </a:lnB>
                    <a:solidFill>
                      <a:srgbClr val="ECF0F1"/>
                    </a:solidFill>
                  </a:tcPr>
                </a:tc>
                <a:tc>
                  <a:txBody>
                    <a:bodyPr/>
                    <a:lstStyle/>
                    <a:p>
                      <a:pPr marL="0" indent="0" algn="r">
                        <a:buNone/>
                      </a:pPr>
                      <a:r>
                        <a:rPr lang="en-US" sz="1800" dirty="0">
                          <a:solidFill>
                            <a:srgbClr val="000000"/>
                          </a:solidFill>
                          <a:latin typeface="Arial" pitchFamily="34" charset="0"/>
                          <a:ea typeface="Arial" pitchFamily="34" charset="-122"/>
                          <a:cs typeface="Arial" pitchFamily="34" charset="-120"/>
                        </a:rPr>
                        <a:t>بنود الرقابة على منشآت </a:t>
                      </a:r>
                      <a:r>
                        <a:rPr lang="en-US" sz="1800" dirty="0" err="1">
                          <a:solidFill>
                            <a:srgbClr val="000000"/>
                          </a:solidFill>
                          <a:latin typeface="Arial" pitchFamily="34" charset="0"/>
                          <a:ea typeface="Arial" pitchFamily="34" charset="-122"/>
                          <a:cs typeface="Arial" pitchFamily="34" charset="-120"/>
                        </a:rPr>
                        <a:t>الحيوانات</a:t>
                      </a:r>
                      <a:r>
                        <a:rPr lang="en-US" sz="1800" dirty="0">
                          <a:solidFill>
                            <a:srgbClr val="000000"/>
                          </a:solidFill>
                          <a:latin typeface="Arial" pitchFamily="34" charset="0"/>
                          <a:ea typeface="Arial" pitchFamily="34" charset="-122"/>
                          <a:cs typeface="Arial" pitchFamily="34" charset="-120"/>
                        </a:rPr>
                        <a:t> </a:t>
                      </a:r>
                      <a:r>
                        <a:rPr lang="en-US" sz="1800" dirty="0" err="1">
                          <a:solidFill>
                            <a:srgbClr val="000000"/>
                          </a:solidFill>
                          <a:latin typeface="Arial" pitchFamily="34" charset="0"/>
                          <a:ea typeface="Arial" pitchFamily="34" charset="-122"/>
                          <a:cs typeface="Arial" pitchFamily="34" charset="-120"/>
                        </a:rPr>
                        <a:t>الأليفة</a:t>
                      </a:r>
                      <a:r>
                        <a:rPr lang="ar-AE" sz="1800" dirty="0">
                          <a:solidFill>
                            <a:srgbClr val="000000"/>
                          </a:solidFill>
                          <a:latin typeface="Arial" pitchFamily="34" charset="0"/>
                          <a:ea typeface="Arial" pitchFamily="34" charset="-122"/>
                          <a:cs typeface="Arial" pitchFamily="34" charset="-120"/>
                        </a:rPr>
                        <a:t> ( جميع البنود مستوفية ماعدا )</a:t>
                      </a:r>
                      <a:endParaRPr lang="en-US" sz="1800" dirty="0">
                        <a:latin typeface="Arial" charset="0"/>
                        <a:ea typeface="Arial" charset="0"/>
                        <a:cs typeface="Arial" charset="0"/>
                      </a:endParaRPr>
                    </a:p>
                  </a:txBody>
                  <a:tcPr marT="91440" marB="91440" anchor="ctr">
                    <a:lnL w="25400" cap="flat" cmpd="sng" algn="ctr">
                      <a:solidFill>
                        <a:srgbClr val="4A90E2"/>
                      </a:solidFill>
                      <a:prstDash val="solid"/>
                      <a:round/>
                      <a:headEnd type="none" w="med" len="med"/>
                      <a:tailEnd type="none" w="med" len="med"/>
                    </a:lnL>
                    <a:lnR w="25400" cap="flat" cmpd="sng" algn="ctr">
                      <a:solidFill>
                        <a:srgbClr val="4A90E2"/>
                      </a:solidFill>
                      <a:prstDash val="solid"/>
                      <a:round/>
                      <a:headEnd type="none" w="med" len="med"/>
                      <a:tailEnd type="none" w="med" len="med"/>
                    </a:lnR>
                    <a:lnT w="25400" cap="flat" cmpd="sng" algn="ctr">
                      <a:solidFill>
                        <a:srgbClr val="4A90E2"/>
                      </a:solidFill>
                      <a:prstDash val="solid"/>
                      <a:round/>
                      <a:headEnd type="none" w="med" len="med"/>
                      <a:tailEnd type="none" w="med" len="med"/>
                    </a:lnT>
                    <a:lnB w="25400" cap="flat" cmpd="sng" algn="ctr">
                      <a:solidFill>
                        <a:srgbClr val="4A90E2"/>
                      </a:solidFill>
                      <a:prstDash val="solid"/>
                      <a:round/>
                      <a:headEnd type="none" w="med" len="med"/>
                      <a:tailEnd type="none" w="med" len="med"/>
                    </a:lnB>
                    <a:solidFill>
                      <a:srgbClr val="ECF0F1"/>
                    </a:solidFill>
                  </a:tcPr>
                </a:tc>
                <a:extLst>
                  <a:ext uri="{0D108BD9-81ED-4DB2-BD59-A6C34878D82A}">
                    <a16:rowId xmlns:a16="http://schemas.microsoft.com/office/drawing/2014/main" val="10003"/>
                  </a:ext>
                </a:extLst>
              </a:tr>
              <a:tr h="347472">
                <a:tc>
                  <a:txBody>
                    <a:bodyPr/>
                    <a:lstStyle/>
                    <a:p>
                      <a:pPr marL="0" indent="0" algn="r">
                        <a:buNone/>
                      </a:pPr>
                      <a:r>
                        <a:rPr lang="en-US" sz="1800" dirty="0">
                          <a:solidFill>
                            <a:srgbClr val="000000"/>
                          </a:solidFill>
                          <a:latin typeface="Arial" pitchFamily="34" charset="0"/>
                          <a:ea typeface="Arial" pitchFamily="34" charset="-122"/>
                          <a:cs typeface="Arial" pitchFamily="34" charset="-120"/>
                        </a:rPr>
                        <a:t>↳ التفاصيل:</a:t>
                      </a:r>
                      <a:endParaRPr lang="en-US" sz="1800" dirty="0">
                        <a:latin typeface="Arial" charset="0"/>
                        <a:ea typeface="Arial" charset="0"/>
                        <a:cs typeface="Arial" charset="0"/>
                      </a:endParaRPr>
                    </a:p>
                  </a:txBody>
                  <a:tcPr marT="91440" marB="91440" anchor="ctr">
                    <a:lnL w="25400" cap="flat" cmpd="sng" algn="ctr">
                      <a:solidFill>
                        <a:srgbClr val="4A90E2"/>
                      </a:solidFill>
                      <a:prstDash val="solid"/>
                      <a:round/>
                      <a:headEnd type="none" w="med" len="med"/>
                      <a:tailEnd type="none" w="med" len="med"/>
                    </a:lnL>
                    <a:lnR w="25400" cap="flat" cmpd="sng" algn="ctr">
                      <a:solidFill>
                        <a:srgbClr val="4A90E2"/>
                      </a:solidFill>
                      <a:prstDash val="solid"/>
                      <a:round/>
                      <a:headEnd type="none" w="med" len="med"/>
                      <a:tailEnd type="none" w="med" len="med"/>
                    </a:lnR>
                    <a:lnT w="25400" cap="flat" cmpd="sng" algn="ctr">
                      <a:solidFill>
                        <a:srgbClr val="4A90E2"/>
                      </a:solidFill>
                      <a:prstDash val="solid"/>
                      <a:round/>
                      <a:headEnd type="none" w="med" len="med"/>
                      <a:tailEnd type="none" w="med" len="med"/>
                    </a:lnT>
                    <a:lnB w="25400" cap="flat" cmpd="sng" algn="ctr">
                      <a:solidFill>
                        <a:srgbClr val="4A90E2"/>
                      </a:solidFill>
                      <a:prstDash val="solid"/>
                      <a:round/>
                      <a:headEnd type="none" w="med" len="med"/>
                      <a:tailEnd type="none" w="med" len="med"/>
                    </a:lnB>
                    <a:solidFill>
                      <a:srgbClr val="ECF0F1"/>
                    </a:solidFill>
                  </a:tcPr>
                </a:tc>
                <a:tc>
                  <a:txBody>
                    <a:bodyPr/>
                    <a:lstStyle/>
                    <a:p>
                      <a:pPr marL="0" indent="0" algn="r">
                        <a:buNone/>
                      </a:pPr>
                      <a:r>
                        <a:rPr lang="ar-AE" sz="1800" dirty="0">
                          <a:solidFill>
                            <a:srgbClr val="000000"/>
                          </a:solidFill>
                          <a:latin typeface="Arial" pitchFamily="34" charset="0"/>
                          <a:ea typeface="Arial" pitchFamily="34" charset="-122"/>
                          <a:cs typeface="Arial" pitchFamily="34" charset="-120"/>
                        </a:rPr>
                        <a:t>بند </a:t>
                      </a:r>
                      <a:r>
                        <a:rPr lang="en-US" sz="1800" dirty="0" err="1">
                          <a:solidFill>
                            <a:srgbClr val="000000"/>
                          </a:solidFill>
                          <a:latin typeface="Arial" pitchFamily="34" charset="0"/>
                          <a:ea typeface="Arial" pitchFamily="34" charset="-122"/>
                          <a:cs typeface="Arial" pitchFamily="34" charset="-120"/>
                        </a:rPr>
                        <a:t>بيع</a:t>
                      </a:r>
                      <a:r>
                        <a:rPr lang="en-US" sz="1800" dirty="0">
                          <a:solidFill>
                            <a:srgbClr val="000000"/>
                          </a:solidFill>
                          <a:latin typeface="Arial" pitchFamily="34" charset="0"/>
                          <a:ea typeface="Arial" pitchFamily="34" charset="-122"/>
                          <a:cs typeface="Arial" pitchFamily="34" charset="-120"/>
                        </a:rPr>
                        <a:t> </a:t>
                      </a:r>
                      <a:r>
                        <a:rPr lang="en-US" sz="1800" dirty="0" err="1">
                          <a:solidFill>
                            <a:srgbClr val="000000"/>
                          </a:solidFill>
                          <a:latin typeface="Arial" pitchFamily="34" charset="0"/>
                          <a:ea typeface="Arial" pitchFamily="34" charset="-122"/>
                          <a:cs typeface="Arial" pitchFamily="34" charset="-120"/>
                        </a:rPr>
                        <a:t>أغذية</a:t>
                      </a:r>
                      <a:r>
                        <a:rPr lang="en-US" sz="1800" dirty="0">
                          <a:solidFill>
                            <a:srgbClr val="000000"/>
                          </a:solidFill>
                          <a:latin typeface="Arial" pitchFamily="34" charset="0"/>
                          <a:ea typeface="Arial" pitchFamily="34" charset="-122"/>
                          <a:cs typeface="Arial" pitchFamily="34" charset="-120"/>
                        </a:rPr>
                        <a:t> </a:t>
                      </a:r>
                      <a:r>
                        <a:rPr lang="en-US" sz="1800" dirty="0" err="1">
                          <a:solidFill>
                            <a:srgbClr val="000000"/>
                          </a:solidFill>
                          <a:latin typeface="Arial" pitchFamily="34" charset="0"/>
                          <a:ea typeface="Arial" pitchFamily="34" charset="-122"/>
                          <a:cs typeface="Arial" pitchFamily="34" charset="-120"/>
                        </a:rPr>
                        <a:t>مخصصة</a:t>
                      </a:r>
                      <a:r>
                        <a:rPr lang="en-US" sz="1800" dirty="0">
                          <a:solidFill>
                            <a:srgbClr val="000000"/>
                          </a:solidFill>
                          <a:latin typeface="Arial" pitchFamily="34" charset="0"/>
                          <a:ea typeface="Arial" pitchFamily="34" charset="-122"/>
                          <a:cs typeface="Arial" pitchFamily="34" charset="-120"/>
                        </a:rPr>
                        <a:t> </a:t>
                      </a:r>
                      <a:r>
                        <a:rPr lang="en-US" sz="1800" dirty="0" err="1">
                          <a:solidFill>
                            <a:srgbClr val="000000"/>
                          </a:solidFill>
                          <a:latin typeface="Arial" pitchFamily="34" charset="0"/>
                          <a:ea typeface="Arial" pitchFamily="34" charset="-122"/>
                          <a:cs typeface="Arial" pitchFamily="34" charset="-120"/>
                        </a:rPr>
                        <a:t>للحيوانات</a:t>
                      </a:r>
                      <a:r>
                        <a:rPr lang="en-US" sz="1800" dirty="0">
                          <a:solidFill>
                            <a:srgbClr val="000000"/>
                          </a:solidFill>
                          <a:latin typeface="Arial" pitchFamily="34" charset="0"/>
                          <a:ea typeface="Arial" pitchFamily="34" charset="-122"/>
                          <a:cs typeface="Arial" pitchFamily="34" charset="-120"/>
                        </a:rPr>
                        <a:t> </a:t>
                      </a:r>
                      <a:r>
                        <a:rPr lang="en-US" sz="1800" dirty="0" err="1">
                          <a:solidFill>
                            <a:srgbClr val="000000"/>
                          </a:solidFill>
                          <a:latin typeface="Arial" pitchFamily="34" charset="0"/>
                          <a:ea typeface="Arial" pitchFamily="34" charset="-122"/>
                          <a:cs typeface="Arial" pitchFamily="34" charset="-120"/>
                        </a:rPr>
                        <a:t>غير</a:t>
                      </a:r>
                      <a:r>
                        <a:rPr lang="en-US" sz="1800" dirty="0">
                          <a:solidFill>
                            <a:srgbClr val="000000"/>
                          </a:solidFill>
                          <a:latin typeface="Arial" pitchFamily="34" charset="0"/>
                          <a:ea typeface="Arial" pitchFamily="34" charset="-122"/>
                          <a:cs typeface="Arial" pitchFamily="34" charset="-120"/>
                        </a:rPr>
                        <a:t> </a:t>
                      </a:r>
                      <a:r>
                        <a:rPr lang="en-US" sz="1800" dirty="0" err="1">
                          <a:solidFill>
                            <a:srgbClr val="000000"/>
                          </a:solidFill>
                          <a:latin typeface="Arial" pitchFamily="34" charset="0"/>
                          <a:ea typeface="Arial" pitchFamily="34" charset="-122"/>
                          <a:cs typeface="Arial" pitchFamily="34" charset="-120"/>
                        </a:rPr>
                        <a:t>مستوفية</a:t>
                      </a:r>
                      <a:r>
                        <a:rPr lang="en-US" sz="1800" dirty="0">
                          <a:solidFill>
                            <a:srgbClr val="000000"/>
                          </a:solidFill>
                          <a:latin typeface="Arial" pitchFamily="34" charset="0"/>
                          <a:ea typeface="Arial" pitchFamily="34" charset="-122"/>
                          <a:cs typeface="Arial" pitchFamily="34" charset="-120"/>
                        </a:rPr>
                        <a:t> </a:t>
                      </a:r>
                      <a:r>
                        <a:rPr lang="en-US" sz="1800" dirty="0" err="1">
                          <a:solidFill>
                            <a:srgbClr val="000000"/>
                          </a:solidFill>
                          <a:latin typeface="Arial" pitchFamily="34" charset="0"/>
                          <a:ea typeface="Arial" pitchFamily="34" charset="-122"/>
                          <a:cs typeface="Arial" pitchFamily="34" charset="-120"/>
                        </a:rPr>
                        <a:t>لشروط</a:t>
                      </a:r>
                      <a:r>
                        <a:rPr lang="en-US" sz="1800" dirty="0">
                          <a:solidFill>
                            <a:srgbClr val="000000"/>
                          </a:solidFill>
                          <a:latin typeface="Arial" pitchFamily="34" charset="0"/>
                          <a:ea typeface="Arial" pitchFamily="34" charset="-122"/>
                          <a:cs typeface="Arial" pitchFamily="34" charset="-120"/>
                        </a:rPr>
                        <a:t> </a:t>
                      </a:r>
                      <a:r>
                        <a:rPr lang="en-US" sz="1800" dirty="0" err="1">
                          <a:solidFill>
                            <a:srgbClr val="000000"/>
                          </a:solidFill>
                          <a:latin typeface="Arial" pitchFamily="34" charset="0"/>
                          <a:ea typeface="Arial" pitchFamily="34" charset="-122"/>
                          <a:cs typeface="Arial" pitchFamily="34" charset="-120"/>
                        </a:rPr>
                        <a:t>البطاقة</a:t>
                      </a:r>
                      <a:r>
                        <a:rPr lang="en-US" sz="1800" dirty="0">
                          <a:solidFill>
                            <a:srgbClr val="000000"/>
                          </a:solidFill>
                          <a:latin typeface="Arial" pitchFamily="34" charset="0"/>
                          <a:ea typeface="Arial" pitchFamily="34" charset="-122"/>
                          <a:cs typeface="Arial" pitchFamily="34" charset="-120"/>
                        </a:rPr>
                        <a:t> </a:t>
                      </a:r>
                      <a:endParaRPr lang="ar-AE" sz="1800" dirty="0">
                        <a:solidFill>
                          <a:srgbClr val="000000"/>
                        </a:solidFill>
                        <a:latin typeface="Arial" pitchFamily="34" charset="0"/>
                        <a:ea typeface="Arial" pitchFamily="34" charset="-122"/>
                        <a:cs typeface="Arial" pitchFamily="34" charset="-120"/>
                      </a:endParaRPr>
                    </a:p>
                    <a:p>
                      <a:pPr marL="0" indent="0" algn="r">
                        <a:buNone/>
                      </a:pPr>
                      <a:r>
                        <a:rPr lang="en-US" sz="1800" dirty="0" err="1">
                          <a:solidFill>
                            <a:srgbClr val="000000"/>
                          </a:solidFill>
                          <a:latin typeface="Arial" pitchFamily="34" charset="0"/>
                          <a:ea typeface="Arial" pitchFamily="34" charset="-122"/>
                          <a:cs typeface="Arial" pitchFamily="34" charset="-120"/>
                        </a:rPr>
                        <a:t>التعريفية</a:t>
                      </a:r>
                      <a:r>
                        <a:rPr lang="en-US" sz="1800" dirty="0">
                          <a:solidFill>
                            <a:srgbClr val="000000"/>
                          </a:solidFill>
                          <a:latin typeface="Arial" pitchFamily="34" charset="0"/>
                          <a:ea typeface="Arial" pitchFamily="34" charset="-122"/>
                          <a:cs typeface="Arial" pitchFamily="34" charset="-120"/>
                        </a:rPr>
                        <a:t> أو منتهية </a:t>
                      </a:r>
                      <a:r>
                        <a:rPr lang="en-US" sz="1800" dirty="0" err="1">
                          <a:solidFill>
                            <a:srgbClr val="000000"/>
                          </a:solidFill>
                          <a:latin typeface="Arial" pitchFamily="34" charset="0"/>
                          <a:ea typeface="Arial" pitchFamily="34" charset="-122"/>
                          <a:cs typeface="Arial" pitchFamily="34" charset="-120"/>
                        </a:rPr>
                        <a:t>الصلاحية</a:t>
                      </a:r>
                      <a:r>
                        <a:rPr lang="en-US" sz="1800" dirty="0">
                          <a:solidFill>
                            <a:srgbClr val="000000"/>
                          </a:solidFill>
                          <a:latin typeface="Arial" pitchFamily="34" charset="0"/>
                          <a:ea typeface="Arial" pitchFamily="34" charset="-122"/>
                          <a:cs typeface="Arial" pitchFamily="34" charset="-120"/>
                        </a:rPr>
                        <a:t> </a:t>
                      </a:r>
                      <a:endParaRPr lang="ar-AE" sz="1800" dirty="0">
                        <a:solidFill>
                          <a:srgbClr val="000000"/>
                        </a:solidFill>
                        <a:latin typeface="Arial" pitchFamily="34" charset="0"/>
                        <a:ea typeface="Arial" pitchFamily="34" charset="-122"/>
                        <a:cs typeface="Arial" pitchFamily="34" charset="-120"/>
                      </a:endParaRPr>
                    </a:p>
                    <a:p>
                      <a:pPr marL="0" indent="0" algn="r">
                        <a:buNone/>
                      </a:pPr>
                      <a:r>
                        <a:rPr lang="en-US" sz="1800" dirty="0">
                          <a:solidFill>
                            <a:srgbClr val="000000"/>
                          </a:solidFill>
                          <a:latin typeface="Arial" pitchFamily="34" charset="0"/>
                          <a:ea typeface="Arial" pitchFamily="34" charset="-122"/>
                          <a:cs typeface="Arial" pitchFamily="34" charset="-120"/>
                        </a:rPr>
                        <a:t>( تم رصد وجود أدوية بيطرية ومكملات ومواد غذائية منتهية الصلاحية ) </a:t>
                      </a:r>
                      <a:r>
                        <a:rPr lang="en-US" sz="1800" dirty="0" err="1">
                          <a:solidFill>
                            <a:srgbClr val="000000"/>
                          </a:solidFill>
                          <a:latin typeface="Arial" pitchFamily="34" charset="0"/>
                          <a:ea typeface="Arial" pitchFamily="34" charset="-122"/>
                          <a:cs typeface="Arial" pitchFamily="34" charset="-120"/>
                        </a:rPr>
                        <a:t>الإجراء</a:t>
                      </a:r>
                      <a:r>
                        <a:rPr lang="ar-AE" sz="1800" dirty="0">
                          <a:solidFill>
                            <a:srgbClr val="000000"/>
                          </a:solidFill>
                          <a:latin typeface="Arial" pitchFamily="34" charset="0"/>
                          <a:ea typeface="Arial" pitchFamily="34" charset="-122"/>
                          <a:cs typeface="Arial" pitchFamily="34" charset="-120"/>
                        </a:rPr>
                        <a:t> : إنذار وإتلاف</a:t>
                      </a:r>
                      <a:endParaRPr lang="en-US" sz="1800" dirty="0">
                        <a:latin typeface="Arial" charset="0"/>
                        <a:ea typeface="Arial" charset="0"/>
                        <a:cs typeface="Arial" charset="0"/>
                      </a:endParaRPr>
                    </a:p>
                  </a:txBody>
                  <a:tcPr marT="91440" marB="91440" anchor="ctr">
                    <a:lnL w="25400" cap="flat" cmpd="sng" algn="ctr">
                      <a:solidFill>
                        <a:srgbClr val="4A90E2"/>
                      </a:solidFill>
                      <a:prstDash val="solid"/>
                      <a:round/>
                      <a:headEnd type="none" w="med" len="med"/>
                      <a:tailEnd type="none" w="med" len="med"/>
                    </a:lnL>
                    <a:lnR w="25400" cap="flat" cmpd="sng" algn="ctr">
                      <a:solidFill>
                        <a:srgbClr val="4A90E2"/>
                      </a:solidFill>
                      <a:prstDash val="solid"/>
                      <a:round/>
                      <a:headEnd type="none" w="med" len="med"/>
                      <a:tailEnd type="none" w="med" len="med"/>
                    </a:lnR>
                    <a:lnT w="25400" cap="flat" cmpd="sng" algn="ctr">
                      <a:solidFill>
                        <a:srgbClr val="4A90E2"/>
                      </a:solidFill>
                      <a:prstDash val="solid"/>
                      <a:round/>
                      <a:headEnd type="none" w="med" len="med"/>
                      <a:tailEnd type="none" w="med" len="med"/>
                    </a:lnT>
                    <a:lnB w="25400" cap="flat" cmpd="sng" algn="ctr">
                      <a:solidFill>
                        <a:srgbClr val="4A90E2"/>
                      </a:solidFill>
                      <a:prstDash val="solid"/>
                      <a:round/>
                      <a:headEnd type="none" w="med" len="med"/>
                      <a:tailEnd type="none" w="med" len="med"/>
                    </a:lnB>
                    <a:solidFill>
                      <a:srgbClr val="ECF0F1"/>
                    </a:solidFill>
                  </a:tcPr>
                </a:tc>
                <a:extLst>
                  <a:ext uri="{0D108BD9-81ED-4DB2-BD59-A6C34878D82A}">
                    <a16:rowId xmlns:a16="http://schemas.microsoft.com/office/drawing/2014/main" val="10004"/>
                  </a:ext>
                </a:extLst>
              </a:tr>
              <a:tr h="347472">
                <a:tc>
                  <a:txBody>
                    <a:bodyPr/>
                    <a:lstStyle/>
                    <a:p>
                      <a:pPr marL="0" indent="0" algn="r">
                        <a:buNone/>
                      </a:pPr>
                      <a:r>
                        <a:rPr lang="en-US" sz="1800" dirty="0">
                          <a:solidFill>
                            <a:srgbClr val="000000"/>
                          </a:solidFill>
                          <a:latin typeface="Arial" pitchFamily="34" charset="0"/>
                          <a:ea typeface="Arial" pitchFamily="34" charset="-122"/>
                          <a:cs typeface="Arial" pitchFamily="34" charset="-120"/>
                        </a:rPr>
                        <a:t>✅ مستوفى</a:t>
                      </a:r>
                      <a:endParaRPr lang="en-US" sz="1800" dirty="0">
                        <a:latin typeface="Arial" charset="0"/>
                        <a:ea typeface="Arial" charset="0"/>
                        <a:cs typeface="Arial" charset="0"/>
                      </a:endParaRPr>
                    </a:p>
                  </a:txBody>
                  <a:tcPr marT="91440" marB="91440" anchor="ctr">
                    <a:lnL w="25400" cap="flat" cmpd="sng" algn="ctr">
                      <a:solidFill>
                        <a:srgbClr val="4A90E2"/>
                      </a:solidFill>
                      <a:prstDash val="solid"/>
                      <a:round/>
                      <a:headEnd type="none" w="med" len="med"/>
                      <a:tailEnd type="none" w="med" len="med"/>
                    </a:lnL>
                    <a:lnR w="25400" cap="flat" cmpd="sng" algn="ctr">
                      <a:solidFill>
                        <a:srgbClr val="4A90E2"/>
                      </a:solidFill>
                      <a:prstDash val="solid"/>
                      <a:round/>
                      <a:headEnd type="none" w="med" len="med"/>
                      <a:tailEnd type="none" w="med" len="med"/>
                    </a:lnR>
                    <a:lnT w="25400" cap="flat" cmpd="sng" algn="ctr">
                      <a:solidFill>
                        <a:srgbClr val="4A90E2"/>
                      </a:solidFill>
                      <a:prstDash val="solid"/>
                      <a:round/>
                      <a:headEnd type="none" w="med" len="med"/>
                      <a:tailEnd type="none" w="med" len="med"/>
                    </a:lnT>
                    <a:lnB w="25400" cap="flat" cmpd="sng" algn="ctr">
                      <a:solidFill>
                        <a:srgbClr val="4A90E2"/>
                      </a:solidFill>
                      <a:prstDash val="solid"/>
                      <a:round/>
                      <a:headEnd type="none" w="med" len="med"/>
                      <a:tailEnd type="none" w="med" len="med"/>
                    </a:lnB>
                    <a:solidFill>
                      <a:srgbClr val="ECF0F1"/>
                    </a:solidFill>
                  </a:tcPr>
                </a:tc>
                <a:tc>
                  <a:txBody>
                    <a:bodyPr/>
                    <a:lstStyle/>
                    <a:p>
                      <a:pPr marL="0" indent="0" algn="r">
                        <a:buNone/>
                      </a:pPr>
                      <a:r>
                        <a:rPr lang="en-US" sz="1800" dirty="0">
                          <a:solidFill>
                            <a:srgbClr val="000000"/>
                          </a:solidFill>
                          <a:latin typeface="Arial" pitchFamily="34" charset="0"/>
                          <a:ea typeface="Arial" pitchFamily="34" charset="-122"/>
                          <a:cs typeface="Arial" pitchFamily="34" charset="-120"/>
                        </a:rPr>
                        <a:t>بنود الرقابة على الحيوانات</a:t>
                      </a:r>
                      <a:endParaRPr lang="en-US" sz="1800" dirty="0">
                        <a:latin typeface="Arial" charset="0"/>
                        <a:ea typeface="Arial" charset="0"/>
                        <a:cs typeface="Arial" charset="0"/>
                      </a:endParaRPr>
                    </a:p>
                  </a:txBody>
                  <a:tcPr marT="91440" marB="91440" anchor="ctr">
                    <a:lnL w="25400" cap="flat" cmpd="sng" algn="ctr">
                      <a:solidFill>
                        <a:srgbClr val="4A90E2"/>
                      </a:solidFill>
                      <a:prstDash val="solid"/>
                      <a:round/>
                      <a:headEnd type="none" w="med" len="med"/>
                      <a:tailEnd type="none" w="med" len="med"/>
                    </a:lnL>
                    <a:lnR w="25400" cap="flat" cmpd="sng" algn="ctr">
                      <a:solidFill>
                        <a:srgbClr val="4A90E2"/>
                      </a:solidFill>
                      <a:prstDash val="solid"/>
                      <a:round/>
                      <a:headEnd type="none" w="med" len="med"/>
                      <a:tailEnd type="none" w="med" len="med"/>
                    </a:lnR>
                    <a:lnT w="25400" cap="flat" cmpd="sng" algn="ctr">
                      <a:solidFill>
                        <a:srgbClr val="4A90E2"/>
                      </a:solidFill>
                      <a:prstDash val="solid"/>
                      <a:round/>
                      <a:headEnd type="none" w="med" len="med"/>
                      <a:tailEnd type="none" w="med" len="med"/>
                    </a:lnT>
                    <a:lnB w="25400" cap="flat" cmpd="sng" algn="ctr">
                      <a:solidFill>
                        <a:srgbClr val="4A90E2"/>
                      </a:solidFill>
                      <a:prstDash val="solid"/>
                      <a:round/>
                      <a:headEnd type="none" w="med" len="med"/>
                      <a:tailEnd type="none" w="med" len="med"/>
                    </a:lnB>
                    <a:solidFill>
                      <a:srgbClr val="ECF0F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324947" y="137160"/>
            <a:ext cx="9144000" cy="731520"/>
          </a:xfrm>
          <a:prstGeom prst="rect">
            <a:avLst/>
          </a:prstGeom>
          <a:solidFill>
            <a:srgbClr val="F39C12"/>
          </a:solidFill>
          <a:ln/>
        </p:spPr>
        <p:txBody>
          <a:bodyPr/>
          <a:lstStyle/>
          <a:p>
            <a:endParaRPr lang="en-US"/>
          </a:p>
        </p:txBody>
      </p:sp>
      <p:sp>
        <p:nvSpPr>
          <p:cNvPr id="3" name="Text 1"/>
          <p:cNvSpPr/>
          <p:nvPr/>
        </p:nvSpPr>
        <p:spPr>
          <a:xfrm>
            <a:off x="1782147" y="285050"/>
            <a:ext cx="8229600" cy="457200"/>
          </a:xfrm>
          <a:prstGeom prst="rect">
            <a:avLst/>
          </a:prstGeom>
          <a:noFill/>
          <a:ln/>
        </p:spPr>
        <p:txBody>
          <a:bodyPr wrap="square"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 </a:t>
            </a:r>
            <a:r>
              <a:rPr lang="en-US" sz="3600" b="1" dirty="0" err="1">
                <a:solidFill>
                  <a:srgbClr val="FFFFFF"/>
                </a:solidFill>
                <a:latin typeface="Arial" pitchFamily="34" charset="0"/>
                <a:ea typeface="Arial" pitchFamily="34" charset="-122"/>
                <a:cs typeface="Arial" pitchFamily="34" charset="-120"/>
              </a:rPr>
              <a:t>الملاحظات</a:t>
            </a:r>
            <a:r>
              <a:rPr lang="en-US" sz="3600" b="1" dirty="0">
                <a:solidFill>
                  <a:srgbClr val="FFFFFF"/>
                </a:solidFill>
                <a:latin typeface="Arial" pitchFamily="34" charset="0"/>
                <a:ea typeface="Arial" pitchFamily="34" charset="-122"/>
                <a:cs typeface="Arial" pitchFamily="34" charset="-120"/>
              </a:rPr>
              <a:t> والتوصيات</a:t>
            </a:r>
            <a:endParaRPr lang="en-US" sz="3600" dirty="0"/>
          </a:p>
        </p:txBody>
      </p:sp>
      <p:sp>
        <p:nvSpPr>
          <p:cNvPr id="4" name="Shape 2"/>
          <p:cNvSpPr/>
          <p:nvPr/>
        </p:nvSpPr>
        <p:spPr>
          <a:xfrm>
            <a:off x="1782147" y="1049694"/>
            <a:ext cx="8229600" cy="457200"/>
          </a:xfrm>
          <a:prstGeom prst="rect">
            <a:avLst/>
          </a:prstGeom>
          <a:solidFill>
            <a:srgbClr val="FFF3CD"/>
          </a:solidFill>
          <a:ln/>
        </p:spPr>
        <p:txBody>
          <a:bodyPr/>
          <a:lstStyle/>
          <a:p>
            <a:endParaRPr lang="en-US"/>
          </a:p>
        </p:txBody>
      </p:sp>
      <p:sp>
        <p:nvSpPr>
          <p:cNvPr id="5" name="Text 3"/>
          <p:cNvSpPr/>
          <p:nvPr/>
        </p:nvSpPr>
        <p:spPr>
          <a:xfrm>
            <a:off x="2039672" y="1097280"/>
            <a:ext cx="7863840" cy="365760"/>
          </a:xfrm>
          <a:prstGeom prst="rect">
            <a:avLst/>
          </a:prstGeom>
          <a:noFill/>
          <a:ln/>
        </p:spPr>
        <p:txBody>
          <a:bodyPr wrap="square" rtlCol="0" anchor="ctr"/>
          <a:lstStyle/>
          <a:p>
            <a:pPr marL="0" indent="0" algn="r">
              <a:buNone/>
            </a:pPr>
            <a:r>
              <a:rPr lang="en-US" sz="2400" b="1" dirty="0">
                <a:solidFill>
                  <a:srgbClr val="856404"/>
                </a:solidFill>
                <a:latin typeface="Arial" pitchFamily="34" charset="0"/>
                <a:ea typeface="Arial" pitchFamily="34" charset="-122"/>
                <a:cs typeface="Arial" pitchFamily="34" charset="-120"/>
              </a:rPr>
              <a:t>📝 </a:t>
            </a:r>
            <a:r>
              <a:rPr lang="en-US" sz="2400" b="1" dirty="0" err="1">
                <a:solidFill>
                  <a:srgbClr val="856404"/>
                </a:solidFill>
                <a:latin typeface="Arial" pitchFamily="34" charset="0"/>
                <a:ea typeface="Arial" pitchFamily="34" charset="-122"/>
                <a:cs typeface="Arial" pitchFamily="34" charset="-120"/>
              </a:rPr>
              <a:t>الملاحظات</a:t>
            </a:r>
            <a:r>
              <a:rPr lang="en-US" sz="2400" b="1" dirty="0">
                <a:solidFill>
                  <a:srgbClr val="856404"/>
                </a:solidFill>
                <a:latin typeface="Arial" pitchFamily="34" charset="0"/>
                <a:ea typeface="Arial" pitchFamily="34" charset="-122"/>
                <a:cs typeface="Arial" pitchFamily="34" charset="-120"/>
              </a:rPr>
              <a:t> </a:t>
            </a:r>
            <a:r>
              <a:rPr lang="en-US" sz="2400" b="1" dirty="0" err="1">
                <a:solidFill>
                  <a:srgbClr val="856404"/>
                </a:solidFill>
                <a:latin typeface="Arial" pitchFamily="34" charset="0"/>
                <a:ea typeface="Arial" pitchFamily="34" charset="-122"/>
                <a:cs typeface="Arial" pitchFamily="34" charset="-120"/>
              </a:rPr>
              <a:t>العامة</a:t>
            </a:r>
            <a:r>
              <a:rPr lang="ar-AE" sz="2400" b="1" dirty="0">
                <a:solidFill>
                  <a:srgbClr val="856404"/>
                </a:solidFill>
                <a:latin typeface="Arial" pitchFamily="34" charset="0"/>
                <a:ea typeface="Arial" pitchFamily="34" charset="-122"/>
                <a:cs typeface="Arial" pitchFamily="34" charset="-120"/>
              </a:rPr>
              <a:t> :</a:t>
            </a:r>
            <a:endParaRPr lang="en-US" sz="2400" dirty="0"/>
          </a:p>
        </p:txBody>
      </p:sp>
      <p:sp>
        <p:nvSpPr>
          <p:cNvPr id="6" name="Text 4"/>
          <p:cNvSpPr/>
          <p:nvPr/>
        </p:nvSpPr>
        <p:spPr>
          <a:xfrm>
            <a:off x="1862390" y="1506894"/>
            <a:ext cx="7863840" cy="914400"/>
          </a:xfrm>
          <a:prstGeom prst="rect">
            <a:avLst/>
          </a:prstGeom>
          <a:noFill/>
          <a:ln/>
        </p:spPr>
        <p:txBody>
          <a:bodyPr wrap="square" rtlCol="0" anchor="t"/>
          <a:lstStyle/>
          <a:p>
            <a:pPr marL="0" indent="0" algn="r">
              <a:buNone/>
            </a:pPr>
            <a:r>
              <a:rPr lang="en-US" sz="1800" dirty="0">
                <a:solidFill>
                  <a:srgbClr val="333333"/>
                </a:solidFill>
                <a:latin typeface="Arial" pitchFamily="34" charset="0"/>
                <a:ea typeface="Arial" pitchFamily="34" charset="-122"/>
                <a:cs typeface="Arial" pitchFamily="34" charset="-120"/>
              </a:rPr>
              <a:t>أثناء الزيارة تمت مقابلة السيد عبدالعزيز المدير التنفيذى لمنتزهات أبوظبى </a:t>
            </a:r>
            <a:r>
              <a:rPr lang="en-US" sz="1800" dirty="0" err="1">
                <a:solidFill>
                  <a:srgbClr val="333333"/>
                </a:solidFill>
                <a:latin typeface="Arial" pitchFamily="34" charset="0"/>
                <a:ea typeface="Arial" pitchFamily="34" charset="-122"/>
                <a:cs typeface="Arial" pitchFamily="34" charset="-120"/>
              </a:rPr>
              <a:t>الترفيهية</a:t>
            </a:r>
            <a:r>
              <a:rPr lang="en-US" sz="1800" dirty="0">
                <a:solidFill>
                  <a:srgbClr val="333333"/>
                </a:solidFill>
                <a:latin typeface="Arial" pitchFamily="34" charset="0"/>
                <a:ea typeface="Arial" pitchFamily="34" charset="-122"/>
                <a:cs typeface="Arial" pitchFamily="34" charset="-120"/>
              </a:rPr>
              <a:t> </a:t>
            </a:r>
            <a:endParaRPr lang="ar-AE" sz="1800" dirty="0">
              <a:solidFill>
                <a:srgbClr val="333333"/>
              </a:solidFill>
              <a:latin typeface="Arial" pitchFamily="34" charset="0"/>
              <a:ea typeface="Arial" pitchFamily="34" charset="-122"/>
              <a:cs typeface="Arial" pitchFamily="34" charset="-120"/>
            </a:endParaRPr>
          </a:p>
          <a:p>
            <a:pPr marL="0" indent="0" algn="r">
              <a:buNone/>
            </a:pPr>
            <a:r>
              <a:rPr lang="en-US" sz="1800" dirty="0">
                <a:solidFill>
                  <a:srgbClr val="333333"/>
                </a:solidFill>
                <a:latin typeface="Arial" pitchFamily="34" charset="0"/>
                <a:ea typeface="Arial" pitchFamily="34" charset="-122"/>
                <a:cs typeface="Arial" pitchFamily="34" charset="-120"/>
              </a:rPr>
              <a:t>( </a:t>
            </a:r>
            <a:r>
              <a:rPr lang="en-US" sz="1800" dirty="0" err="1">
                <a:solidFill>
                  <a:srgbClr val="333333"/>
                </a:solidFill>
                <a:latin typeface="Arial" pitchFamily="34" charset="0"/>
                <a:ea typeface="Arial" pitchFamily="34" charset="-122"/>
                <a:cs typeface="Arial" pitchFamily="34" charset="-120"/>
              </a:rPr>
              <a:t>سى</a:t>
            </a:r>
            <a:r>
              <a:rPr lang="en-US" sz="1800" dirty="0">
                <a:solidFill>
                  <a:srgbClr val="333333"/>
                </a:solidFill>
                <a:latin typeface="Arial" pitchFamily="34" charset="0"/>
                <a:ea typeface="Arial" pitchFamily="34" charset="-122"/>
                <a:cs typeface="Arial" pitchFamily="34" charset="-120"/>
              </a:rPr>
              <a:t> </a:t>
            </a:r>
            <a:r>
              <a:rPr lang="en-US" sz="1800" dirty="0" err="1">
                <a:solidFill>
                  <a:srgbClr val="333333"/>
                </a:solidFill>
                <a:latin typeface="Arial" pitchFamily="34" charset="0"/>
                <a:ea typeface="Arial" pitchFamily="34" charset="-122"/>
                <a:cs typeface="Arial" pitchFamily="34" charset="-120"/>
              </a:rPr>
              <a:t>وورلد</a:t>
            </a:r>
            <a:r>
              <a:rPr lang="en-US" sz="1800" dirty="0">
                <a:solidFill>
                  <a:srgbClr val="333333"/>
                </a:solidFill>
                <a:latin typeface="Arial" pitchFamily="34" charset="0"/>
                <a:ea typeface="Arial" pitchFamily="34" charset="-122"/>
                <a:cs typeface="Arial" pitchFamily="34" charset="-120"/>
              </a:rPr>
              <a:t> </a:t>
            </a:r>
            <a:r>
              <a:rPr lang="en-US" sz="1800" dirty="0" err="1">
                <a:solidFill>
                  <a:srgbClr val="333333"/>
                </a:solidFill>
                <a:latin typeface="Arial" pitchFamily="34" charset="0"/>
                <a:ea typeface="Arial" pitchFamily="34" charset="-122"/>
                <a:cs typeface="Arial" pitchFamily="34" charset="-120"/>
              </a:rPr>
              <a:t>ياس</a:t>
            </a:r>
            <a:r>
              <a:rPr lang="en-US" sz="1800" dirty="0">
                <a:solidFill>
                  <a:srgbClr val="333333"/>
                </a:solidFill>
                <a:latin typeface="Arial" pitchFamily="34" charset="0"/>
                <a:ea typeface="Arial" pitchFamily="34" charset="-122"/>
                <a:cs typeface="Arial" pitchFamily="34" charset="-120"/>
              </a:rPr>
              <a:t> </a:t>
            </a:r>
            <a:r>
              <a:rPr lang="en-US" sz="1800" dirty="0" err="1">
                <a:solidFill>
                  <a:srgbClr val="333333"/>
                </a:solidFill>
                <a:latin typeface="Arial" pitchFamily="34" charset="0"/>
                <a:ea typeface="Arial" pitchFamily="34" charset="-122"/>
                <a:cs typeface="Arial" pitchFamily="34" charset="-120"/>
              </a:rPr>
              <a:t>أبوظبى</a:t>
            </a:r>
            <a:r>
              <a:rPr lang="en-US" sz="1800" dirty="0">
                <a:solidFill>
                  <a:srgbClr val="333333"/>
                </a:solidFill>
                <a:latin typeface="Arial" pitchFamily="34" charset="0"/>
                <a:ea typeface="Arial" pitchFamily="34" charset="-122"/>
                <a:cs typeface="Arial" pitchFamily="34" charset="-120"/>
              </a:rPr>
              <a:t> ) </a:t>
            </a:r>
            <a:r>
              <a:rPr lang="en-US" sz="1800" dirty="0" err="1">
                <a:solidFill>
                  <a:srgbClr val="333333"/>
                </a:solidFill>
                <a:latin typeface="Arial" pitchFamily="34" charset="0"/>
                <a:ea typeface="Arial" pitchFamily="34" charset="-122"/>
                <a:cs typeface="Arial" pitchFamily="34" charset="-120"/>
              </a:rPr>
              <a:t>والسيد</a:t>
            </a:r>
            <a:r>
              <a:rPr lang="en-US" sz="1800" dirty="0">
                <a:solidFill>
                  <a:srgbClr val="333333"/>
                </a:solidFill>
                <a:latin typeface="Arial" pitchFamily="34" charset="0"/>
                <a:ea typeface="Arial" pitchFamily="34" charset="-122"/>
                <a:cs typeface="Arial" pitchFamily="34" charset="-120"/>
              </a:rPr>
              <a:t> سكوت ماكوى مدير أول علم الحيوان والدكتور </a:t>
            </a:r>
            <a:r>
              <a:rPr lang="en-US" sz="1800" dirty="0" err="1">
                <a:solidFill>
                  <a:srgbClr val="333333"/>
                </a:solidFill>
                <a:latin typeface="Arial" pitchFamily="34" charset="0"/>
                <a:ea typeface="Arial" pitchFamily="34" charset="-122"/>
                <a:cs typeface="Arial" pitchFamily="34" charset="-120"/>
              </a:rPr>
              <a:t>مايكل</a:t>
            </a:r>
            <a:r>
              <a:rPr lang="en-US" sz="1800" dirty="0">
                <a:solidFill>
                  <a:srgbClr val="333333"/>
                </a:solidFill>
                <a:latin typeface="Arial" pitchFamily="34" charset="0"/>
                <a:ea typeface="Arial" pitchFamily="34" charset="-122"/>
                <a:cs typeface="Arial" pitchFamily="34" charset="-120"/>
              </a:rPr>
              <a:t> </a:t>
            </a:r>
            <a:endParaRPr lang="ar-AE" sz="1800" dirty="0">
              <a:solidFill>
                <a:srgbClr val="333333"/>
              </a:solidFill>
              <a:latin typeface="Arial" pitchFamily="34" charset="0"/>
              <a:ea typeface="Arial" pitchFamily="34" charset="-122"/>
              <a:cs typeface="Arial" pitchFamily="34" charset="-120"/>
            </a:endParaRPr>
          </a:p>
          <a:p>
            <a:pPr marL="0" indent="0" algn="r">
              <a:buNone/>
            </a:pPr>
            <a:r>
              <a:rPr lang="en-US" sz="1800" dirty="0" err="1">
                <a:solidFill>
                  <a:srgbClr val="333333"/>
                </a:solidFill>
                <a:latin typeface="Arial" pitchFamily="34" charset="0"/>
                <a:ea typeface="Arial" pitchFamily="34" charset="-122"/>
                <a:cs typeface="Arial" pitchFamily="34" charset="-120"/>
              </a:rPr>
              <a:t>وقمنا</a:t>
            </a:r>
            <a:r>
              <a:rPr lang="en-US" sz="1800" dirty="0">
                <a:solidFill>
                  <a:srgbClr val="333333"/>
                </a:solidFill>
                <a:latin typeface="Arial" pitchFamily="34" charset="0"/>
                <a:ea typeface="Arial" pitchFamily="34" charset="-122"/>
                <a:cs typeface="Arial" pitchFamily="34" charset="-120"/>
              </a:rPr>
              <a:t> بداية بجولة عامة فى جميع أرجاء المكان ثم انتهينا بالتدقيق على الغرف </a:t>
            </a:r>
            <a:r>
              <a:rPr lang="en-US" sz="1800" dirty="0" err="1">
                <a:solidFill>
                  <a:srgbClr val="333333"/>
                </a:solidFill>
                <a:latin typeface="Arial" pitchFamily="34" charset="0"/>
                <a:ea typeface="Arial" pitchFamily="34" charset="-122"/>
                <a:cs typeface="Arial" pitchFamily="34" charset="-120"/>
              </a:rPr>
              <a:t>والوحدات</a:t>
            </a:r>
            <a:r>
              <a:rPr lang="en-US" sz="1800" dirty="0">
                <a:solidFill>
                  <a:srgbClr val="333333"/>
                </a:solidFill>
                <a:latin typeface="Arial" pitchFamily="34" charset="0"/>
                <a:ea typeface="Arial" pitchFamily="34" charset="-122"/>
                <a:cs typeface="Arial" pitchFamily="34" charset="-120"/>
              </a:rPr>
              <a:t> </a:t>
            </a:r>
            <a:r>
              <a:rPr lang="en-US" sz="1800" dirty="0" err="1">
                <a:solidFill>
                  <a:srgbClr val="333333"/>
                </a:solidFill>
                <a:latin typeface="Arial" pitchFamily="34" charset="0"/>
                <a:ea typeface="Arial" pitchFamily="34" charset="-122"/>
                <a:cs typeface="Arial" pitchFamily="34" charset="-120"/>
              </a:rPr>
              <a:t>التالي</a:t>
            </a:r>
            <a:r>
              <a:rPr lang="ar-AE" sz="1800" dirty="0">
                <a:solidFill>
                  <a:srgbClr val="333333"/>
                </a:solidFill>
                <a:latin typeface="Arial" pitchFamily="34" charset="0"/>
                <a:ea typeface="Arial" pitchFamily="34" charset="-122"/>
                <a:cs typeface="Arial" pitchFamily="34" charset="-120"/>
              </a:rPr>
              <a:t>ة :</a:t>
            </a:r>
            <a:endParaRPr lang="en-US" sz="1800" dirty="0"/>
          </a:p>
          <a:p>
            <a:pPr marL="0" indent="0" algn="r">
              <a:buNone/>
            </a:pPr>
            <a:r>
              <a:rPr lang="en-US" sz="1800" dirty="0">
                <a:solidFill>
                  <a:srgbClr val="333333"/>
                </a:solidFill>
                <a:latin typeface="Arial" pitchFamily="34" charset="0"/>
                <a:ea typeface="Arial" pitchFamily="34" charset="-122"/>
                <a:cs typeface="Arial" pitchFamily="34" charset="-120"/>
              </a:rPr>
              <a:t>غرفة العزل وبرنامج الحجر الصحى للعزل وغرفة معالجة المياه واطلعنا على برنامج </a:t>
            </a:r>
            <a:r>
              <a:rPr lang="en-US" sz="1800" dirty="0" err="1">
                <a:solidFill>
                  <a:srgbClr val="333333"/>
                </a:solidFill>
                <a:latin typeface="Arial" pitchFamily="34" charset="0"/>
                <a:ea typeface="Arial" pitchFamily="34" charset="-122"/>
                <a:cs typeface="Arial" pitchFamily="34" charset="-120"/>
              </a:rPr>
              <a:t>عمل</a:t>
            </a:r>
            <a:r>
              <a:rPr lang="en-US" sz="1800" dirty="0">
                <a:solidFill>
                  <a:srgbClr val="333333"/>
                </a:solidFill>
                <a:latin typeface="Arial" pitchFamily="34" charset="0"/>
                <a:ea typeface="Arial" pitchFamily="34" charset="-122"/>
                <a:cs typeface="Arial" pitchFamily="34" charset="-120"/>
              </a:rPr>
              <a:t> </a:t>
            </a:r>
            <a:r>
              <a:rPr lang="en-US" sz="1800" dirty="0" err="1">
                <a:solidFill>
                  <a:srgbClr val="333333"/>
                </a:solidFill>
                <a:latin typeface="Arial" pitchFamily="34" charset="0"/>
                <a:ea typeface="Arial" pitchFamily="34" charset="-122"/>
                <a:cs typeface="Arial" pitchFamily="34" charset="-120"/>
              </a:rPr>
              <a:t>الفلاتر</a:t>
            </a:r>
            <a:endParaRPr lang="ar-AE" dirty="0">
              <a:solidFill>
                <a:srgbClr val="333333"/>
              </a:solidFill>
              <a:latin typeface="Arial" pitchFamily="34" charset="0"/>
              <a:ea typeface="Arial" pitchFamily="34" charset="-122"/>
              <a:cs typeface="Arial" pitchFamily="34" charset="-120"/>
            </a:endParaRPr>
          </a:p>
          <a:p>
            <a:pPr marL="0" indent="0" algn="r">
              <a:buNone/>
            </a:pPr>
            <a:r>
              <a:rPr lang="en-US" sz="1800" dirty="0">
                <a:solidFill>
                  <a:srgbClr val="333333"/>
                </a:solidFill>
                <a:latin typeface="Arial" pitchFamily="34" charset="0"/>
                <a:ea typeface="Arial" pitchFamily="34" charset="-122"/>
                <a:cs typeface="Arial" pitchFamily="34" charset="-120"/>
              </a:rPr>
              <a:t> الميكانيكية والبيولوجية ودققنا على تصميم الأحواض وعمق الماء المناسب لكل فصيلة ثم توجهنا إلى غرف حفظ الأغذية الفريزرات والثلاجات وفحصنا الأغذية المجمدة واليابسة وفحص درجات الحرارة واطلعنا على سجلات التغذية والرعاية وسجلات التكاثر وسجلات حركة الحيوانات وسجلات النفوق والمعالجة وسجلات النظافة ومكافحة الحشرات وسجلات الإثراء السلوكى وخطة الطوارىء والكوارث فى حال انقطاع الكهرباء أو تعطل الفلاتر أو تلوث المياه </a:t>
            </a:r>
            <a:r>
              <a:rPr lang="en-US" sz="1800" dirty="0" err="1">
                <a:solidFill>
                  <a:srgbClr val="333333"/>
                </a:solidFill>
                <a:latin typeface="Arial" pitchFamily="34" charset="0"/>
                <a:ea typeface="Arial" pitchFamily="34" charset="-122"/>
                <a:cs typeface="Arial" pitchFamily="34" charset="-120"/>
              </a:rPr>
              <a:t>أو</a:t>
            </a:r>
            <a:r>
              <a:rPr lang="en-US" sz="1800" dirty="0">
                <a:solidFill>
                  <a:srgbClr val="333333"/>
                </a:solidFill>
                <a:latin typeface="Arial" pitchFamily="34" charset="0"/>
                <a:ea typeface="Arial" pitchFamily="34" charset="-122"/>
                <a:cs typeface="Arial" pitchFamily="34" charset="-120"/>
              </a:rPr>
              <a:t> </a:t>
            </a:r>
            <a:r>
              <a:rPr lang="en-US" sz="1800" dirty="0" err="1">
                <a:solidFill>
                  <a:srgbClr val="333333"/>
                </a:solidFill>
                <a:latin typeface="Arial" pitchFamily="34" charset="0"/>
                <a:ea typeface="Arial" pitchFamily="34" charset="-122"/>
                <a:cs typeface="Arial" pitchFamily="34" charset="-120"/>
              </a:rPr>
              <a:t>الحرائ</a:t>
            </a:r>
            <a:r>
              <a:rPr lang="ar-AE" dirty="0">
                <a:solidFill>
                  <a:srgbClr val="333333"/>
                </a:solidFill>
                <a:latin typeface="Arial" pitchFamily="34" charset="0"/>
                <a:ea typeface="Arial" pitchFamily="34" charset="-122"/>
                <a:cs typeface="Arial" pitchFamily="34" charset="-120"/>
              </a:rPr>
              <a:t>ق . </a:t>
            </a:r>
            <a:endParaRPr lang="en-US" sz="1800" dirty="0"/>
          </a:p>
        </p:txBody>
      </p:sp>
      <p:sp>
        <p:nvSpPr>
          <p:cNvPr id="7" name="Shape 5"/>
          <p:cNvSpPr/>
          <p:nvPr/>
        </p:nvSpPr>
        <p:spPr>
          <a:xfrm>
            <a:off x="1782147" y="4260357"/>
            <a:ext cx="8229600" cy="457200"/>
          </a:xfrm>
          <a:prstGeom prst="rect">
            <a:avLst/>
          </a:prstGeom>
          <a:solidFill>
            <a:srgbClr val="F8D7DA"/>
          </a:solidFill>
          <a:ln/>
        </p:spPr>
        <p:txBody>
          <a:bodyPr/>
          <a:lstStyle/>
          <a:p>
            <a:endParaRPr lang="en-US"/>
          </a:p>
        </p:txBody>
      </p:sp>
      <p:sp>
        <p:nvSpPr>
          <p:cNvPr id="8" name="Text 6"/>
          <p:cNvSpPr/>
          <p:nvPr/>
        </p:nvSpPr>
        <p:spPr>
          <a:xfrm>
            <a:off x="1965027" y="4334536"/>
            <a:ext cx="7863840" cy="365760"/>
          </a:xfrm>
          <a:prstGeom prst="rect">
            <a:avLst/>
          </a:prstGeom>
          <a:noFill/>
          <a:ln/>
        </p:spPr>
        <p:txBody>
          <a:bodyPr wrap="square" rtlCol="0" anchor="ctr"/>
          <a:lstStyle/>
          <a:p>
            <a:pPr marL="0" indent="0" algn="r">
              <a:buNone/>
            </a:pPr>
            <a:r>
              <a:rPr lang="en-US" sz="2400" b="1" dirty="0">
                <a:solidFill>
                  <a:srgbClr val="DC3545"/>
                </a:solidFill>
                <a:latin typeface="Arial" pitchFamily="34" charset="0"/>
                <a:ea typeface="Arial" pitchFamily="34" charset="-122"/>
                <a:cs typeface="Arial" pitchFamily="34" charset="-120"/>
              </a:rPr>
              <a:t>⚠️ </a:t>
            </a:r>
            <a:r>
              <a:rPr lang="en-US" sz="2400" b="1" dirty="0" err="1">
                <a:solidFill>
                  <a:srgbClr val="DC3545"/>
                </a:solidFill>
                <a:latin typeface="Arial" pitchFamily="34" charset="0"/>
                <a:ea typeface="Arial" pitchFamily="34" charset="-122"/>
                <a:cs typeface="Arial" pitchFamily="34" charset="-120"/>
              </a:rPr>
              <a:t>المخالفات</a:t>
            </a:r>
            <a:r>
              <a:rPr lang="ar-AE" sz="2400" b="1" dirty="0">
                <a:solidFill>
                  <a:srgbClr val="DC3545"/>
                </a:solidFill>
                <a:latin typeface="Arial" pitchFamily="34" charset="0"/>
                <a:ea typeface="Arial" pitchFamily="34" charset="-122"/>
                <a:cs typeface="Arial" pitchFamily="34" charset="-120"/>
              </a:rPr>
              <a:t> :</a:t>
            </a:r>
            <a:endParaRPr lang="en-US" sz="2400" dirty="0"/>
          </a:p>
        </p:txBody>
      </p:sp>
      <p:sp>
        <p:nvSpPr>
          <p:cNvPr id="9" name="Text 7"/>
          <p:cNvSpPr/>
          <p:nvPr/>
        </p:nvSpPr>
        <p:spPr>
          <a:xfrm>
            <a:off x="1535819" y="4779606"/>
            <a:ext cx="7863840" cy="914400"/>
          </a:xfrm>
          <a:prstGeom prst="rect">
            <a:avLst/>
          </a:prstGeom>
          <a:noFill/>
          <a:ln/>
        </p:spPr>
        <p:txBody>
          <a:bodyPr wrap="square" rtlCol="0" anchor="t"/>
          <a:lstStyle/>
          <a:p>
            <a:pPr marL="0" indent="0" algn="r">
              <a:buNone/>
            </a:pPr>
            <a:r>
              <a:rPr lang="en-US" sz="1800" dirty="0">
                <a:solidFill>
                  <a:srgbClr val="333333"/>
                </a:solidFill>
                <a:latin typeface="Arial" pitchFamily="34" charset="0"/>
                <a:ea typeface="Arial" pitchFamily="34" charset="-122"/>
                <a:cs typeface="Arial" pitchFamily="34" charset="-120"/>
              </a:rPr>
              <a:t>وجود أدوية بيطرية ومكملات ومواد غذائية منتهية الصلاحية</a:t>
            </a:r>
            <a:endParaRPr lang="en-US" sz="1800" dirty="0"/>
          </a:p>
        </p:txBody>
      </p:sp>
      <p:sp>
        <p:nvSpPr>
          <p:cNvPr id="10" name="Shape 8"/>
          <p:cNvSpPr/>
          <p:nvPr/>
        </p:nvSpPr>
        <p:spPr>
          <a:xfrm>
            <a:off x="1782147" y="5378165"/>
            <a:ext cx="8229600" cy="457200"/>
          </a:xfrm>
          <a:prstGeom prst="rect">
            <a:avLst/>
          </a:prstGeom>
          <a:solidFill>
            <a:srgbClr val="D1ECF1"/>
          </a:solidFill>
          <a:ln/>
        </p:spPr>
        <p:txBody>
          <a:bodyPr/>
          <a:lstStyle/>
          <a:p>
            <a:endParaRPr lang="en-US"/>
          </a:p>
        </p:txBody>
      </p:sp>
      <p:sp>
        <p:nvSpPr>
          <p:cNvPr id="11" name="Text 9"/>
          <p:cNvSpPr/>
          <p:nvPr/>
        </p:nvSpPr>
        <p:spPr>
          <a:xfrm>
            <a:off x="1965027" y="5403357"/>
            <a:ext cx="7863840" cy="365760"/>
          </a:xfrm>
          <a:prstGeom prst="rect">
            <a:avLst/>
          </a:prstGeom>
          <a:noFill/>
          <a:ln/>
        </p:spPr>
        <p:txBody>
          <a:bodyPr wrap="square" rtlCol="0" anchor="ctr"/>
          <a:lstStyle/>
          <a:p>
            <a:pPr marL="0" indent="0" algn="r">
              <a:buNone/>
            </a:pPr>
            <a:r>
              <a:rPr lang="en-US" sz="2400" b="1" dirty="0">
                <a:solidFill>
                  <a:srgbClr val="17A2B8"/>
                </a:solidFill>
                <a:latin typeface="Arial" pitchFamily="34" charset="0"/>
                <a:ea typeface="Arial" pitchFamily="34" charset="-122"/>
                <a:cs typeface="Arial" pitchFamily="34" charset="-120"/>
              </a:rPr>
              <a:t>💡 </a:t>
            </a:r>
            <a:r>
              <a:rPr lang="en-US" sz="2400" b="1" dirty="0" err="1">
                <a:solidFill>
                  <a:srgbClr val="17A2B8"/>
                </a:solidFill>
                <a:latin typeface="Arial" pitchFamily="34" charset="0"/>
                <a:ea typeface="Arial" pitchFamily="34" charset="-122"/>
                <a:cs typeface="Arial" pitchFamily="34" charset="-120"/>
              </a:rPr>
              <a:t>بنود</a:t>
            </a:r>
            <a:r>
              <a:rPr lang="en-US" sz="2400" b="1" dirty="0">
                <a:solidFill>
                  <a:srgbClr val="17A2B8"/>
                </a:solidFill>
                <a:latin typeface="Arial" pitchFamily="34" charset="0"/>
                <a:ea typeface="Arial" pitchFamily="34" charset="-122"/>
                <a:cs typeface="Arial" pitchFamily="34" charset="-120"/>
              </a:rPr>
              <a:t> </a:t>
            </a:r>
            <a:r>
              <a:rPr lang="en-US" sz="2400" b="1" dirty="0" err="1">
                <a:solidFill>
                  <a:srgbClr val="17A2B8"/>
                </a:solidFill>
                <a:latin typeface="Arial" pitchFamily="34" charset="0"/>
                <a:ea typeface="Arial" pitchFamily="34" charset="-122"/>
                <a:cs typeface="Arial" pitchFamily="34" charset="-120"/>
              </a:rPr>
              <a:t>التوعية</a:t>
            </a:r>
            <a:r>
              <a:rPr lang="ar-AE" sz="2400" b="1" dirty="0">
                <a:solidFill>
                  <a:srgbClr val="17A2B8"/>
                </a:solidFill>
                <a:latin typeface="Arial" pitchFamily="34" charset="0"/>
                <a:ea typeface="Arial" pitchFamily="34" charset="-122"/>
                <a:cs typeface="Arial" pitchFamily="34" charset="-120"/>
              </a:rPr>
              <a:t> :</a:t>
            </a:r>
            <a:endParaRPr lang="en-US" sz="2400" dirty="0"/>
          </a:p>
        </p:txBody>
      </p:sp>
      <p:sp>
        <p:nvSpPr>
          <p:cNvPr id="12" name="Text 10"/>
          <p:cNvSpPr/>
          <p:nvPr/>
        </p:nvSpPr>
        <p:spPr>
          <a:xfrm>
            <a:off x="1535819" y="5947332"/>
            <a:ext cx="7863840" cy="914400"/>
          </a:xfrm>
          <a:prstGeom prst="rect">
            <a:avLst/>
          </a:prstGeom>
          <a:noFill/>
          <a:ln/>
        </p:spPr>
        <p:txBody>
          <a:bodyPr wrap="square" rtlCol="0" anchor="t"/>
          <a:lstStyle/>
          <a:p>
            <a:pPr marL="0" indent="0" algn="r">
              <a:buNone/>
            </a:pPr>
            <a:r>
              <a:rPr lang="en-US" sz="1800" dirty="0">
                <a:solidFill>
                  <a:srgbClr val="333333"/>
                </a:solidFill>
                <a:latin typeface="Arial" pitchFamily="34" charset="0"/>
                <a:ea typeface="Arial" pitchFamily="34" charset="-122"/>
                <a:cs typeface="Arial" pitchFamily="34" charset="-120"/>
              </a:rPr>
              <a:t>التوعية بأهمية الإلتزام والتقيد بتواريخ الصلاحية للأدوية البيطرية والمكملات والمواد الغذائية </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1380930" y="117566"/>
            <a:ext cx="9144000" cy="640080"/>
          </a:xfrm>
          <a:prstGeom prst="rect">
            <a:avLst/>
          </a:prstGeom>
          <a:solidFill>
            <a:srgbClr val="27AE60"/>
          </a:solidFill>
          <a:ln/>
        </p:spPr>
        <p:txBody>
          <a:bodyPr/>
          <a:lstStyle/>
          <a:p>
            <a:endParaRPr lang="en-US"/>
          </a:p>
        </p:txBody>
      </p:sp>
      <p:sp>
        <p:nvSpPr>
          <p:cNvPr id="3" name="Text 1"/>
          <p:cNvSpPr/>
          <p:nvPr/>
        </p:nvSpPr>
        <p:spPr>
          <a:xfrm>
            <a:off x="1763486" y="209006"/>
            <a:ext cx="8229600" cy="457200"/>
          </a:xfrm>
          <a:prstGeom prst="rect">
            <a:avLst/>
          </a:prstGeom>
          <a:noFill/>
          <a:ln/>
        </p:spPr>
        <p:txBody>
          <a:bodyPr wrap="square" rtlCol="0" anchor="ctr"/>
          <a:lstStyle/>
          <a:p>
            <a:pPr marL="0" indent="0" algn="ctr">
              <a:buNone/>
            </a:pPr>
            <a:r>
              <a:rPr lang="en-US" sz="3200" b="1" dirty="0">
                <a:solidFill>
                  <a:srgbClr val="FFFFFF"/>
                </a:solidFill>
                <a:latin typeface="Arial" pitchFamily="34" charset="0"/>
                <a:ea typeface="Arial" pitchFamily="34" charset="-122"/>
                <a:cs typeface="Arial" pitchFamily="34" charset="-120"/>
              </a:rPr>
              <a:t>📷 </a:t>
            </a:r>
            <a:r>
              <a:rPr lang="en-US" sz="3200" b="1" dirty="0" err="1">
                <a:solidFill>
                  <a:srgbClr val="FFFFFF"/>
                </a:solidFill>
                <a:latin typeface="Arial" pitchFamily="34" charset="0"/>
                <a:ea typeface="Arial" pitchFamily="34" charset="-122"/>
                <a:cs typeface="Arial" pitchFamily="34" charset="-120"/>
              </a:rPr>
              <a:t>الصور</a:t>
            </a:r>
            <a:r>
              <a:rPr lang="en-US" sz="3200" b="1" dirty="0">
                <a:solidFill>
                  <a:srgbClr val="FFFFFF"/>
                </a:solidFill>
                <a:latin typeface="Arial" pitchFamily="34" charset="0"/>
                <a:ea typeface="Arial" pitchFamily="34" charset="-122"/>
                <a:cs typeface="Arial" pitchFamily="34" charset="-120"/>
              </a:rPr>
              <a:t> </a:t>
            </a:r>
            <a:r>
              <a:rPr lang="en-US" sz="3200" b="1" dirty="0" err="1">
                <a:solidFill>
                  <a:srgbClr val="FFFFFF"/>
                </a:solidFill>
                <a:latin typeface="Arial" pitchFamily="34" charset="0"/>
                <a:ea typeface="Arial" pitchFamily="34" charset="-122"/>
                <a:cs typeface="Arial" pitchFamily="34" charset="-120"/>
              </a:rPr>
              <a:t>التوثيقية</a:t>
            </a:r>
            <a:endParaRPr lang="en-US" sz="3200" dirty="0"/>
          </a:p>
        </p:txBody>
      </p:sp>
      <p:pic>
        <p:nvPicPr>
          <p:cNvPr id="9" name="Picture 8" descr="A group of people standing in a room&#10;&#10;AI-generated content may be incorrect.">
            <a:extLst>
              <a:ext uri="{FF2B5EF4-FFF2-40B4-BE49-F238E27FC236}">
                <a16:creationId xmlns:a16="http://schemas.microsoft.com/office/drawing/2014/main" id="{A46B1E4C-BFE4-5D56-2F9E-209F4ACCD7B2}"/>
              </a:ext>
            </a:extLst>
          </p:cNvPr>
          <p:cNvPicPr>
            <a:picLocks noChangeAspect="1"/>
          </p:cNvPicPr>
          <p:nvPr/>
        </p:nvPicPr>
        <p:blipFill>
          <a:blip r:embed="rId3"/>
          <a:stretch>
            <a:fillRect/>
          </a:stretch>
        </p:blipFill>
        <p:spPr>
          <a:xfrm>
            <a:off x="2351313" y="1083697"/>
            <a:ext cx="3296428" cy="4395237"/>
          </a:xfrm>
          <a:prstGeom prst="rect">
            <a:avLst/>
          </a:prstGeom>
        </p:spPr>
      </p:pic>
      <p:pic>
        <p:nvPicPr>
          <p:cNvPr id="11" name="Picture 10" descr="A group of white bottles with labels&#10;&#10;AI-generated content may be incorrect.">
            <a:extLst>
              <a:ext uri="{FF2B5EF4-FFF2-40B4-BE49-F238E27FC236}">
                <a16:creationId xmlns:a16="http://schemas.microsoft.com/office/drawing/2014/main" id="{0F6142F7-177C-2E68-66E9-FBD73F02B53E}"/>
              </a:ext>
            </a:extLst>
          </p:cNvPr>
          <p:cNvPicPr>
            <a:picLocks noChangeAspect="1"/>
          </p:cNvPicPr>
          <p:nvPr/>
        </p:nvPicPr>
        <p:blipFill>
          <a:blip r:embed="rId4"/>
          <a:stretch>
            <a:fillRect/>
          </a:stretch>
        </p:blipFill>
        <p:spPr>
          <a:xfrm>
            <a:off x="6285721" y="1083697"/>
            <a:ext cx="3296428" cy="43952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1156996" y="91440"/>
            <a:ext cx="9144000" cy="640080"/>
          </a:xfrm>
          <a:prstGeom prst="rect">
            <a:avLst/>
          </a:prstGeom>
          <a:solidFill>
            <a:srgbClr val="27AE60"/>
          </a:solidFill>
          <a:ln/>
        </p:spPr>
        <p:txBody>
          <a:bodyPr/>
          <a:lstStyle/>
          <a:p>
            <a:endParaRPr lang="en-US"/>
          </a:p>
        </p:txBody>
      </p:sp>
      <p:sp>
        <p:nvSpPr>
          <p:cNvPr id="3" name="Text 1"/>
          <p:cNvSpPr/>
          <p:nvPr/>
        </p:nvSpPr>
        <p:spPr>
          <a:xfrm>
            <a:off x="1614196" y="182880"/>
            <a:ext cx="8229600" cy="457200"/>
          </a:xfrm>
          <a:prstGeom prst="rect">
            <a:avLst/>
          </a:prstGeom>
          <a:noFill/>
          <a:ln/>
        </p:spPr>
        <p:txBody>
          <a:bodyPr wrap="square" rtlCol="0" anchor="ctr"/>
          <a:lstStyle/>
          <a:p>
            <a:pPr marL="0" indent="0" algn="ctr">
              <a:buNone/>
            </a:pPr>
            <a:r>
              <a:rPr lang="en-US" sz="3200" b="1" dirty="0">
                <a:solidFill>
                  <a:srgbClr val="FFFFFF"/>
                </a:solidFill>
                <a:latin typeface="Arial" pitchFamily="34" charset="0"/>
                <a:ea typeface="Arial" pitchFamily="34" charset="-122"/>
                <a:cs typeface="Arial" pitchFamily="34" charset="-120"/>
              </a:rPr>
              <a:t>📷 </a:t>
            </a:r>
            <a:r>
              <a:rPr lang="en-US" sz="3200" b="1" dirty="0" err="1">
                <a:solidFill>
                  <a:srgbClr val="FFFFFF"/>
                </a:solidFill>
                <a:latin typeface="Arial" pitchFamily="34" charset="0"/>
                <a:ea typeface="Arial" pitchFamily="34" charset="-122"/>
                <a:cs typeface="Arial" pitchFamily="34" charset="-120"/>
              </a:rPr>
              <a:t>الصور</a:t>
            </a:r>
            <a:r>
              <a:rPr lang="en-US" sz="3200" b="1" dirty="0">
                <a:solidFill>
                  <a:srgbClr val="FFFFFF"/>
                </a:solidFill>
                <a:latin typeface="Arial" pitchFamily="34" charset="0"/>
                <a:ea typeface="Arial" pitchFamily="34" charset="-122"/>
                <a:cs typeface="Arial" pitchFamily="34" charset="-120"/>
              </a:rPr>
              <a:t> </a:t>
            </a:r>
            <a:r>
              <a:rPr lang="en-US" sz="3200" b="1" dirty="0" err="1">
                <a:solidFill>
                  <a:srgbClr val="FFFFFF"/>
                </a:solidFill>
                <a:latin typeface="Arial" pitchFamily="34" charset="0"/>
                <a:ea typeface="Arial" pitchFamily="34" charset="-122"/>
                <a:cs typeface="Arial" pitchFamily="34" charset="-120"/>
              </a:rPr>
              <a:t>التوثيقية</a:t>
            </a:r>
            <a:endParaRPr lang="en-US" sz="3200" dirty="0"/>
          </a:p>
        </p:txBody>
      </p:sp>
      <p:pic>
        <p:nvPicPr>
          <p:cNvPr id="7" name="Picture 6" descr="A computer screen with text on it&#10;&#10;AI-generated content may be incorrect.">
            <a:extLst>
              <a:ext uri="{FF2B5EF4-FFF2-40B4-BE49-F238E27FC236}">
                <a16:creationId xmlns:a16="http://schemas.microsoft.com/office/drawing/2014/main" id="{31ABBCFB-B9CE-E749-CA8B-7D37FA9619FA}"/>
              </a:ext>
            </a:extLst>
          </p:cNvPr>
          <p:cNvPicPr>
            <a:picLocks noChangeAspect="1"/>
          </p:cNvPicPr>
          <p:nvPr/>
        </p:nvPicPr>
        <p:blipFill>
          <a:blip r:embed="rId3"/>
          <a:stretch>
            <a:fillRect/>
          </a:stretch>
        </p:blipFill>
        <p:spPr>
          <a:xfrm>
            <a:off x="1156995" y="1331945"/>
            <a:ext cx="4743061" cy="3557296"/>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8473CCCA-53DD-6224-4732-EF38343FC83E}"/>
              </a:ext>
            </a:extLst>
          </p:cNvPr>
          <p:cNvPicPr>
            <a:picLocks noChangeAspect="1"/>
          </p:cNvPicPr>
          <p:nvPr/>
        </p:nvPicPr>
        <p:blipFill>
          <a:blip r:embed="rId4"/>
          <a:stretch>
            <a:fillRect/>
          </a:stretch>
        </p:blipFill>
        <p:spPr>
          <a:xfrm>
            <a:off x="6155094" y="1331945"/>
            <a:ext cx="4743062" cy="35572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8">
    <p:bg>
      <p:bgPr>
        <a:solidFill>
          <a:srgbClr val="27AE60"/>
        </a:solidFill>
        <a:effectLst/>
      </p:bgPr>
    </p:bg>
    <p:spTree>
      <p:nvGrpSpPr>
        <p:cNvPr id="1" name=""/>
        <p:cNvGrpSpPr/>
        <p:nvPr/>
      </p:nvGrpSpPr>
      <p:grpSpPr>
        <a:xfrm>
          <a:off x="0" y="0"/>
          <a:ext cx="0" cy="0"/>
          <a:chOff x="0" y="0"/>
          <a:chExt cx="0" cy="0"/>
        </a:xfrm>
      </p:grpSpPr>
      <p:sp>
        <p:nvSpPr>
          <p:cNvPr id="2" name="Text 0"/>
          <p:cNvSpPr/>
          <p:nvPr/>
        </p:nvSpPr>
        <p:spPr>
          <a:xfrm>
            <a:off x="1981200" y="1828800"/>
            <a:ext cx="8229600" cy="914400"/>
          </a:xfrm>
          <a:prstGeom prst="rect">
            <a:avLst/>
          </a:prstGeom>
          <a:noFill/>
          <a:ln/>
        </p:spPr>
        <p:txBody>
          <a:bodyPr wrap="square" rtlCol="0" anchor="ctr"/>
          <a:lstStyle/>
          <a:p>
            <a:pPr marL="0" indent="0" algn="ctr">
              <a:buNone/>
            </a:pPr>
            <a:r>
              <a:rPr lang="en-US" sz="4800" b="1" dirty="0">
                <a:solidFill>
                  <a:srgbClr val="FFFFFF"/>
                </a:solidFill>
                <a:latin typeface="Arial" pitchFamily="34" charset="0"/>
                <a:ea typeface="Arial" pitchFamily="34" charset="-122"/>
                <a:cs typeface="Arial" pitchFamily="34" charset="-120"/>
              </a:rPr>
              <a:t>✅ انتهى التقرير</a:t>
            </a:r>
            <a:endParaRPr lang="en-US" sz="4800" dirty="0"/>
          </a:p>
        </p:txBody>
      </p:sp>
      <p:sp>
        <p:nvSpPr>
          <p:cNvPr id="3" name="Text 1"/>
          <p:cNvSpPr/>
          <p:nvPr/>
        </p:nvSpPr>
        <p:spPr>
          <a:xfrm>
            <a:off x="1884784" y="3200400"/>
            <a:ext cx="8229600" cy="548640"/>
          </a:xfrm>
          <a:prstGeom prst="rect">
            <a:avLst/>
          </a:prstGeom>
          <a:noFill/>
          <a:ln/>
        </p:spPr>
        <p:txBody>
          <a:bodyPr wrap="square" rtlCol="0" anchor="ctr"/>
          <a:lstStyle/>
          <a:p>
            <a:pPr marL="0" indent="0" algn="ctr">
              <a:buNone/>
            </a:pPr>
            <a:r>
              <a:rPr lang="en-US" sz="2400" i="1" dirty="0">
                <a:solidFill>
                  <a:srgbClr val="FFFFFF"/>
                </a:solidFill>
                <a:latin typeface="Arial" pitchFamily="34" charset="0"/>
                <a:ea typeface="Arial" pitchFamily="34" charset="-122"/>
                <a:cs typeface="Arial" pitchFamily="34" charset="-120"/>
              </a:rPr>
              <a:t>تم إعداد هذا التقرير بواسطة نظام إدارة التفتيش</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348</Words>
  <Application>Microsoft Office PowerPoint</Application>
  <PresentationFormat>Widescreen</PresentationFormat>
  <Paragraphs>66</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Ali  Mohamed Ali Abdel Aal</cp:lastModifiedBy>
  <cp:revision>2</cp:revision>
  <dcterms:created xsi:type="dcterms:W3CDTF">2025-11-25T11:10:43Z</dcterms:created>
  <dcterms:modified xsi:type="dcterms:W3CDTF">2025-11-25T11:42:12Z</dcterms:modified>
</cp:coreProperties>
</file>