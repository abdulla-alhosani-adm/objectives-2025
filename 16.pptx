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77" r:id="rId3"/>
    <p:sldId id="278" r:id="rId4"/>
    <p:sldId id="279" r:id="rId5"/>
    <p:sldId id="280" r:id="rId6"/>
    <p:sldId id="281" r:id="rId7"/>
    <p:sldId id="28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4660"/>
  </p:normalViewPr>
  <p:slideViewPr>
    <p:cSldViewPr snapToGrid="0">
      <p:cViewPr varScale="1">
        <p:scale>
          <a:sx n="94" d="100"/>
          <a:sy n="94" d="100"/>
        </p:scale>
        <p:origin x="102"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8"/>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
            <a:ext cx="6595533"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651625"/>
            <a:ext cx="121920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userDrawn="1"/>
        </p:nvPicPr>
        <p:blipFill rotWithShape="1">
          <a:blip r:embed="rId4" cstate="print">
            <a:extLst>
              <a:ext uri="{28A0092B-C50C-407E-A947-70E740481C1C}">
                <a14:useLocalDpi xmlns:a14="http://schemas.microsoft.com/office/drawing/2010/main" val="0"/>
              </a:ext>
            </a:extLst>
          </a:blip>
          <a:srcRect l="7436" t="10344" r="6448" b="12348"/>
          <a:stretch/>
        </p:blipFill>
        <p:spPr>
          <a:xfrm>
            <a:off x="7873525" y="153825"/>
            <a:ext cx="3965248" cy="1213503"/>
          </a:xfrm>
          <a:prstGeom prst="rect">
            <a:avLst/>
          </a:prstGeom>
        </p:spPr>
      </p:pic>
    </p:spTree>
    <p:extLst>
      <p:ext uri="{BB962C8B-B14F-4D97-AF65-F5344CB8AC3E}">
        <p14:creationId xmlns:p14="http://schemas.microsoft.com/office/powerpoint/2010/main" val="218154941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0628E4-C365-4DBB-9B94-3291F4E78869}" type="datetimeFigureOut">
              <a:rPr lang="en-US"/>
              <a:t>12/9/2025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429AE-43E8-4EA0-ABCF-4EF897484BB0}" type="slidenum">
              <a:rPr lang="en-US"/>
              <a:t>‹#›</a:t>
            </a:fld>
            <a:endParaRPr lang="en-US"/>
          </a:p>
        </p:txBody>
      </p:sp>
    </p:spTree>
    <p:extLst>
      <p:ext uri="{BB962C8B-B14F-4D97-AF65-F5344CB8AC3E}">
        <p14:creationId xmlns:p14="http://schemas.microsoft.com/office/powerpoint/2010/main" val="804307413"/>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1C2B86-E06C-D3DC-65E6-44B9FCE392A0}"/>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gn="r" rtl="1">
              <a:lnSpc>
                <a:spcPct val="90000"/>
              </a:lnSpc>
              <a:spcBef>
                <a:spcPct val="0"/>
              </a:spcBef>
              <a:spcAft>
                <a:spcPts val="600"/>
              </a:spcAft>
            </a:pPr>
            <a:endParaRPr lang="en-US" sz="3100" dirty="0">
              <a:solidFill>
                <a:prstClr val="black"/>
              </a:solidFill>
              <a:latin typeface="Calibri Light" panose="020F0302020204030204"/>
            </a:endParaRPr>
          </a:p>
        </p:txBody>
      </p:sp>
      <p:sp>
        <p:nvSpPr>
          <p:cNvPr id="5" name="TextBox 4">
            <a:extLst>
              <a:ext uri="{FF2B5EF4-FFF2-40B4-BE49-F238E27FC236}">
                <a16:creationId xmlns:a16="http://schemas.microsoft.com/office/drawing/2014/main" id="{BF977E08-670E-0628-5043-A2D18677C61D}"/>
              </a:ext>
            </a:extLst>
          </p:cNvPr>
          <p:cNvSpPr txBox="1"/>
          <p:nvPr/>
        </p:nvSpPr>
        <p:spPr>
          <a:xfrm>
            <a:off x="2707040" y="1519664"/>
            <a:ext cx="6777920" cy="52322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r="100000" b="100000"/>
            </a:path>
            <a:tileRect l="-100000" t="-100000"/>
          </a:gradFill>
        </p:spPr>
        <p:txBody>
          <a:bodyPr wrap="square">
            <a:spAutoFit/>
          </a:bodyPr>
          <a:lstStyle/>
          <a:p>
            <a:pPr algn="ctr" defTabSz="457200"/>
            <a:r>
              <a:rPr lang="ar-AE" sz="2800" b="1" dirty="0">
                <a:solidFill>
                  <a:srgbClr val="000000"/>
                </a:solidFill>
                <a:latin typeface="UICTFontTextStyleBody"/>
                <a:cs typeface="Times New Roman" panose="02020603050405020304" pitchFamily="18" charset="0"/>
              </a:rPr>
              <a:t>6- محضر توعية وتوجيه وإرشاد للأفراد بناءاً علي بلاغ</a:t>
            </a:r>
            <a:r>
              <a:rPr lang="en-US" sz="2800" b="1" dirty="0">
                <a:solidFill>
                  <a:srgbClr val="000000"/>
                </a:solidFill>
                <a:latin typeface="UICTFontTextStyleBody"/>
              </a:rPr>
              <a:t> </a:t>
            </a:r>
            <a:endParaRPr lang="en-US" sz="2800" b="1"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3C5407C8-A47F-C956-D440-AD0495AF7B35}"/>
              </a:ext>
            </a:extLst>
          </p:cNvPr>
          <p:cNvSpPr txBox="1"/>
          <p:nvPr/>
        </p:nvSpPr>
        <p:spPr>
          <a:xfrm>
            <a:off x="1620374" y="4838252"/>
            <a:ext cx="8753707" cy="1569660"/>
          </a:xfrm>
          <a:prstGeom prst="rect">
            <a:avLst/>
          </a:prstGeom>
          <a:solidFill>
            <a:schemeClr val="bg1"/>
          </a:solidFill>
        </p:spPr>
        <p:txBody>
          <a:bodyPr wrap="square">
            <a:spAutoFit/>
          </a:bodyPr>
          <a:lstStyle/>
          <a:p>
            <a:pPr algn="r" defTabSz="457200" rtl="1"/>
            <a:r>
              <a:rPr lang="ar-AE" sz="1600" b="1" dirty="0">
                <a:solidFill>
                  <a:srgbClr val="000000"/>
                </a:solidFill>
                <a:latin typeface="UICTFontTextStyleBody"/>
                <a:cs typeface="Times New Roman" panose="02020603050405020304" pitchFamily="18" charset="0"/>
              </a:rPr>
              <a:t> </a:t>
            </a:r>
            <a:r>
              <a:rPr lang="ar-AE" sz="1600" dirty="0">
                <a:solidFill>
                  <a:srgbClr val="000000"/>
                </a:solidFill>
                <a:latin typeface="UICTFontTextStyleBody"/>
                <a:cs typeface="Times New Roman" panose="02020603050405020304" pitchFamily="18" charset="0"/>
              </a:rPr>
              <a:t>بمعرفتي أنا الدكتور علي محمد علي محمد عبدالعال – مأمور الضبط الإداري والقضائى  بجهة بلدية مدينة أبوظبي </a:t>
            </a:r>
            <a:r>
              <a:rPr lang="ar-AE" sz="16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المخول بصفة الضبطية القضائية بموجب قرار  رئيس دائرة القضاء رقم (</a:t>
            </a:r>
            <a:r>
              <a:rPr lang="en-GB" sz="1600" dirty="0">
                <a:solidFill>
                  <a:srgbClr val="333333"/>
                </a:solidFill>
                <a:latin typeface="Sakkal Majalla" panose="02000000000000000000" pitchFamily="2" charset="-78"/>
                <a:ea typeface="Times New Roman" panose="02020603050405020304" pitchFamily="18" charset="0"/>
                <a:cs typeface="Times New Roman" panose="02020603050405020304" pitchFamily="18" charset="0"/>
              </a:rPr>
              <a:t>12</a:t>
            </a:r>
            <a:r>
              <a:rPr lang="ar-AE" sz="16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 لسنة </a:t>
            </a:r>
            <a:r>
              <a:rPr lang="en-US" sz="12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2025</a:t>
            </a:r>
            <a:r>
              <a:rPr lang="ar-AE" sz="16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هوية رقم </a:t>
            </a:r>
            <a:r>
              <a:rPr lang="ar-SA" sz="1600" dirty="0">
                <a:solidFill>
                  <a:srgbClr val="333333"/>
                </a:solidFill>
                <a:latin typeface="Sakkal Majalla" panose="02000000000000000000" pitchFamily="2" charset="-78"/>
                <a:ea typeface="Times New Roman" panose="02020603050405020304" pitchFamily="18" charset="0"/>
                <a:cs typeface="Times New Roman" panose="02020603050405020304" pitchFamily="18" charset="0"/>
              </a:rPr>
              <a:t>....... </a:t>
            </a:r>
            <a:r>
              <a:rPr lang="ar-AE" sz="16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قمت بالتاريخ والوقت المبين أعلاه بالتوجه مسرعاً بناءاً علي البلاغ رقم </a:t>
            </a:r>
            <a:r>
              <a:rPr lang="ar-AE" sz="1600" dirty="0">
                <a:solidFill>
                  <a:srgbClr val="000000"/>
                </a:solidFill>
                <a:latin typeface="UICTFontTextStyleBody"/>
                <a:cs typeface="Arial" panose="020B0604020202020204" pitchFamily="34" charset="0"/>
              </a:rPr>
              <a:t>5478583-241224</a:t>
            </a:r>
            <a:r>
              <a:rPr lang="ar-AE" sz="1600" dirty="0">
                <a:solidFill>
                  <a:srgbClr val="333333"/>
                </a:solidFill>
                <a:latin typeface="Arial" panose="020B0604020202020204" pitchFamily="34" charset="0"/>
                <a:ea typeface="Times New Roman" panose="02020603050405020304" pitchFamily="18" charset="0"/>
                <a:cs typeface="Sakkal Majalla" panose="02000000000000000000" pitchFamily="2" charset="-78"/>
              </a:rPr>
              <a:t> إلي العنوان المبين أعلاه  </a:t>
            </a:r>
            <a:endParaRPr lang="ar-AE" sz="1600" dirty="0">
              <a:solidFill>
                <a:srgbClr val="000000"/>
              </a:solidFill>
              <a:latin typeface="UICTFontTextStyleBody"/>
              <a:cs typeface="Times New Roman" panose="02020603050405020304" pitchFamily="18" charset="0"/>
            </a:endParaRPr>
          </a:p>
          <a:p>
            <a:pPr algn="r" defTabSz="457200" rtl="1"/>
            <a:r>
              <a:rPr lang="ar-AE" sz="1600" dirty="0">
                <a:solidFill>
                  <a:srgbClr val="000000"/>
                </a:solidFill>
                <a:latin typeface="UICTFontTextStyleBody"/>
                <a:cs typeface="Times New Roman" panose="02020603050405020304" pitchFamily="18" charset="0"/>
              </a:rPr>
              <a:t>في وجود حارس البناية ومشرف الحراس ؛ قابلت صاحبة الشقة محل البلاغ وتبين أنها تحمل الجنسية الصينية وتتحدث فقط اللغة الصينية وعليه لجأت مسرعاً بالإستعانة بأحد تقنيات الترجمة الموثوقة للتحقق من صحة البلاغ المقدم في حقها فيما يخص بند المخالفة المبين أعلاه </a:t>
            </a:r>
          </a:p>
          <a:p>
            <a:pPr algn="r" defTabSz="457200"/>
            <a:endParaRPr lang="ar-AE" sz="1600" b="1" dirty="0">
              <a:solidFill>
                <a:srgbClr val="000000"/>
              </a:solidFill>
              <a:latin typeface="UICTFontTextStyleBody"/>
              <a:cs typeface="Times New Roman" panose="02020603050405020304" pitchFamily="18" charset="0"/>
            </a:endParaRPr>
          </a:p>
        </p:txBody>
      </p:sp>
      <p:graphicFrame>
        <p:nvGraphicFramePr>
          <p:cNvPr id="4" name="Table 4">
            <a:extLst>
              <a:ext uri="{FF2B5EF4-FFF2-40B4-BE49-F238E27FC236}">
                <a16:creationId xmlns:a16="http://schemas.microsoft.com/office/drawing/2014/main" id="{10E21C19-7804-F673-EB1C-30001B02F089}"/>
              </a:ext>
            </a:extLst>
          </p:cNvPr>
          <p:cNvGraphicFramePr>
            <a:graphicFrameLocks noGrp="1"/>
          </p:cNvGraphicFramePr>
          <p:nvPr/>
        </p:nvGraphicFramePr>
        <p:xfrm>
          <a:off x="1620375" y="2255520"/>
          <a:ext cx="8753707" cy="2346960"/>
        </p:xfrm>
        <a:graphic>
          <a:graphicData uri="http://schemas.openxmlformats.org/drawingml/2006/table">
            <a:tbl>
              <a:tblPr firstRow="1" bandRow="1">
                <a:tableStyleId>{5C22544A-7EE6-4342-B048-85BDC9FD1C3A}</a:tableStyleId>
              </a:tblPr>
              <a:tblGrid>
                <a:gridCol w="6820041">
                  <a:extLst>
                    <a:ext uri="{9D8B030D-6E8A-4147-A177-3AD203B41FA5}">
                      <a16:colId xmlns:a16="http://schemas.microsoft.com/office/drawing/2014/main" val="24462709"/>
                    </a:ext>
                  </a:extLst>
                </a:gridCol>
                <a:gridCol w="1933666">
                  <a:extLst>
                    <a:ext uri="{9D8B030D-6E8A-4147-A177-3AD203B41FA5}">
                      <a16:colId xmlns:a16="http://schemas.microsoft.com/office/drawing/2014/main" val="967281471"/>
                    </a:ext>
                  </a:extLst>
                </a:gridCol>
              </a:tblGrid>
              <a:tr h="228402">
                <a:tc>
                  <a:txBody>
                    <a:bodyPr/>
                    <a:lstStyle/>
                    <a:p>
                      <a:pPr marL="457200" marR="0" lvl="1" algn="ctr" rtl="0">
                        <a:spcBef>
                          <a:spcPts val="0"/>
                        </a:spcBef>
                        <a:spcAft>
                          <a:spcPts val="0"/>
                        </a:spcAft>
                      </a:pPr>
                      <a:r>
                        <a:rPr lang="en-US" sz="1800" b="0" dirty="0">
                          <a:solidFill>
                            <a:srgbClr val="333333"/>
                          </a:solidFill>
                          <a:effectLst/>
                          <a:latin typeface="Arial" panose="020B0604020202020204" pitchFamily="34" charset="0"/>
                          <a:ea typeface="Times New Roman" panose="02020603050405020304" pitchFamily="18" charset="0"/>
                          <a:cs typeface="Sakkal Majalla" panose="02000000000000000000" pitchFamily="2" charset="-78"/>
                        </a:rPr>
                        <a:t>2024-12-30</a:t>
                      </a:r>
                      <a:endParaRPr lang="en-US" sz="1800" b="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ar-AE" sz="1600" b="0" dirty="0">
                          <a:solidFill>
                            <a:schemeClr val="tx1"/>
                          </a:solidFill>
                        </a:rPr>
                        <a:t>التاريخ</a:t>
                      </a:r>
                      <a:endParaRPr lang="en-US" sz="1600" b="0" dirty="0">
                        <a:solidFill>
                          <a:schemeClr val="tx1"/>
                        </a:solidFill>
                      </a:endParaRPr>
                    </a:p>
                  </a:txBody>
                  <a:tcPr/>
                </a:tc>
                <a:extLst>
                  <a:ext uri="{0D108BD9-81ED-4DB2-BD59-A6C34878D82A}">
                    <a16:rowId xmlns:a16="http://schemas.microsoft.com/office/drawing/2014/main" val="2439824098"/>
                  </a:ext>
                </a:extLst>
              </a:tr>
              <a:tr h="228402">
                <a:tc>
                  <a:txBody>
                    <a:bodyPr/>
                    <a:lstStyle/>
                    <a:p>
                      <a:pPr algn="ctr" rtl="1"/>
                      <a:r>
                        <a:rPr lang="en-US" sz="1600" b="0" dirty="0"/>
                        <a:t>1:45</a:t>
                      </a:r>
                      <a:r>
                        <a:rPr lang="ar-AE" sz="1600" b="0" dirty="0"/>
                        <a:t>0 مساء</a:t>
                      </a:r>
                      <a:r>
                        <a:rPr lang="ar-SA" sz="1600" b="0" dirty="0" err="1"/>
                        <a:t>اً</a:t>
                      </a:r>
                      <a:endParaRPr lang="en-US" sz="1600" b="0" dirty="0"/>
                    </a:p>
                  </a:txBody>
                  <a:tcPr/>
                </a:tc>
                <a:tc>
                  <a:txBody>
                    <a:bodyPr/>
                    <a:lstStyle/>
                    <a:p>
                      <a:pPr algn="ctr"/>
                      <a:r>
                        <a:rPr lang="ar-SA" sz="1600" b="0" dirty="0"/>
                        <a:t>الوقت</a:t>
                      </a:r>
                      <a:endParaRPr lang="en-US" sz="1600" b="0" dirty="0"/>
                    </a:p>
                  </a:txBody>
                  <a:tcPr/>
                </a:tc>
                <a:extLst>
                  <a:ext uri="{0D108BD9-81ED-4DB2-BD59-A6C34878D82A}">
                    <a16:rowId xmlns:a16="http://schemas.microsoft.com/office/drawing/2014/main" val="262411190"/>
                  </a:ext>
                </a:extLst>
              </a:tr>
              <a:tr h="228402">
                <a:tc>
                  <a:txBody>
                    <a:bodyPr/>
                    <a:lstStyle/>
                    <a:p>
                      <a:pPr marL="0" algn="ctr" defTabSz="914400" rtl="1" eaLnBrk="1" latinLnBrk="0" hangingPunct="1"/>
                      <a:r>
                        <a:rPr lang="en-US" sz="1600" b="0" i="0" kern="1200" dirty="0" err="1">
                          <a:solidFill>
                            <a:srgbClr val="000000"/>
                          </a:solidFill>
                          <a:effectLst/>
                          <a:latin typeface="UICTFontTextStyleBody"/>
                          <a:ea typeface="+mn-ea"/>
                          <a:cs typeface="+mn-cs"/>
                        </a:rPr>
                        <a:t>jie</a:t>
                      </a:r>
                      <a:r>
                        <a:rPr lang="en-US" sz="1600" b="0" i="0" kern="1200" dirty="0">
                          <a:solidFill>
                            <a:srgbClr val="000000"/>
                          </a:solidFill>
                          <a:effectLst/>
                          <a:latin typeface="UICTFontTextStyleBody"/>
                          <a:ea typeface="+mn-ea"/>
                          <a:cs typeface="+mn-cs"/>
                        </a:rPr>
                        <a:t> </a:t>
                      </a:r>
                      <a:r>
                        <a:rPr lang="en-US" sz="1600" b="0" i="0" kern="1200" dirty="0" err="1">
                          <a:solidFill>
                            <a:srgbClr val="000000"/>
                          </a:solidFill>
                          <a:effectLst/>
                          <a:latin typeface="UICTFontTextStyleBody"/>
                          <a:ea typeface="+mn-ea"/>
                          <a:cs typeface="+mn-cs"/>
                        </a:rPr>
                        <a:t>xin</a:t>
                      </a:r>
                      <a:r>
                        <a:rPr lang="en-US" sz="1600" b="0" i="0" kern="1200" dirty="0">
                          <a:solidFill>
                            <a:srgbClr val="000000"/>
                          </a:solidFill>
                          <a:effectLst/>
                          <a:latin typeface="UICTFontTextStyleBody"/>
                          <a:ea typeface="+mn-ea"/>
                          <a:cs typeface="+mn-cs"/>
                        </a:rPr>
                        <a:t> goo g</a:t>
                      </a:r>
                      <a:r>
                        <a:rPr lang="ar-AE" sz="1600" b="0" kern="1200" dirty="0">
                          <a:solidFill>
                            <a:srgbClr val="000000"/>
                          </a:solidFill>
                          <a:latin typeface="UICTFontTextStyleBody"/>
                          <a:ea typeface="+mn-ea"/>
                          <a:cs typeface="+mn-cs"/>
                        </a:rPr>
                        <a:t> </a:t>
                      </a:r>
                      <a:endParaRPr lang="en-US" sz="1600" b="0" dirty="0"/>
                    </a:p>
                  </a:txBody>
                  <a:tcPr/>
                </a:tc>
                <a:tc>
                  <a:txBody>
                    <a:bodyPr/>
                    <a:lstStyle/>
                    <a:p>
                      <a:pPr algn="ctr"/>
                      <a:r>
                        <a:rPr lang="ar-AE" sz="1600" b="0" dirty="0"/>
                        <a:t>اسم مرتكب المخالفة</a:t>
                      </a:r>
                      <a:endParaRPr lang="en-US" sz="1600" b="0" dirty="0"/>
                    </a:p>
                  </a:txBody>
                  <a:tcPr/>
                </a:tc>
                <a:extLst>
                  <a:ext uri="{0D108BD9-81ED-4DB2-BD59-A6C34878D82A}">
                    <a16:rowId xmlns:a16="http://schemas.microsoft.com/office/drawing/2014/main" val="373239492"/>
                  </a:ext>
                </a:extLst>
              </a:tr>
              <a:tr h="228402">
                <a:tc>
                  <a:txBody>
                    <a:bodyPr/>
                    <a:lstStyle/>
                    <a:p>
                      <a:pPr marL="0" algn="ctr" defTabSz="914400" rtl="1" eaLnBrk="1" latinLnBrk="0" hangingPunct="1"/>
                      <a:r>
                        <a:rPr lang="ar-AE" sz="1600" b="0" kern="1200" dirty="0">
                          <a:solidFill>
                            <a:srgbClr val="000000"/>
                          </a:solidFill>
                          <a:latin typeface="UICTFontTextStyleBody"/>
                          <a:ea typeface="+mn-ea"/>
                          <a:cs typeface="+mn-cs"/>
                        </a:rPr>
                        <a:t>5478583-241224</a:t>
                      </a:r>
                      <a:endParaRPr lang="en-US" sz="1600" b="0" dirty="0"/>
                    </a:p>
                  </a:txBody>
                  <a:tcPr/>
                </a:tc>
                <a:tc>
                  <a:txBody>
                    <a:bodyPr/>
                    <a:lstStyle/>
                    <a:p>
                      <a:pPr marL="0" algn="ctr" defTabSz="914400" rtl="1" eaLnBrk="1" latinLnBrk="0" hangingPunct="1"/>
                      <a:r>
                        <a:rPr lang="ar-SA" sz="1600" b="0" dirty="0"/>
                        <a:t>رقم البلاغ</a:t>
                      </a:r>
                      <a:endParaRPr lang="en-US" sz="1600" b="0" dirty="0"/>
                    </a:p>
                  </a:txBody>
                  <a:tcPr/>
                </a:tc>
                <a:extLst>
                  <a:ext uri="{0D108BD9-81ED-4DB2-BD59-A6C34878D82A}">
                    <a16:rowId xmlns:a16="http://schemas.microsoft.com/office/drawing/2014/main" val="488084759"/>
                  </a:ext>
                </a:extLst>
              </a:tr>
              <a:tr h="228402">
                <a:tc>
                  <a:txBody>
                    <a:bodyPr/>
                    <a:lstStyle/>
                    <a:p>
                      <a:pPr marL="0" algn="ctr" defTabSz="914400" rtl="1" eaLnBrk="1" latinLnBrk="0" hangingPunct="1"/>
                      <a:r>
                        <a:rPr lang="ar-AE" sz="1600" b="0" kern="1200" dirty="0">
                          <a:solidFill>
                            <a:srgbClr val="000000"/>
                          </a:solidFill>
                          <a:latin typeface="UICTFontTextStyleBody"/>
                          <a:ea typeface="+mn-ea"/>
                          <a:cs typeface="+mn-cs"/>
                        </a:rPr>
                        <a:t>0589568827</a:t>
                      </a:r>
                      <a:endParaRPr lang="en-US" sz="1600" b="0" dirty="0"/>
                    </a:p>
                  </a:txBody>
                  <a:tcPr/>
                </a:tc>
                <a:tc>
                  <a:txBody>
                    <a:bodyPr/>
                    <a:lstStyle/>
                    <a:p>
                      <a:pPr marL="0" algn="ctr" defTabSz="914400" rtl="0" eaLnBrk="1" latinLnBrk="0" hangingPunct="1"/>
                      <a:r>
                        <a:rPr lang="ar-SA" sz="1600" b="0" dirty="0"/>
                        <a:t>رقم الهاتف</a:t>
                      </a:r>
                      <a:endParaRPr lang="en-US" sz="1600" b="0" dirty="0"/>
                    </a:p>
                  </a:txBody>
                  <a:tcPr/>
                </a:tc>
                <a:extLst>
                  <a:ext uri="{0D108BD9-81ED-4DB2-BD59-A6C34878D82A}">
                    <a16:rowId xmlns:a16="http://schemas.microsoft.com/office/drawing/2014/main" val="3923580606"/>
                  </a:ext>
                </a:extLst>
              </a:tr>
              <a:tr h="2416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i="0" kern="1200" dirty="0">
                          <a:solidFill>
                            <a:srgbClr val="000000"/>
                          </a:solidFill>
                          <a:effectLst/>
                          <a:latin typeface="UICTFontTextStyleBody"/>
                          <a:ea typeface="+mn-ea"/>
                          <a:cs typeface="+mn-cs"/>
                        </a:rPr>
                        <a:t>مجمع فلل الريف بناية رقم 44 الطابق الثالث شقة رقم 306 </a:t>
                      </a:r>
                      <a:endParaRPr lang="ar-AE" sz="1600" b="0" dirty="0"/>
                    </a:p>
                  </a:txBody>
                  <a:tcPr/>
                </a:tc>
                <a:tc>
                  <a:txBody>
                    <a:bodyPr/>
                    <a:lstStyle/>
                    <a:p>
                      <a:pPr algn="ctr"/>
                      <a:r>
                        <a:rPr lang="ar-AE" sz="1600" b="0" dirty="0"/>
                        <a:t>الموقع</a:t>
                      </a:r>
                      <a:endParaRPr lang="en-US" sz="1600" b="0" dirty="0"/>
                    </a:p>
                  </a:txBody>
                  <a:tcPr/>
                </a:tc>
                <a:extLst>
                  <a:ext uri="{0D108BD9-81ED-4DB2-BD59-A6C34878D82A}">
                    <a16:rowId xmlns:a16="http://schemas.microsoft.com/office/drawing/2014/main" val="2776942025"/>
                  </a:ext>
                </a:extLst>
              </a:tr>
              <a:tr h="22840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kern="1200" dirty="0">
                          <a:solidFill>
                            <a:schemeClr val="dk1"/>
                          </a:solidFill>
                          <a:latin typeface="+mn-lt"/>
                          <a:ea typeface="+mn-ea"/>
                          <a:cs typeface="+mn-cs"/>
                        </a:rPr>
                        <a:t>إساءة معاملة الحيوان وعدم توفير الرعاية اللازمة والبيئة الملائمة له </a:t>
                      </a:r>
                      <a:endParaRPr lang="ar-AE" sz="1600" b="0" dirty="0"/>
                    </a:p>
                  </a:txBody>
                  <a:tcPr/>
                </a:tc>
                <a:tc>
                  <a:txBody>
                    <a:bodyPr/>
                    <a:lstStyle/>
                    <a:p>
                      <a:pPr marL="0" algn="ctr" defTabSz="914400" rtl="1" eaLnBrk="1" latinLnBrk="0" hangingPunct="1"/>
                      <a:r>
                        <a:rPr lang="ar-SA" sz="1600" b="0" dirty="0"/>
                        <a:t>بند المخالفة</a:t>
                      </a:r>
                      <a:endParaRPr lang="en-US" sz="1600" b="0" dirty="0"/>
                    </a:p>
                  </a:txBody>
                  <a:tcPr/>
                </a:tc>
                <a:extLst>
                  <a:ext uri="{0D108BD9-81ED-4DB2-BD59-A6C34878D82A}">
                    <a16:rowId xmlns:a16="http://schemas.microsoft.com/office/drawing/2014/main" val="1201023218"/>
                  </a:ext>
                </a:extLst>
              </a:tr>
            </a:tbl>
          </a:graphicData>
        </a:graphic>
      </p:graphicFrame>
    </p:spTree>
    <p:extLst>
      <p:ext uri="{BB962C8B-B14F-4D97-AF65-F5344CB8AC3E}">
        <p14:creationId xmlns:p14="http://schemas.microsoft.com/office/powerpoint/2010/main" val="3559555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FDD91A-ED42-ED79-213D-3A27B6CA96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108B57-5048-EA64-CB62-75AF17E3D1AF}"/>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gn="r" rtl="1">
              <a:lnSpc>
                <a:spcPct val="90000"/>
              </a:lnSpc>
              <a:spcBef>
                <a:spcPct val="0"/>
              </a:spcBef>
              <a:spcAft>
                <a:spcPts val="600"/>
              </a:spcAft>
            </a:pPr>
            <a:endParaRPr lang="en-US" sz="3100" dirty="0">
              <a:solidFill>
                <a:prstClr val="black"/>
              </a:solidFill>
              <a:latin typeface="Calibri Light" panose="020F0302020204030204"/>
            </a:endParaRPr>
          </a:p>
        </p:txBody>
      </p:sp>
      <p:sp>
        <p:nvSpPr>
          <p:cNvPr id="2" name="TextBox 1">
            <a:extLst>
              <a:ext uri="{FF2B5EF4-FFF2-40B4-BE49-F238E27FC236}">
                <a16:creationId xmlns:a16="http://schemas.microsoft.com/office/drawing/2014/main" id="{D61A34F3-C84B-D25A-2F96-1AF76248EEDC}"/>
              </a:ext>
            </a:extLst>
          </p:cNvPr>
          <p:cNvSpPr txBox="1"/>
          <p:nvPr/>
        </p:nvSpPr>
        <p:spPr>
          <a:xfrm>
            <a:off x="1707996" y="1661493"/>
            <a:ext cx="8776008" cy="830997"/>
          </a:xfrm>
          <a:prstGeom prst="rect">
            <a:avLst/>
          </a:prstGeom>
          <a:solidFill>
            <a:schemeClr val="bg1"/>
          </a:solidFill>
        </p:spPr>
        <p:txBody>
          <a:bodyPr wrap="square">
            <a:spAutoFit/>
          </a:bodyPr>
          <a:lstStyle/>
          <a:p>
            <a:pPr algn="r" defTabSz="457200" rtl="1"/>
            <a:r>
              <a:rPr lang="ar-AE" sz="1600" dirty="0">
                <a:solidFill>
                  <a:srgbClr val="000000"/>
                </a:solidFill>
                <a:latin typeface="UICTFontTextStyleBody"/>
                <a:cs typeface="Times New Roman" panose="02020603050405020304" pitchFamily="18" charset="0"/>
              </a:rPr>
              <a:t>وبعد التعريف عن نفسي وصفتي والترحيب بها ؛ أطلعتها علي مضمون البلاغ المقدم في حقها والذي تمثل في إبلاغ أحد الجيران بوجود كلب لديكم دائماً في الشرفة ويتم إساءة معاملته ويبدو في حالة مرضية سيئة ؛ فأكدت امتلاكها للكلب ووجوده بالداخل فوجب علي طلب الإذن منها بالدخول للمعاينة وإكمال المحضر، فوافقت ، فدخلت الشقة وفتح المحضر في تاريخه وساعته وبسؤالها بالآتي أجابت :</a:t>
            </a:r>
          </a:p>
        </p:txBody>
      </p:sp>
      <p:graphicFrame>
        <p:nvGraphicFramePr>
          <p:cNvPr id="4" name="Table 4">
            <a:extLst>
              <a:ext uri="{FF2B5EF4-FFF2-40B4-BE49-F238E27FC236}">
                <a16:creationId xmlns:a16="http://schemas.microsoft.com/office/drawing/2014/main" id="{200E23C7-00C7-6D88-88F7-42DF16E0C8C6}"/>
              </a:ext>
            </a:extLst>
          </p:cNvPr>
          <p:cNvGraphicFramePr>
            <a:graphicFrameLocks noGrp="1"/>
          </p:cNvGraphicFramePr>
          <p:nvPr/>
        </p:nvGraphicFramePr>
        <p:xfrm>
          <a:off x="1707996" y="2688289"/>
          <a:ext cx="8776008" cy="3745282"/>
        </p:xfrm>
        <a:graphic>
          <a:graphicData uri="http://schemas.openxmlformats.org/drawingml/2006/table">
            <a:tbl>
              <a:tblPr firstRow="1" bandRow="1">
                <a:tableStyleId>{5C22544A-7EE6-4342-B048-85BDC9FD1C3A}</a:tableStyleId>
              </a:tblPr>
              <a:tblGrid>
                <a:gridCol w="6837416">
                  <a:extLst>
                    <a:ext uri="{9D8B030D-6E8A-4147-A177-3AD203B41FA5}">
                      <a16:colId xmlns:a16="http://schemas.microsoft.com/office/drawing/2014/main" val="24462709"/>
                    </a:ext>
                  </a:extLst>
                </a:gridCol>
                <a:gridCol w="1938592">
                  <a:extLst>
                    <a:ext uri="{9D8B030D-6E8A-4147-A177-3AD203B41FA5}">
                      <a16:colId xmlns:a16="http://schemas.microsoft.com/office/drawing/2014/main" val="967281471"/>
                    </a:ext>
                  </a:extLst>
                </a:gridCol>
              </a:tblGrid>
              <a:tr h="378296">
                <a:tc>
                  <a:txBody>
                    <a:bodyPr/>
                    <a:lstStyle/>
                    <a:p>
                      <a:pPr marL="457200" marR="0" lvl="1" indent="0" algn="ctr" defTabSz="914400" rtl="1" eaLnBrk="1" fontAlgn="auto" latinLnBrk="0" hangingPunct="1">
                        <a:lnSpc>
                          <a:spcPct val="100000"/>
                        </a:lnSpc>
                        <a:spcBef>
                          <a:spcPts val="0"/>
                        </a:spcBef>
                        <a:spcAft>
                          <a:spcPts val="0"/>
                        </a:spcAft>
                        <a:buClrTx/>
                        <a:buSzTx/>
                        <a:buFontTx/>
                        <a:buNone/>
                        <a:tabLst/>
                        <a:defRPr/>
                      </a:pPr>
                      <a:r>
                        <a:rPr lang="en-US" sz="1800" b="0" i="0" kern="1200" dirty="0" err="1">
                          <a:solidFill>
                            <a:srgbClr val="000000"/>
                          </a:solidFill>
                          <a:effectLst/>
                          <a:latin typeface="UICTFontTextStyleBody"/>
                          <a:ea typeface="+mn-ea"/>
                          <a:cs typeface="+mn-cs"/>
                        </a:rPr>
                        <a:t>jie</a:t>
                      </a:r>
                      <a:r>
                        <a:rPr lang="en-US" sz="1800" b="0" i="0" kern="1200" dirty="0">
                          <a:solidFill>
                            <a:srgbClr val="000000"/>
                          </a:solidFill>
                          <a:effectLst/>
                          <a:latin typeface="UICTFontTextStyleBody"/>
                          <a:ea typeface="+mn-ea"/>
                          <a:cs typeface="+mn-cs"/>
                        </a:rPr>
                        <a:t> </a:t>
                      </a:r>
                      <a:r>
                        <a:rPr lang="en-US" sz="1800" b="0" i="0" kern="1200" dirty="0" err="1">
                          <a:solidFill>
                            <a:srgbClr val="000000"/>
                          </a:solidFill>
                          <a:effectLst/>
                          <a:latin typeface="UICTFontTextStyleBody"/>
                          <a:ea typeface="+mn-ea"/>
                          <a:cs typeface="+mn-cs"/>
                        </a:rPr>
                        <a:t>xin</a:t>
                      </a:r>
                      <a:r>
                        <a:rPr lang="en-US" sz="1800" b="0" i="0" kern="1200" dirty="0">
                          <a:solidFill>
                            <a:srgbClr val="000000"/>
                          </a:solidFill>
                          <a:effectLst/>
                          <a:latin typeface="UICTFontTextStyleBody"/>
                          <a:ea typeface="+mn-ea"/>
                          <a:cs typeface="+mn-cs"/>
                        </a:rPr>
                        <a:t> goo g</a:t>
                      </a:r>
                      <a:r>
                        <a:rPr lang="ar-AE" sz="1800" b="0" kern="1200" dirty="0">
                          <a:solidFill>
                            <a:srgbClr val="000000"/>
                          </a:solidFill>
                          <a:latin typeface="UICTFontTextStyleBody"/>
                          <a:ea typeface="+mn-ea"/>
                          <a:cs typeface="+mn-cs"/>
                        </a:rPr>
                        <a:t> </a:t>
                      </a:r>
                      <a:endParaRPr lang="en-US" sz="1800" b="0" dirty="0"/>
                    </a:p>
                  </a:txBody>
                  <a:tcPr marL="68580" marR="68580" marT="0" marB="0"/>
                </a:tc>
                <a:tc>
                  <a:txBody>
                    <a:bodyPr/>
                    <a:lstStyle/>
                    <a:p>
                      <a:pPr algn="ctr"/>
                      <a:r>
                        <a:rPr lang="ar-AE" sz="1600" b="0" dirty="0">
                          <a:solidFill>
                            <a:schemeClr val="tx1"/>
                          </a:solidFill>
                        </a:rPr>
                        <a:t>الإسم</a:t>
                      </a:r>
                      <a:endParaRPr lang="en-US" sz="1600" b="0" dirty="0">
                        <a:solidFill>
                          <a:schemeClr val="tx1"/>
                        </a:solidFill>
                      </a:endParaRPr>
                    </a:p>
                  </a:txBody>
                  <a:tcPr/>
                </a:tc>
                <a:extLst>
                  <a:ext uri="{0D108BD9-81ED-4DB2-BD59-A6C34878D82A}">
                    <a16:rowId xmlns:a16="http://schemas.microsoft.com/office/drawing/2014/main" val="2439824098"/>
                  </a:ext>
                </a:extLst>
              </a:tr>
              <a:tr h="315687">
                <a:tc>
                  <a:txBody>
                    <a:bodyPr/>
                    <a:lstStyle/>
                    <a:p>
                      <a:pPr algn="ctr" rtl="1"/>
                      <a:r>
                        <a:rPr lang="ar-SA" sz="1600" b="0" dirty="0"/>
                        <a:t>اللغة الصينية</a:t>
                      </a:r>
                      <a:endParaRPr lang="en-US" sz="1600" b="0" dirty="0"/>
                    </a:p>
                  </a:txBody>
                  <a:tcPr/>
                </a:tc>
                <a:tc>
                  <a:txBody>
                    <a:bodyPr/>
                    <a:lstStyle/>
                    <a:p>
                      <a:pPr algn="ctr"/>
                      <a:r>
                        <a:rPr lang="ar-SA" sz="1600" b="0" dirty="0"/>
                        <a:t>اللغة المفضلة</a:t>
                      </a:r>
                      <a:endParaRPr lang="en-US" sz="1600" b="0" dirty="0"/>
                    </a:p>
                  </a:txBody>
                  <a:tcPr/>
                </a:tc>
                <a:extLst>
                  <a:ext uri="{0D108BD9-81ED-4DB2-BD59-A6C34878D82A}">
                    <a16:rowId xmlns:a16="http://schemas.microsoft.com/office/drawing/2014/main" val="262411190"/>
                  </a:ext>
                </a:extLst>
              </a:tr>
              <a:tr h="315687">
                <a:tc>
                  <a:txBody>
                    <a:bodyPr/>
                    <a:lstStyle/>
                    <a:p>
                      <a:pPr marL="0" algn="ctr" defTabSz="914400" rtl="1" eaLnBrk="1" latinLnBrk="0" hangingPunct="1"/>
                      <a:r>
                        <a:rPr lang="ar-AE" sz="1600" b="0" kern="1200" dirty="0">
                          <a:solidFill>
                            <a:srgbClr val="000000"/>
                          </a:solidFill>
                          <a:latin typeface="UICTFontTextStyleBody"/>
                          <a:ea typeface="+mn-ea"/>
                          <a:cs typeface="+mn-cs"/>
                        </a:rPr>
                        <a:t>0589568827</a:t>
                      </a:r>
                      <a:endParaRPr lang="en-US" sz="1600" b="0" dirty="0"/>
                    </a:p>
                  </a:txBody>
                  <a:tcPr/>
                </a:tc>
                <a:tc>
                  <a:txBody>
                    <a:bodyPr/>
                    <a:lstStyle/>
                    <a:p>
                      <a:pPr marL="0" algn="ctr" defTabSz="914400" rtl="0" eaLnBrk="1" latinLnBrk="0" hangingPunct="1"/>
                      <a:r>
                        <a:rPr lang="ar-SA" sz="1600" b="0" dirty="0"/>
                        <a:t>رقم الهاتف</a:t>
                      </a:r>
                      <a:endParaRPr lang="en-US" sz="1600" b="0" dirty="0"/>
                    </a:p>
                  </a:txBody>
                  <a:tcPr/>
                </a:tc>
                <a:extLst>
                  <a:ext uri="{0D108BD9-81ED-4DB2-BD59-A6C34878D82A}">
                    <a16:rowId xmlns:a16="http://schemas.microsoft.com/office/drawing/2014/main" val="373239492"/>
                  </a:ext>
                </a:extLst>
              </a:tr>
              <a:tr h="1199609">
                <a:tc>
                  <a:txBody>
                    <a:bodyPr/>
                    <a:lstStyle/>
                    <a:p>
                      <a:pPr marL="0" algn="ctr" defTabSz="914400" rtl="1" eaLnBrk="1" latinLnBrk="0" hangingPunct="1"/>
                      <a:r>
                        <a:rPr lang="ar-AE" sz="1600" b="0" kern="1200" dirty="0">
                          <a:solidFill>
                            <a:schemeClr val="dk1"/>
                          </a:solidFill>
                          <a:latin typeface="+mn-lt"/>
                          <a:ea typeface="+mn-ea"/>
                          <a:cs typeface="+mn-cs"/>
                        </a:rPr>
                        <a:t>أجابت مستغربة بالطبع لا أعذبه أو أضربه ولا يوجد دائماً في الشرفة وإنما تخرجه بنتي كثيراً للمشي معها وقبل قليل قد تناول طعامه . </a:t>
                      </a:r>
                      <a:endParaRPr lang="en-US" sz="1600" b="0" dirty="0"/>
                    </a:p>
                  </a:txBody>
                  <a:tcPr/>
                </a:tc>
                <a:tc>
                  <a:txBody>
                    <a:bodyPr/>
                    <a:lstStyle/>
                    <a:p>
                      <a:pPr marL="0" algn="ctr" defTabSz="914400" rtl="1" eaLnBrk="1" latinLnBrk="0" hangingPunct="1"/>
                      <a:r>
                        <a:rPr lang="ar-AE" sz="1600" b="0" kern="1200" dirty="0">
                          <a:solidFill>
                            <a:schemeClr val="dk1"/>
                          </a:solidFill>
                          <a:latin typeface="+mn-lt"/>
                          <a:ea typeface="+mn-ea"/>
                          <a:cs typeface="+mn-cs"/>
                        </a:rPr>
                        <a:t>ما رأيك فيما هو منسوب إليكم بوجود كلب مربوط في الشرفة معظم الوقت بلا رعاية أو طعام وأنكم تقومون بضربه وتعذيبه ؟ </a:t>
                      </a:r>
                    </a:p>
                  </a:txBody>
                  <a:tcPr/>
                </a:tc>
                <a:extLst>
                  <a:ext uri="{0D108BD9-81ED-4DB2-BD59-A6C34878D82A}">
                    <a16:rowId xmlns:a16="http://schemas.microsoft.com/office/drawing/2014/main" val="488084759"/>
                  </a:ext>
                </a:extLst>
              </a:tr>
              <a:tr h="53666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dirty="0"/>
                        <a:t>أجابت بالخارج</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kern="1200" dirty="0">
                          <a:solidFill>
                            <a:schemeClr val="dk1"/>
                          </a:solidFill>
                          <a:latin typeface="+mn-lt"/>
                          <a:ea typeface="+mn-ea"/>
                          <a:cs typeface="+mn-cs"/>
                        </a:rPr>
                        <a:t>أين توجد ابنتك ؟</a:t>
                      </a:r>
                    </a:p>
                  </a:txBody>
                  <a:tcPr/>
                </a:tc>
                <a:extLst>
                  <a:ext uri="{0D108BD9-81ED-4DB2-BD59-A6C34878D82A}">
                    <a16:rowId xmlns:a16="http://schemas.microsoft.com/office/drawing/2014/main" val="2776942025"/>
                  </a:ext>
                </a:extLst>
              </a:tr>
              <a:tr h="8491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kern="1200" dirty="0">
                          <a:solidFill>
                            <a:schemeClr val="dk1"/>
                          </a:solidFill>
                          <a:latin typeface="+mn-lt"/>
                          <a:ea typeface="+mn-ea"/>
                          <a:cs typeface="+mn-cs"/>
                        </a:rPr>
                        <a:t>نعم توجد ولكن بنتي هي من تحتفظ بها </a:t>
                      </a:r>
                      <a:endParaRPr lang="ar-AE" sz="1600" b="0"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sz="1600" b="0" kern="1200" dirty="0">
                          <a:solidFill>
                            <a:schemeClr val="dk1"/>
                          </a:solidFill>
                          <a:latin typeface="+mn-lt"/>
                          <a:ea typeface="+mn-ea"/>
                          <a:cs typeface="+mn-cs"/>
                        </a:rPr>
                        <a:t>هل يوجد للكلب شهادة تطعيم ؟ هل يمكنني الإضطلاع عليها ؟</a:t>
                      </a:r>
                    </a:p>
                  </a:txBody>
                  <a:tcPr/>
                </a:tc>
                <a:extLst>
                  <a:ext uri="{0D108BD9-81ED-4DB2-BD59-A6C34878D82A}">
                    <a16:rowId xmlns:a16="http://schemas.microsoft.com/office/drawing/2014/main" val="1201023218"/>
                  </a:ext>
                </a:extLst>
              </a:tr>
            </a:tbl>
          </a:graphicData>
        </a:graphic>
      </p:graphicFrame>
    </p:spTree>
    <p:extLst>
      <p:ext uri="{BB962C8B-B14F-4D97-AF65-F5344CB8AC3E}">
        <p14:creationId xmlns:p14="http://schemas.microsoft.com/office/powerpoint/2010/main" val="3321194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1C2B86-E06C-D3DC-65E6-44B9FCE392A0}"/>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3100" dirty="0">
              <a:solidFill>
                <a:prstClr val="black"/>
              </a:solidFill>
              <a:latin typeface="Calibri Light" panose="020F0302020204030204"/>
            </a:endParaRPr>
          </a:p>
        </p:txBody>
      </p:sp>
      <p:sp>
        <p:nvSpPr>
          <p:cNvPr id="5" name="TextBox 4">
            <a:extLst>
              <a:ext uri="{FF2B5EF4-FFF2-40B4-BE49-F238E27FC236}">
                <a16:creationId xmlns:a16="http://schemas.microsoft.com/office/drawing/2014/main" id="{BF977E08-670E-0628-5043-A2D18677C61D}"/>
              </a:ext>
            </a:extLst>
          </p:cNvPr>
          <p:cNvSpPr txBox="1"/>
          <p:nvPr/>
        </p:nvSpPr>
        <p:spPr>
          <a:xfrm>
            <a:off x="2305051" y="1510230"/>
            <a:ext cx="7581899" cy="4770537"/>
          </a:xfrm>
          <a:prstGeom prst="rect">
            <a:avLst/>
          </a:prstGeom>
          <a:solidFill>
            <a:schemeClr val="bg1"/>
          </a:solidFill>
        </p:spPr>
        <p:txBody>
          <a:bodyPr wrap="square">
            <a:spAutoFit/>
          </a:bodyPr>
          <a:lstStyle/>
          <a:p>
            <a:pPr algn="r" defTabSz="457200"/>
            <a:r>
              <a:rPr lang="ar-AE" sz="1600" b="1" dirty="0">
                <a:solidFill>
                  <a:prstClr val="black"/>
                </a:solidFill>
                <a:latin typeface="Calibri" panose="020F0502020204030204"/>
                <a:cs typeface="Times New Roman" panose="02020603050405020304" pitchFamily="18" charset="0"/>
              </a:rPr>
              <a:t>س : ما رأيك فيما هو منسوب إليكم بوجود كلب مربوط في الشرفة معظم الوقت بلا رعاية أو طعام وأنكم تقومون بضربه وتعذيبه ؟ </a:t>
            </a:r>
          </a:p>
          <a:p>
            <a:pPr defTabSz="457200" rtl="1"/>
            <a:r>
              <a:rPr lang="zh-TW" altLang="en-US" sz="1600" b="1" dirty="0">
                <a:solidFill>
                  <a:prstClr val="black"/>
                </a:solidFill>
                <a:latin typeface="Calibri" panose="020F0502020204030204"/>
                <a:ea typeface="新細明體" panose="02020500000000000000" pitchFamily="18" charset="-120"/>
              </a:rPr>
              <a:t>有一隻狗大部分時間都被綁在陽台上，沒有人照顧，沒有食物，而你卻毆打和折磨它，你怎麼看待這件事歸咎於你？</a:t>
            </a:r>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ج : أجابت مستغربة بالطبع لا أعذبه أو أضربه ولا يوجد دائماً في الشرفة وإنما تخرجه بنتي كثيراً للمشي معها وقبل قليل قد تناول طعامه . </a:t>
            </a:r>
          </a:p>
          <a:p>
            <a:pPr algn="ctr" defTabSz="457200" rtl="1"/>
            <a:r>
              <a:rPr lang="zh-TW" altLang="en-US" sz="1600" b="1" dirty="0">
                <a:solidFill>
                  <a:prstClr val="black"/>
                </a:solidFill>
                <a:latin typeface="Calibri" panose="020F0502020204030204"/>
                <a:ea typeface="新細明體" panose="02020500000000000000" pitchFamily="18" charset="-120"/>
              </a:rPr>
              <a:t>她驚訝地回答：“我當然不會折磨他、打他，也不總是在陽台上發現他，但我女兒經常帶他出去散步，不久前他還吃過飯。”</a:t>
            </a:r>
            <a:endParaRPr lang="en-US" sz="1600" b="1" dirty="0">
              <a:solidFill>
                <a:prstClr val="black"/>
              </a:solidFill>
              <a:latin typeface="Calibri" panose="020F0502020204030204"/>
            </a:endParaRPr>
          </a:p>
          <a:p>
            <a:pPr algn="r" defTabSz="457200"/>
            <a:r>
              <a:rPr lang="ar-AE" sz="1600" b="1" dirty="0">
                <a:solidFill>
                  <a:prstClr val="black"/>
                </a:solidFill>
                <a:latin typeface="Calibri" panose="020F0502020204030204"/>
                <a:cs typeface="Times New Roman" panose="02020603050405020304" pitchFamily="18" charset="0"/>
              </a:rPr>
              <a:t>س : أين توجد ابنتك ؟</a:t>
            </a:r>
          </a:p>
          <a:p>
            <a:pPr defTabSz="457200" rtl="1"/>
            <a:r>
              <a:rPr lang="zh-TW" altLang="en-US" sz="1600" b="1" dirty="0">
                <a:solidFill>
                  <a:prstClr val="black"/>
                </a:solidFill>
                <a:latin typeface="Calibri" panose="020F0502020204030204"/>
                <a:ea typeface="新細明體" panose="02020500000000000000" pitchFamily="18" charset="-120"/>
              </a:rPr>
              <a:t>你女兒在哪裡？</a:t>
            </a:r>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ج : بالخارج                                                                                         </a:t>
            </a:r>
          </a:p>
          <a:p>
            <a:pPr defTabSz="457200" rtl="1"/>
            <a:r>
              <a:rPr lang="ar-AE" sz="1600" b="1" dirty="0">
                <a:solidFill>
                  <a:prstClr val="black"/>
                </a:solidFill>
                <a:latin typeface="Calibri" panose="020F0502020204030204"/>
                <a:cs typeface="Times New Roman" panose="02020603050405020304" pitchFamily="18" charset="0"/>
              </a:rPr>
              <a:t>   </a:t>
            </a:r>
            <a:r>
              <a:rPr lang="ja-JP" altLang="en-US" sz="1600" b="1" dirty="0">
                <a:solidFill>
                  <a:prstClr val="black"/>
                </a:solidFill>
                <a:latin typeface="Calibri" panose="020F0502020204030204"/>
                <a:ea typeface="游ゴシック" panose="020B0400000000000000" pitchFamily="34" charset="-128"/>
              </a:rPr>
              <a:t>外部</a:t>
            </a:r>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س : هل يوجد للكلب شهادة تطعيم ؟ هل يمكنني الإضطلاع عليها ؟</a:t>
            </a:r>
          </a:p>
          <a:p>
            <a:pPr defTabSz="457200" rtl="1"/>
            <a:r>
              <a:rPr lang="zh-TW" altLang="en-US" sz="1600" b="1" dirty="0">
                <a:solidFill>
                  <a:prstClr val="black"/>
                </a:solidFill>
                <a:latin typeface="Calibri" panose="020F0502020204030204"/>
                <a:ea typeface="新細明體" panose="02020500000000000000" pitchFamily="18" charset="-120"/>
              </a:rPr>
              <a:t>狗狗有疫苗接種證明嗎？我可以看看嗎？</a:t>
            </a:r>
            <a:endParaRPr lang="ar-AE" altLang="zh-TW" sz="1600" b="1" dirty="0">
              <a:solidFill>
                <a:prstClr val="black"/>
              </a:solidFill>
              <a:latin typeface="Calibri" panose="020F0502020204030204"/>
              <a:ea typeface="新細明體" panose="02020500000000000000" pitchFamily="18" charset="-120"/>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ج : نعم توجد ولكن بنتي هي من تحتفظ بها . </a:t>
            </a:r>
          </a:p>
          <a:p>
            <a:pPr defTabSz="457200" rtl="1"/>
            <a:r>
              <a:rPr lang="zh-TW" altLang="en-US" sz="1600" b="1" dirty="0">
                <a:solidFill>
                  <a:prstClr val="black"/>
                </a:solidFill>
                <a:latin typeface="Calibri" panose="020F0502020204030204"/>
                <a:ea typeface="新細明體" panose="02020500000000000000" pitchFamily="18" charset="-120"/>
              </a:rPr>
              <a:t>是的，有疫苗接種證明，但我女兒保留著</a:t>
            </a:r>
            <a:endParaRPr lang="ar-AE" altLang="zh-TW" sz="1600" b="1" dirty="0">
              <a:solidFill>
                <a:prstClr val="black"/>
              </a:solidFill>
              <a:latin typeface="Calibri" panose="020F0502020204030204"/>
              <a:ea typeface="新細明體" panose="02020500000000000000" pitchFamily="18" charset="-120"/>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تمت أقوالها وتليت عليها وأقرت بها ووقعت عليها .</a:t>
            </a:r>
          </a:p>
          <a:p>
            <a:pPr algn="r" defTabSz="457200"/>
            <a:r>
              <a:rPr lang="ar-AE" sz="1600" b="1" dirty="0">
                <a:solidFill>
                  <a:prstClr val="black"/>
                </a:solidFill>
                <a:latin typeface="Calibri" panose="020F0502020204030204"/>
                <a:cs typeface="Times New Roman" panose="02020603050405020304" pitchFamily="18" charset="0"/>
              </a:rPr>
              <a:t>                        توقيع المخالف                                           مأمور الضبط القضائى</a:t>
            </a:r>
          </a:p>
          <a:p>
            <a:pPr algn="r" defTabSz="457200"/>
            <a:r>
              <a:rPr lang="ar-AE" altLang="ja-JP" sz="1600" b="1" dirty="0">
                <a:solidFill>
                  <a:srgbClr val="000000"/>
                </a:solidFill>
                <a:latin typeface="UICTFontTextStyleBody"/>
                <a:ea typeface="游ゴシック" panose="020B0400000000000000" pitchFamily="34" charset="-128"/>
                <a:cs typeface="Times New Roman" panose="02020603050405020304" pitchFamily="18" charset="0"/>
              </a:rPr>
              <a:t>                                            علي محمد علي محمد عبدالعال</a:t>
            </a:r>
            <a:r>
              <a:rPr lang="ja-JP" altLang="en-US" sz="1600" b="1" dirty="0">
                <a:solidFill>
                  <a:srgbClr val="000000"/>
                </a:solidFill>
                <a:latin typeface="UICTFontTextStyleBody"/>
                <a:ea typeface="游ゴシック" panose="020B0400000000000000" pitchFamily="34" charset="-128"/>
              </a:rPr>
              <a:t>解心古</a:t>
            </a:r>
            <a:r>
              <a:rPr lang="ar-AE" altLang="ja-JP" sz="1600" b="1" dirty="0">
                <a:solidFill>
                  <a:srgbClr val="000000"/>
                </a:solidFill>
                <a:latin typeface="UICTFontTextStyleBody"/>
                <a:ea typeface="游ゴシック" panose="020B0400000000000000" pitchFamily="34" charset="-128"/>
                <a:cs typeface="Times New Roman" panose="02020603050405020304" pitchFamily="18" charset="0"/>
              </a:rPr>
              <a:t>                         </a:t>
            </a:r>
            <a:endParaRPr lang="ar-AE" sz="1600" b="1" dirty="0">
              <a:solidFill>
                <a:prstClr val="black"/>
              </a:solidFill>
              <a:latin typeface="Calibri" panose="020F0502020204030204"/>
              <a:cs typeface="Times New Roman" panose="02020603050405020304" pitchFamily="18" charset="0"/>
            </a:endParaRPr>
          </a:p>
        </p:txBody>
      </p:sp>
    </p:spTree>
    <p:extLst>
      <p:ext uri="{BB962C8B-B14F-4D97-AF65-F5344CB8AC3E}">
        <p14:creationId xmlns:p14="http://schemas.microsoft.com/office/powerpoint/2010/main" val="342911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5CFB9B-8E41-6C35-2CBA-1936D4E797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8C97D3-C20D-E058-CE1D-ADED4CD49430}"/>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3100" dirty="0">
              <a:solidFill>
                <a:prstClr val="black"/>
              </a:solidFill>
              <a:latin typeface="Calibri Light" panose="020F0302020204030204"/>
            </a:endParaRPr>
          </a:p>
        </p:txBody>
      </p:sp>
      <p:sp>
        <p:nvSpPr>
          <p:cNvPr id="5" name="TextBox 4">
            <a:extLst>
              <a:ext uri="{FF2B5EF4-FFF2-40B4-BE49-F238E27FC236}">
                <a16:creationId xmlns:a16="http://schemas.microsoft.com/office/drawing/2014/main" id="{AC1FCD83-F43F-2763-7B7F-BA34C6433A27}"/>
              </a:ext>
            </a:extLst>
          </p:cNvPr>
          <p:cNvSpPr txBox="1"/>
          <p:nvPr/>
        </p:nvSpPr>
        <p:spPr>
          <a:xfrm>
            <a:off x="2014654" y="1659286"/>
            <a:ext cx="8196146" cy="4524315"/>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t="100000" r="100000"/>
            </a:path>
            <a:tileRect l="-100000" b="-100000"/>
          </a:gradFill>
        </p:spPr>
        <p:txBody>
          <a:bodyPr wrap="square">
            <a:spAutoFit/>
          </a:bodyPr>
          <a:lstStyle/>
          <a:p>
            <a:pPr algn="r" defTabSz="457200"/>
            <a:r>
              <a:rPr lang="ar-AE" sz="1600" b="1" dirty="0">
                <a:solidFill>
                  <a:prstClr val="black"/>
                </a:solidFill>
                <a:highlight>
                  <a:srgbClr val="FFFF00"/>
                </a:highlight>
                <a:latin typeface="Calibri" panose="020F0502020204030204"/>
                <a:cs typeface="Times New Roman" panose="02020603050405020304" pitchFamily="18" charset="0"/>
              </a:rPr>
              <a:t>تم التأكد من صحة البلاغ شكلاً </a:t>
            </a:r>
            <a:r>
              <a:rPr lang="ar-AE" sz="1600" b="1" dirty="0">
                <a:solidFill>
                  <a:prstClr val="black"/>
                </a:solidFill>
                <a:latin typeface="Calibri" panose="020F0502020204030204"/>
                <a:cs typeface="Times New Roman" panose="02020603050405020304" pitchFamily="18" charset="0"/>
              </a:rPr>
              <a:t>بوجود الكلب من سلالة جولدن ريتريفر في شرفة الشقة ؛ </a:t>
            </a:r>
            <a:r>
              <a:rPr lang="ar-AE" sz="1600" b="1" dirty="0">
                <a:solidFill>
                  <a:prstClr val="black"/>
                </a:solidFill>
                <a:highlight>
                  <a:srgbClr val="FFFF00"/>
                </a:highlight>
                <a:latin typeface="Calibri" panose="020F0502020204030204"/>
                <a:cs typeface="Times New Roman" panose="02020603050405020304" pitchFamily="18" charset="0"/>
              </a:rPr>
              <a:t>وعدم صحته موضوعاً </a:t>
            </a:r>
            <a:r>
              <a:rPr lang="ar-AE" sz="1600" b="1" dirty="0">
                <a:solidFill>
                  <a:prstClr val="black"/>
                </a:solidFill>
                <a:latin typeface="Calibri" panose="020F0502020204030204"/>
                <a:cs typeface="Times New Roman" panose="02020603050405020304" pitchFamily="18" charset="0"/>
              </a:rPr>
              <a:t>لعدم وقوع فعل التعذيب أو الضرب من قبل مالكه ؛ حيث وجدت الكلب في صحة جيدة ولا آثار لجروح أو كدمات وزادت قناعتي بصدق السيدة الحديث حين أحضرت لي كيس الغذاء المجفف الخاص بالكلب ( مرفق صورة ) للتأكد من توفير الطعام للكلب بانتظام .</a:t>
            </a: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وقبل مغادرة الشقة قمت بتقديم التوعية للسيدة بلغتها الأم بالترجمة الفورية إلي اللغة الصينية ؛ بالأنظمة والقوانين المعمول بها في إمارة أبوظبي خاصة </a:t>
            </a:r>
            <a:r>
              <a:rPr lang="ar-AE" sz="1600" b="1" dirty="0">
                <a:solidFill>
                  <a:prstClr val="black"/>
                </a:solidFill>
                <a:highlight>
                  <a:srgbClr val="FFFF00"/>
                </a:highlight>
                <a:latin typeface="Calibri" panose="020F0502020204030204"/>
                <a:cs typeface="Times New Roman" panose="02020603050405020304" pitchFamily="18" charset="0"/>
              </a:rPr>
              <a:t>القانون رقم 2 لسنة 2012</a:t>
            </a:r>
            <a:r>
              <a:rPr lang="ar-AE" sz="1600" b="1" dirty="0">
                <a:solidFill>
                  <a:prstClr val="black"/>
                </a:solidFill>
                <a:latin typeface="Calibri" panose="020F0502020204030204"/>
                <a:cs typeface="Times New Roman" panose="02020603050405020304" pitchFamily="18" charset="0"/>
              </a:rPr>
              <a:t> بشأن الحفاظ علي المظهر العام والصحة العامة والسكينة العامة في إمارة أبوظبي ؛ وركزت علي أهم النقاط التي تخص تربية واقتناء الكلاب وأخص بالذكر منها :</a:t>
            </a: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1- مراعاة عدم ترك الكلب في الشرفة </a:t>
            </a:r>
          </a:p>
          <a:p>
            <a:pPr algn="r" defTabSz="457200"/>
            <a:r>
              <a:rPr lang="ar-AE" sz="1600" b="1" dirty="0">
                <a:solidFill>
                  <a:prstClr val="black"/>
                </a:solidFill>
                <a:latin typeface="Calibri" panose="020F0502020204030204"/>
                <a:cs typeface="Times New Roman" panose="02020603050405020304" pitchFamily="18" charset="0"/>
              </a:rPr>
              <a:t>2- وتوفير المسكن الملائم للكلب </a:t>
            </a:r>
          </a:p>
          <a:p>
            <a:pPr algn="r" defTabSz="457200"/>
            <a:r>
              <a:rPr lang="ar-AE" sz="1600" b="1" dirty="0">
                <a:solidFill>
                  <a:prstClr val="black"/>
                </a:solidFill>
                <a:latin typeface="Calibri" panose="020F0502020204030204"/>
                <a:cs typeface="Times New Roman" panose="02020603050405020304" pitchFamily="18" charset="0"/>
              </a:rPr>
              <a:t>3- التأكيد علي عدم إحداث الكلب أي ازعاج أو إيذاء الآخرين </a:t>
            </a:r>
          </a:p>
          <a:p>
            <a:pPr algn="r" defTabSz="457200"/>
            <a:r>
              <a:rPr lang="ar-AE" sz="1600" b="1" dirty="0">
                <a:solidFill>
                  <a:prstClr val="black"/>
                </a:solidFill>
                <a:latin typeface="Calibri" panose="020F0502020204030204"/>
                <a:cs typeface="Times New Roman" panose="02020603050405020304" pitchFamily="18" charset="0"/>
              </a:rPr>
              <a:t>4- المحافظة علي الصحة العامة للكلب والتأكد من استكمال تطعيماته الوقائية </a:t>
            </a:r>
          </a:p>
          <a:p>
            <a:pPr algn="r" defTabSz="457200"/>
            <a:r>
              <a:rPr lang="ar-AE" sz="1600" b="1" dirty="0">
                <a:solidFill>
                  <a:prstClr val="black"/>
                </a:solidFill>
                <a:latin typeface="Calibri" panose="020F0502020204030204"/>
                <a:cs typeface="Times New Roman" panose="02020603050405020304" pitchFamily="18" charset="0"/>
              </a:rPr>
              <a:t>5- أهمية اصطحاب الكلب للمشي في وجود طوق وكمام ورباط عنق مناسب للسيطرة عليه</a:t>
            </a: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وختاماً أطلعت السيدة علي دليل رعاية الكلاب المرفق في الكود المجاور .</a:t>
            </a:r>
            <a:endParaRPr lang="en-US" sz="1600" b="1" dirty="0">
              <a:solidFill>
                <a:prstClr val="black"/>
              </a:solidFill>
              <a:latin typeface="Calibri" panose="020F0502020204030204"/>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p:txBody>
      </p:sp>
      <p:pic>
        <p:nvPicPr>
          <p:cNvPr id="4" name="Picture 3" descr="A qr code with a logo&#10;&#10;Description automatically generated">
            <a:extLst>
              <a:ext uri="{FF2B5EF4-FFF2-40B4-BE49-F238E27FC236}">
                <a16:creationId xmlns:a16="http://schemas.microsoft.com/office/drawing/2014/main" id="{11160212-717F-133E-5909-942DC34EBA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25889" y="3985570"/>
            <a:ext cx="1542208" cy="1999621"/>
          </a:xfrm>
          <a:prstGeom prst="rect">
            <a:avLst/>
          </a:prstGeom>
        </p:spPr>
      </p:pic>
    </p:spTree>
    <p:extLst>
      <p:ext uri="{BB962C8B-B14F-4D97-AF65-F5344CB8AC3E}">
        <p14:creationId xmlns:p14="http://schemas.microsoft.com/office/powerpoint/2010/main" val="668179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064393-124A-C698-DF08-8D50F59AFF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BA3D49-7B15-5FDA-F781-5A3C3B9F9F5C}"/>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3100" dirty="0">
              <a:solidFill>
                <a:prstClr val="black"/>
              </a:solidFill>
              <a:latin typeface="Calibri Light" panose="020F0302020204030204"/>
            </a:endParaRPr>
          </a:p>
        </p:txBody>
      </p:sp>
      <p:sp>
        <p:nvSpPr>
          <p:cNvPr id="5" name="TextBox 4">
            <a:extLst>
              <a:ext uri="{FF2B5EF4-FFF2-40B4-BE49-F238E27FC236}">
                <a16:creationId xmlns:a16="http://schemas.microsoft.com/office/drawing/2014/main" id="{D5B7D437-73F7-9387-9B90-AF6A403F1B6D}"/>
              </a:ext>
            </a:extLst>
          </p:cNvPr>
          <p:cNvSpPr txBox="1"/>
          <p:nvPr/>
        </p:nvSpPr>
        <p:spPr>
          <a:xfrm>
            <a:off x="2305051" y="1659285"/>
            <a:ext cx="7581899" cy="4278094"/>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2700000" scaled="1"/>
            <a:tileRect/>
          </a:gradFill>
        </p:spPr>
        <p:txBody>
          <a:bodyPr wrap="square">
            <a:spAutoFit/>
          </a:bodyPr>
          <a:lstStyle/>
          <a:p>
            <a:pPr algn="r" defTabSz="457200" rtl="1"/>
            <a:r>
              <a:rPr lang="ar-AE" sz="1600" b="1" dirty="0">
                <a:solidFill>
                  <a:prstClr val="black"/>
                </a:solidFill>
                <a:latin typeface="Calibri" panose="020F0502020204030204"/>
                <a:cs typeface="Times New Roman" panose="02020603050405020304" pitchFamily="18" charset="0"/>
              </a:rPr>
              <a:t>وبعد توعية السيدة الصينية ، كان لزاماً علي أن أطلعها علي قيمة مخالفة إساءة معاملة الكلب في القرار الإداري الصادر عن سعادة رئيس دائرة البلديات والنقل رقم 46 لسنة 2021 بشأن تعديل بعض أحكام قرار رئيس الدائرة رقم 4 لسنة 2018 بإصدار اللائحة التنفيذية للقانون رقم 2 لسنة 2012 بشأن الرقابة علي الحيوانات وخاصة بند المخالفة رقم 40 وتنص علي أن كل من يسيء معاملة الحيوان وعدم توفير الرعاية اللازمة والبيئة الملائمة له يتعرض لمخالفة قيمتها </a:t>
            </a:r>
            <a:r>
              <a:rPr lang="en-US" sz="1600" b="1" dirty="0">
                <a:solidFill>
                  <a:prstClr val="black"/>
                </a:solidFill>
                <a:latin typeface="Calibri" panose="020F0502020204030204"/>
              </a:rPr>
              <a:t>3000</a:t>
            </a:r>
            <a:r>
              <a:rPr lang="ar-AE" sz="1600" b="1" dirty="0">
                <a:solidFill>
                  <a:prstClr val="black"/>
                </a:solidFill>
                <a:latin typeface="Calibri" panose="020F0502020204030204"/>
                <a:cs typeface="Times New Roman" panose="02020603050405020304" pitchFamily="18" charset="0"/>
              </a:rPr>
              <a:t> درهم</a:t>
            </a:r>
            <a:r>
              <a:rPr lang="en-US" sz="1600" b="1" dirty="0">
                <a:solidFill>
                  <a:prstClr val="black"/>
                </a:solidFill>
                <a:latin typeface="Calibri" panose="020F0502020204030204"/>
              </a:rPr>
              <a:t> . </a:t>
            </a:r>
            <a:endParaRPr lang="ar-AE" sz="1600" b="1" dirty="0">
              <a:solidFill>
                <a:prstClr val="black"/>
              </a:solidFill>
              <a:latin typeface="Calibri" panose="020F0502020204030204"/>
              <a:cs typeface="Times New Roman" panose="02020603050405020304" pitchFamily="18" charset="0"/>
            </a:endParaRPr>
          </a:p>
          <a:p>
            <a:pPr algn="r" defTabSz="457200"/>
            <a:r>
              <a:rPr lang="ar-AE" sz="1600" b="1" dirty="0">
                <a:solidFill>
                  <a:prstClr val="black"/>
                </a:solidFill>
                <a:latin typeface="Calibri" panose="020F0502020204030204"/>
                <a:cs typeface="Times New Roman" panose="02020603050405020304" pitchFamily="18" charset="0"/>
              </a:rPr>
              <a:t>  </a:t>
            </a: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ar-AE" sz="1600" b="1" dirty="0">
              <a:solidFill>
                <a:prstClr val="black"/>
              </a:solidFill>
              <a:latin typeface="Calibri" panose="020F0502020204030204"/>
              <a:cs typeface="Times New Roman" panose="02020603050405020304" pitchFamily="18" charset="0"/>
            </a:endParaRPr>
          </a:p>
          <a:p>
            <a:pPr algn="r" defTabSz="457200"/>
            <a:endParaRPr lang="en-US" sz="1600" b="1" dirty="0">
              <a:solidFill>
                <a:prstClr val="black"/>
              </a:solidFill>
              <a:latin typeface="Calibri" panose="020F0502020204030204"/>
            </a:endParaRPr>
          </a:p>
          <a:p>
            <a:pPr algn="r" defTabSz="457200"/>
            <a:endParaRPr lang="ar-AE" sz="1600" b="1" dirty="0">
              <a:solidFill>
                <a:prstClr val="black"/>
              </a:solidFill>
              <a:latin typeface="Calibri" panose="020F0502020204030204"/>
              <a:cs typeface="Times New Roman" panose="02020603050405020304" pitchFamily="18" charset="0"/>
            </a:endParaRPr>
          </a:p>
        </p:txBody>
      </p:sp>
      <p:pic>
        <p:nvPicPr>
          <p:cNvPr id="4" name="Picture 3" descr="A document with a logo and text">
            <a:extLst>
              <a:ext uri="{FF2B5EF4-FFF2-40B4-BE49-F238E27FC236}">
                <a16:creationId xmlns:a16="http://schemas.microsoft.com/office/drawing/2014/main" id="{7E3E57C7-A52D-3CEF-AACA-AB4F9E93A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347" y="3027149"/>
            <a:ext cx="5140713" cy="2863199"/>
          </a:xfrm>
          <a:prstGeom prst="rect">
            <a:avLst/>
          </a:prstGeom>
        </p:spPr>
      </p:pic>
    </p:spTree>
    <p:extLst>
      <p:ext uri="{BB962C8B-B14F-4D97-AF65-F5344CB8AC3E}">
        <p14:creationId xmlns:p14="http://schemas.microsoft.com/office/powerpoint/2010/main" val="36192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CA2E9F-164F-942A-B3EA-C6D8BC7D50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DE623D-9671-AE3D-39DB-425FD67C75F4}"/>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gn="r" rtl="1">
              <a:lnSpc>
                <a:spcPct val="90000"/>
              </a:lnSpc>
              <a:spcBef>
                <a:spcPct val="0"/>
              </a:spcBef>
              <a:spcAft>
                <a:spcPts val="600"/>
              </a:spcAft>
            </a:pPr>
            <a:endParaRPr lang="en-US" sz="3100" dirty="0">
              <a:solidFill>
                <a:prstClr val="black"/>
              </a:solidFill>
              <a:latin typeface="Calibri Light" panose="020F0302020204030204"/>
            </a:endParaRPr>
          </a:p>
        </p:txBody>
      </p:sp>
      <p:sp>
        <p:nvSpPr>
          <p:cNvPr id="2" name="TextBox 1">
            <a:extLst>
              <a:ext uri="{FF2B5EF4-FFF2-40B4-BE49-F238E27FC236}">
                <a16:creationId xmlns:a16="http://schemas.microsoft.com/office/drawing/2014/main" id="{407C6071-076E-FD1F-FFDC-D12567BEF583}"/>
              </a:ext>
            </a:extLst>
          </p:cNvPr>
          <p:cNvSpPr txBox="1"/>
          <p:nvPr/>
        </p:nvSpPr>
        <p:spPr>
          <a:xfrm>
            <a:off x="2206278" y="1388046"/>
            <a:ext cx="7581900" cy="338554"/>
          </a:xfrm>
          <a:prstGeom prst="rect">
            <a:avLst/>
          </a:prstGeom>
          <a:solidFill>
            <a:schemeClr val="bg1"/>
          </a:solidFill>
        </p:spPr>
        <p:txBody>
          <a:bodyPr wrap="square">
            <a:spAutoFit/>
          </a:bodyPr>
          <a:lstStyle/>
          <a:p>
            <a:pPr algn="r" defTabSz="457200" rtl="1"/>
            <a:endParaRPr lang="ar-AE" sz="1600" dirty="0">
              <a:solidFill>
                <a:srgbClr val="000000"/>
              </a:solidFill>
              <a:latin typeface="UICTFontTextStyleBody"/>
              <a:cs typeface="Times New Roman" panose="02020603050405020304" pitchFamily="18" charset="0"/>
            </a:endParaRPr>
          </a:p>
        </p:txBody>
      </p:sp>
      <p:graphicFrame>
        <p:nvGraphicFramePr>
          <p:cNvPr id="4" name="Table 4">
            <a:extLst>
              <a:ext uri="{FF2B5EF4-FFF2-40B4-BE49-F238E27FC236}">
                <a16:creationId xmlns:a16="http://schemas.microsoft.com/office/drawing/2014/main" id="{828031E4-0BF9-BC29-7150-99B03339728C}"/>
              </a:ext>
            </a:extLst>
          </p:cNvPr>
          <p:cNvGraphicFramePr>
            <a:graphicFrameLocks noGrp="1"/>
          </p:cNvGraphicFramePr>
          <p:nvPr/>
        </p:nvGraphicFramePr>
        <p:xfrm>
          <a:off x="2052117" y="1865287"/>
          <a:ext cx="7890222" cy="3983534"/>
        </p:xfrm>
        <a:graphic>
          <a:graphicData uri="http://schemas.openxmlformats.org/drawingml/2006/table">
            <a:tbl>
              <a:tblPr firstRow="1" bandRow="1">
                <a:tableStyleId>{5C22544A-7EE6-4342-B048-85BDC9FD1C3A}</a:tableStyleId>
              </a:tblPr>
              <a:tblGrid>
                <a:gridCol w="6147297">
                  <a:extLst>
                    <a:ext uri="{9D8B030D-6E8A-4147-A177-3AD203B41FA5}">
                      <a16:colId xmlns:a16="http://schemas.microsoft.com/office/drawing/2014/main" val="24462709"/>
                    </a:ext>
                  </a:extLst>
                </a:gridCol>
                <a:gridCol w="1742925">
                  <a:extLst>
                    <a:ext uri="{9D8B030D-6E8A-4147-A177-3AD203B41FA5}">
                      <a16:colId xmlns:a16="http://schemas.microsoft.com/office/drawing/2014/main" val="967281471"/>
                    </a:ext>
                  </a:extLst>
                </a:gridCol>
              </a:tblGrid>
              <a:tr h="0">
                <a:tc>
                  <a:txBody>
                    <a:bodyPr/>
                    <a:lstStyle/>
                    <a:p>
                      <a:pPr marL="457200" marR="0" lvl="1" indent="0" algn="ctr" defTabSz="914400" rtl="1" eaLnBrk="1" fontAlgn="auto" latinLnBrk="0" hangingPunct="1">
                        <a:lnSpc>
                          <a:spcPct val="100000"/>
                        </a:lnSpc>
                        <a:spcBef>
                          <a:spcPts val="0"/>
                        </a:spcBef>
                        <a:spcAft>
                          <a:spcPts val="0"/>
                        </a:spcAft>
                        <a:buClrTx/>
                        <a:buSzTx/>
                        <a:buFontTx/>
                        <a:buNone/>
                        <a:tabLst/>
                        <a:defRPr/>
                      </a:pPr>
                      <a:r>
                        <a:rPr lang="ar-SA" sz="2000" b="0" dirty="0"/>
                        <a:t>صورة هوية المخالف</a:t>
                      </a:r>
                      <a:endParaRPr lang="en-US" sz="2000" b="0" dirty="0"/>
                    </a:p>
                  </a:txBody>
                  <a:tcPr marL="68580" marR="68580" marT="0" marB="0"/>
                </a:tc>
                <a:tc rowSpan="4">
                  <a:txBody>
                    <a:bodyPr/>
                    <a:lstStyle/>
                    <a:p>
                      <a:pPr marL="0" algn="ctr" defTabSz="914400" rtl="1" eaLnBrk="1" latinLnBrk="0" hangingPunct="1"/>
                      <a:endParaRPr lang="ar-SA" b="0" dirty="0">
                        <a:solidFill>
                          <a:schemeClr val="tx1"/>
                        </a:solidFill>
                      </a:endParaRPr>
                    </a:p>
                    <a:p>
                      <a:pPr marL="0" algn="ctr" defTabSz="914400" rtl="1" eaLnBrk="1" latinLnBrk="0" hangingPunct="1"/>
                      <a:r>
                        <a:rPr lang="ar-SA" b="0" dirty="0">
                          <a:solidFill>
                            <a:schemeClr val="tx1"/>
                          </a:solidFill>
                        </a:rPr>
                        <a:t>المرفقات</a:t>
                      </a:r>
                      <a:endParaRPr lang="en-US" b="0" dirty="0">
                        <a:solidFill>
                          <a:schemeClr val="tx1"/>
                        </a:solidFill>
                      </a:endParaRPr>
                    </a:p>
                  </a:txBody>
                  <a:tcPr/>
                </a:tc>
                <a:extLst>
                  <a:ext uri="{0D108BD9-81ED-4DB2-BD59-A6C34878D82A}">
                    <a16:rowId xmlns:a16="http://schemas.microsoft.com/office/drawing/2014/main" val="2439824098"/>
                  </a:ext>
                </a:extLst>
              </a:tr>
              <a:tr h="221082">
                <a:tc>
                  <a:txBody>
                    <a:bodyPr/>
                    <a:lstStyle/>
                    <a:p>
                      <a:pPr algn="ctr" rtl="1"/>
                      <a:r>
                        <a:rPr lang="ar-SA" b="0" dirty="0"/>
                        <a:t>صورة هوية مأمور الضبط القضائي</a:t>
                      </a:r>
                      <a:endParaRPr lang="en-US" b="0" dirty="0"/>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262411190"/>
                  </a:ext>
                </a:extLst>
              </a:tr>
              <a:tr h="221082">
                <a:tc>
                  <a:txBody>
                    <a:bodyPr/>
                    <a:lstStyle/>
                    <a:p>
                      <a:pPr marL="0" algn="ctr" defTabSz="914400" rtl="1" eaLnBrk="1" latinLnBrk="0" hangingPunct="1"/>
                      <a:r>
                        <a:rPr lang="ar-SA" b="0" dirty="0"/>
                        <a:t>صورة هوية الشهود ( مشرف الحراس – وحارس البناية )</a:t>
                      </a:r>
                      <a:endParaRPr lang="en-US" b="0" dirty="0"/>
                    </a:p>
                  </a:txBody>
                  <a:tcPr/>
                </a:tc>
                <a:tc vMerge="1">
                  <a:txBody>
                    <a:bodyPr/>
                    <a:lstStyle/>
                    <a:p>
                      <a:pPr marL="0" algn="ctr" defTabSz="914400" rtl="0" eaLnBrk="1" latinLnBrk="0" hangingPunct="1"/>
                      <a:endParaRPr lang="en-US" b="0" dirty="0"/>
                    </a:p>
                  </a:txBody>
                  <a:tcPr/>
                </a:tc>
                <a:extLst>
                  <a:ext uri="{0D108BD9-81ED-4DB2-BD59-A6C34878D82A}">
                    <a16:rowId xmlns:a16="http://schemas.microsoft.com/office/drawing/2014/main" val="373239492"/>
                  </a:ext>
                </a:extLst>
              </a:tr>
              <a:tr h="221082">
                <a:tc>
                  <a:txBody>
                    <a:bodyPr/>
                    <a:lstStyle/>
                    <a:p>
                      <a:pPr marL="0" algn="ctr" defTabSz="914400" rtl="1" eaLnBrk="1" latinLnBrk="0" hangingPunct="1"/>
                      <a:r>
                        <a:rPr lang="ar-SA" b="0" dirty="0"/>
                        <a:t>ملف دليل رعاية الكلاب</a:t>
                      </a:r>
                      <a:endParaRPr lang="en-US" b="0" dirty="0"/>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488084759"/>
                  </a:ext>
                </a:extLst>
              </a:tr>
              <a:tr h="386894">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إسم وتوقيع المخالف</a:t>
                      </a:r>
                    </a:p>
                  </a:txBody>
                  <a:tcPr/>
                </a:tc>
                <a:tc rowSpan="3">
                  <a:txBody>
                    <a:bodyPr/>
                    <a:lstStyle/>
                    <a:p>
                      <a:pPr marL="0" algn="ctr" defTabSz="914400" rtl="1" eaLnBrk="1" latinLnBrk="0" hangingPunct="1"/>
                      <a:endParaRPr lang="ar-SA" b="0" dirty="0"/>
                    </a:p>
                    <a:p>
                      <a:pPr marL="0" algn="ctr" defTabSz="914400" rtl="1" eaLnBrk="1" latinLnBrk="0" hangingPunct="1"/>
                      <a:r>
                        <a:rPr lang="ar-SA" b="0" dirty="0"/>
                        <a:t>الإسم والتوقيع</a:t>
                      </a:r>
                      <a:endParaRPr lang="en-US" b="0" dirty="0"/>
                    </a:p>
                  </a:txBody>
                  <a:tcPr/>
                </a:tc>
                <a:extLst>
                  <a:ext uri="{0D108BD9-81ED-4DB2-BD59-A6C34878D82A}">
                    <a16:rowId xmlns:a16="http://schemas.microsoft.com/office/drawing/2014/main" val="2776942025"/>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إسم وتوقيع مأمور الضبط القضائي</a:t>
                      </a:r>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1580191274"/>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إسم وتوقيع الشهود</a:t>
                      </a:r>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1201023218"/>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صورة الكلب </a:t>
                      </a:r>
                    </a:p>
                  </a:txBody>
                  <a:tcPr/>
                </a:tc>
                <a:tc rowSpan="4">
                  <a:txBody>
                    <a:bodyPr/>
                    <a:lstStyle/>
                    <a:p>
                      <a:pPr marL="0" algn="ctr" defTabSz="914400" rtl="1" eaLnBrk="1" latinLnBrk="0" hangingPunct="1"/>
                      <a:endParaRPr lang="ar-SA" b="0" dirty="0"/>
                    </a:p>
                    <a:p>
                      <a:pPr marL="0" algn="ctr" defTabSz="914400" rtl="1" eaLnBrk="1" latinLnBrk="0" hangingPunct="1"/>
                      <a:endParaRPr lang="ar-SA" b="0" dirty="0"/>
                    </a:p>
                    <a:p>
                      <a:pPr marL="0" algn="ctr" defTabSz="914400" rtl="1" eaLnBrk="1" latinLnBrk="0" hangingPunct="1"/>
                      <a:r>
                        <a:rPr lang="ar-SA" b="0" dirty="0"/>
                        <a:t>الصور</a:t>
                      </a:r>
                      <a:endParaRPr lang="en-US" b="0" dirty="0"/>
                    </a:p>
                  </a:txBody>
                  <a:tcPr/>
                </a:tc>
                <a:extLst>
                  <a:ext uri="{0D108BD9-81ED-4DB2-BD59-A6C34878D82A}">
                    <a16:rowId xmlns:a16="http://schemas.microsoft.com/office/drawing/2014/main" val="1377722335"/>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صورة كيس الأكل الجاف الخاص بالكلب</a:t>
                      </a:r>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1229243951"/>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صورة الشقة ورقمها</a:t>
                      </a:r>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1375145222"/>
                  </a:ext>
                </a:extLst>
              </a:tr>
              <a:tr h="221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AE" b="0" dirty="0"/>
                        <a:t>صورة البناية ورقمها</a:t>
                      </a:r>
                    </a:p>
                  </a:txBody>
                  <a:tcPr/>
                </a:tc>
                <a:tc vMerge="1">
                  <a:txBody>
                    <a:bodyPr/>
                    <a:lstStyle/>
                    <a:p>
                      <a:pPr marL="0" algn="ctr" defTabSz="914400" rtl="1" eaLnBrk="1" latinLnBrk="0" hangingPunct="1"/>
                      <a:endParaRPr lang="en-US" b="0" dirty="0"/>
                    </a:p>
                  </a:txBody>
                  <a:tcPr/>
                </a:tc>
                <a:extLst>
                  <a:ext uri="{0D108BD9-81ED-4DB2-BD59-A6C34878D82A}">
                    <a16:rowId xmlns:a16="http://schemas.microsoft.com/office/drawing/2014/main" val="1016419471"/>
                  </a:ext>
                </a:extLst>
              </a:tr>
            </a:tbl>
          </a:graphicData>
        </a:graphic>
      </p:graphicFrame>
    </p:spTree>
    <p:extLst>
      <p:ext uri="{BB962C8B-B14F-4D97-AF65-F5344CB8AC3E}">
        <p14:creationId xmlns:p14="http://schemas.microsoft.com/office/powerpoint/2010/main" val="3917965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7E3F40-E177-1FB2-662C-05FB684372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8A5286-AE26-2BCB-CE6E-FD445A573226}"/>
              </a:ext>
            </a:extLst>
          </p:cNvPr>
          <p:cNvSpPr txBox="1"/>
          <p:nvPr/>
        </p:nvSpPr>
        <p:spPr>
          <a:xfrm>
            <a:off x="2095500" y="5074024"/>
            <a:ext cx="7581900" cy="598032"/>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3100" dirty="0">
              <a:solidFill>
                <a:prstClr val="black"/>
              </a:solidFill>
              <a:latin typeface="Calibri Light" panose="020F0302020204030204"/>
            </a:endParaRPr>
          </a:p>
        </p:txBody>
      </p:sp>
      <p:sp>
        <p:nvSpPr>
          <p:cNvPr id="5" name="TextBox 4">
            <a:extLst>
              <a:ext uri="{FF2B5EF4-FFF2-40B4-BE49-F238E27FC236}">
                <a16:creationId xmlns:a16="http://schemas.microsoft.com/office/drawing/2014/main" id="{CC037D5B-5351-4DAD-3315-8D3EF0E30BD2}"/>
              </a:ext>
            </a:extLst>
          </p:cNvPr>
          <p:cNvSpPr txBox="1"/>
          <p:nvPr/>
        </p:nvSpPr>
        <p:spPr>
          <a:xfrm>
            <a:off x="2544333" y="1383867"/>
            <a:ext cx="7581899" cy="4708981"/>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t="100000" r="100000"/>
            </a:path>
            <a:tileRect l="-100000" b="-100000"/>
          </a:gradFill>
        </p:spPr>
        <p:txBody>
          <a:bodyPr wrap="square">
            <a:spAutoFit/>
          </a:bodyPr>
          <a:lstStyle/>
          <a:p>
            <a:pPr algn="r" defTabSz="457200"/>
            <a:r>
              <a:rPr lang="ar-AE" sz="2000" b="1" dirty="0">
                <a:solidFill>
                  <a:prstClr val="black"/>
                </a:solidFill>
                <a:highlight>
                  <a:srgbClr val="FFFF00"/>
                </a:highlight>
                <a:latin typeface="Calibri" panose="020F0502020204030204"/>
                <a:cs typeface="Times New Roman" panose="02020603050405020304" pitchFamily="18" charset="0"/>
              </a:rPr>
              <a:t>المـــرفقــــــات</a:t>
            </a:r>
            <a:r>
              <a:rPr lang="ar-AE" sz="2000" b="1" dirty="0">
                <a:solidFill>
                  <a:prstClr val="black"/>
                </a:solidFill>
                <a:latin typeface="Calibri" panose="020F0502020204030204"/>
                <a:cs typeface="Times New Roman" panose="02020603050405020304" pitchFamily="18" charset="0"/>
              </a:rPr>
              <a:t> :</a:t>
            </a: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r>
              <a:rPr lang="ar-AE" sz="2000" b="1" dirty="0">
                <a:solidFill>
                  <a:prstClr val="black"/>
                </a:solidFill>
                <a:latin typeface="Calibri" panose="020F0502020204030204"/>
                <a:cs typeface="Times New Roman" panose="02020603050405020304" pitchFamily="18" charset="0"/>
              </a:rPr>
              <a:t>تلقت التوعية وأدركتها جيداً ووقعت عليها .</a:t>
            </a: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r>
              <a:rPr lang="ar-AE" sz="2000" b="1" dirty="0">
                <a:solidFill>
                  <a:prstClr val="black"/>
                </a:solidFill>
                <a:latin typeface="Calibri" panose="020F0502020204030204"/>
                <a:cs typeface="Times New Roman" panose="02020603050405020304" pitchFamily="18" charset="0"/>
              </a:rPr>
              <a:t>          متلقي التوعية                                         مأمور الضبط الإداري </a:t>
            </a:r>
          </a:p>
          <a:p>
            <a:pPr algn="r" defTabSz="457200"/>
            <a:r>
              <a:rPr lang="ar-AE" sz="2000" b="1" dirty="0">
                <a:solidFill>
                  <a:prstClr val="black"/>
                </a:solidFill>
                <a:latin typeface="Calibri" panose="020F0502020204030204"/>
                <a:cs typeface="Times New Roman" panose="02020603050405020304" pitchFamily="18" charset="0"/>
              </a:rPr>
              <a:t>                                       </a:t>
            </a:r>
            <a:r>
              <a:rPr lang="ar-AE" altLang="ja-JP" sz="2000" b="1" dirty="0">
                <a:solidFill>
                  <a:srgbClr val="000000"/>
                </a:solidFill>
                <a:latin typeface="UICTFontTextStyleBody"/>
                <a:ea typeface="游ゴシック" panose="020B0400000000000000" pitchFamily="34" charset="-128"/>
                <a:cs typeface="Times New Roman" panose="02020603050405020304" pitchFamily="18" charset="0"/>
              </a:rPr>
              <a:t> علي محمد علي محمد عبدالعال</a:t>
            </a:r>
            <a:r>
              <a:rPr lang="ja-JP" altLang="en-US" sz="2000" b="1" dirty="0">
                <a:solidFill>
                  <a:srgbClr val="000000"/>
                </a:solidFill>
                <a:latin typeface="UICTFontTextStyleBody"/>
                <a:ea typeface="游ゴシック" panose="020B0400000000000000" pitchFamily="34" charset="-128"/>
              </a:rPr>
              <a:t>解心古</a:t>
            </a:r>
            <a:r>
              <a:rPr lang="ar-AE" altLang="ja-JP" sz="2000" b="1" dirty="0">
                <a:solidFill>
                  <a:srgbClr val="000000"/>
                </a:solidFill>
                <a:latin typeface="UICTFontTextStyleBody"/>
                <a:ea typeface="游ゴシック" panose="020B0400000000000000" pitchFamily="34" charset="-128"/>
                <a:cs typeface="Times New Roman" panose="02020603050405020304" pitchFamily="18" charset="0"/>
              </a:rPr>
              <a:t>          </a:t>
            </a:r>
            <a:endParaRPr lang="ar-AE" sz="2000" b="1" dirty="0">
              <a:solidFill>
                <a:prstClr val="black"/>
              </a:solidFill>
              <a:latin typeface="Calibri" panose="020F0502020204030204"/>
              <a:cs typeface="Times New Roman" panose="02020603050405020304" pitchFamily="18" charset="0"/>
            </a:endParaRPr>
          </a:p>
          <a:p>
            <a:pPr algn="r" defTabSz="457200"/>
            <a:endParaRPr lang="ar-AE" sz="2000" b="1" dirty="0">
              <a:solidFill>
                <a:prstClr val="black"/>
              </a:solidFill>
              <a:latin typeface="Calibri" panose="020F0502020204030204"/>
              <a:cs typeface="Times New Roman" panose="02020603050405020304" pitchFamily="18" charset="0"/>
            </a:endParaRPr>
          </a:p>
          <a:p>
            <a:pPr algn="r" defTabSz="457200"/>
            <a:r>
              <a:rPr lang="ar-AE" sz="2000" b="1" dirty="0">
                <a:solidFill>
                  <a:prstClr val="black"/>
                </a:solidFill>
                <a:latin typeface="Calibri" panose="020F0502020204030204"/>
                <a:cs typeface="Times New Roman" panose="02020603050405020304" pitchFamily="18" charset="0"/>
              </a:rPr>
              <a:t>       </a:t>
            </a:r>
            <a:r>
              <a:rPr lang="en-US" sz="2000" b="1" dirty="0">
                <a:solidFill>
                  <a:prstClr val="black"/>
                </a:solidFill>
                <a:latin typeface="Calibri" panose="020F0502020204030204"/>
              </a:rPr>
              <a:t>    </a:t>
            </a:r>
            <a:r>
              <a:rPr lang="ar-AE" sz="2000" b="1" dirty="0">
                <a:solidFill>
                  <a:prstClr val="black"/>
                </a:solidFill>
                <a:latin typeface="Calibri" panose="020F0502020204030204"/>
                <a:cs typeface="Times New Roman" panose="02020603050405020304" pitchFamily="18" charset="0"/>
              </a:rPr>
              <a:t> </a:t>
            </a:r>
          </a:p>
        </p:txBody>
      </p:sp>
      <p:pic>
        <p:nvPicPr>
          <p:cNvPr id="7" name="Picture 6" descr="A person and person standing in a doorway&#10;&#10;Description automatically generated">
            <a:extLst>
              <a:ext uri="{FF2B5EF4-FFF2-40B4-BE49-F238E27FC236}">
                <a16:creationId xmlns:a16="http://schemas.microsoft.com/office/drawing/2014/main" id="{3D68C7D1-DE24-66ED-EF4C-39528238ECA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05" t="5258" r="7674" b="19543"/>
          <a:stretch/>
        </p:blipFill>
        <p:spPr>
          <a:xfrm flipH="1">
            <a:off x="5662223" y="1802913"/>
            <a:ext cx="1407215" cy="1718346"/>
          </a:xfrm>
          <a:prstGeom prst="rect">
            <a:avLst/>
          </a:prstGeom>
        </p:spPr>
      </p:pic>
      <p:pic>
        <p:nvPicPr>
          <p:cNvPr id="9" name="Picture 8" descr="A dog standing on a balcony&#10;&#10;Description automatically generated">
            <a:extLst>
              <a:ext uri="{FF2B5EF4-FFF2-40B4-BE49-F238E27FC236}">
                <a16:creationId xmlns:a16="http://schemas.microsoft.com/office/drawing/2014/main" id="{7B81738B-B6A0-B6B4-9DDA-CFC303FBBF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0197" y="1823955"/>
            <a:ext cx="1380158" cy="1697305"/>
          </a:xfrm>
          <a:prstGeom prst="rect">
            <a:avLst/>
          </a:prstGeom>
        </p:spPr>
      </p:pic>
      <p:pic>
        <p:nvPicPr>
          <p:cNvPr id="11" name="Picture 10" descr="A building with a sign on the wall">
            <a:extLst>
              <a:ext uri="{FF2B5EF4-FFF2-40B4-BE49-F238E27FC236}">
                <a16:creationId xmlns:a16="http://schemas.microsoft.com/office/drawing/2014/main" id="{47CD0AF8-1187-3BBA-FA00-8311D83636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19702" y="1797127"/>
            <a:ext cx="1394139" cy="1726237"/>
          </a:xfrm>
          <a:prstGeom prst="rect">
            <a:avLst/>
          </a:prstGeom>
        </p:spPr>
      </p:pic>
      <p:pic>
        <p:nvPicPr>
          <p:cNvPr id="13" name="Picture 12" descr="A building with balconies and windows">
            <a:extLst>
              <a:ext uri="{FF2B5EF4-FFF2-40B4-BE49-F238E27FC236}">
                <a16:creationId xmlns:a16="http://schemas.microsoft.com/office/drawing/2014/main" id="{CD9562B1-94C7-AA81-44F0-BF00671B69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66426" y="1789499"/>
            <a:ext cx="1340884" cy="1739387"/>
          </a:xfrm>
          <a:prstGeom prst="rect">
            <a:avLst/>
          </a:prstGeom>
        </p:spPr>
      </p:pic>
      <p:pic>
        <p:nvPicPr>
          <p:cNvPr id="17" name="Picture 16" descr="A bag of dog food&#10;&#10;Description automatically generated">
            <a:extLst>
              <a:ext uri="{FF2B5EF4-FFF2-40B4-BE49-F238E27FC236}">
                <a16:creationId xmlns:a16="http://schemas.microsoft.com/office/drawing/2014/main" id="{2397B774-FB39-6168-1FF4-23462FC8A1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62840" y="1783712"/>
            <a:ext cx="1340881" cy="1724133"/>
          </a:xfrm>
          <a:prstGeom prst="rect">
            <a:avLst/>
          </a:prstGeom>
        </p:spPr>
      </p:pic>
    </p:spTree>
    <p:extLst>
      <p:ext uri="{BB962C8B-B14F-4D97-AF65-F5344CB8AC3E}">
        <p14:creationId xmlns:p14="http://schemas.microsoft.com/office/powerpoint/2010/main" val="932762271"/>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887</Words>
  <Application>Microsoft Office PowerPoint</Application>
  <PresentationFormat>Widescreen</PresentationFormat>
  <Paragraphs>101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Sakkal Majalla</vt:lpstr>
      <vt:lpstr>UICTFontTextStyleBody</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Mohamed Ali Abdel Aal</dc:creator>
  <cp:lastModifiedBy>Ali  Mohamed Ali Abdel Aal</cp:lastModifiedBy>
  <cp:revision>1</cp:revision>
  <dcterms:created xsi:type="dcterms:W3CDTF">2025-12-09T19:30:31Z</dcterms:created>
  <dcterms:modified xsi:type="dcterms:W3CDTF">2025-12-09T19:32:49Z</dcterms:modified>
</cp:coreProperties>
</file>