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13" r:id="rId2"/>
    <p:sldId id="315" r:id="rId3"/>
    <p:sldId id="323" r:id="rId4"/>
    <p:sldId id="345" r:id="rId5"/>
    <p:sldId id="325" r:id="rId6"/>
  </p:sldIdLst>
  <p:sldSz cx="24384000" cy="13716000"/>
  <p:notesSz cx="6858000" cy="9144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FD2"/>
    <a:srgbClr val="00486C"/>
    <a:srgbClr val="004D74"/>
    <a:srgbClr val="FFFFFF"/>
    <a:srgbClr val="00517A"/>
    <a:srgbClr val="003D5C"/>
    <a:srgbClr val="005986"/>
    <a:srgbClr val="006DA4"/>
    <a:srgbClr val="0092C3"/>
    <a:srgbClr val="00CC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1" autoAdjust="0"/>
    <p:restoredTop sz="91781" autoAdjust="0"/>
  </p:normalViewPr>
  <p:slideViewPr>
    <p:cSldViewPr snapToGrid="0" showGuides="1">
      <p:cViewPr varScale="1">
        <p:scale>
          <a:sx n="51" d="100"/>
          <a:sy n="51" d="100"/>
        </p:scale>
        <p:origin x="118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6256"/>
    </p:cViewPr>
  </p:sorterViewPr>
  <p:notesViewPr>
    <p:cSldViewPr snapToGrid="0" showGuides="1">
      <p:cViewPr varScale="1">
        <p:scale>
          <a:sx n="108" d="100"/>
          <a:sy n="108" d="100"/>
        </p:scale>
        <p:origin x="3272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eef W. Arnaoot" userId="c1e01317-2b7e-4972-851d-e3d863e911bc" providerId="ADAL" clId="{DC23350B-BCC0-4116-B774-EB457C6C2913}"/>
    <pc:docChg chg="modSld">
      <pc:chgData name="Raeef W. Arnaoot" userId="c1e01317-2b7e-4972-851d-e3d863e911bc" providerId="ADAL" clId="{DC23350B-BCC0-4116-B774-EB457C6C2913}" dt="2025-07-30T12:20:27.771" v="21" actId="20577"/>
      <pc:docMkLst>
        <pc:docMk/>
      </pc:docMkLst>
      <pc:sldChg chg="modSp mod">
        <pc:chgData name="Raeef W. Arnaoot" userId="c1e01317-2b7e-4972-851d-e3d863e911bc" providerId="ADAL" clId="{DC23350B-BCC0-4116-B774-EB457C6C2913}" dt="2025-07-30T12:20:27.771" v="21" actId="20577"/>
        <pc:sldMkLst>
          <pc:docMk/>
          <pc:sldMk cId="2324960681" sldId="325"/>
        </pc:sldMkLst>
        <pc:spChg chg="mod">
          <ac:chgData name="Raeef W. Arnaoot" userId="c1e01317-2b7e-4972-851d-e3d863e911bc" providerId="ADAL" clId="{DC23350B-BCC0-4116-B774-EB457C6C2913}" dt="2025-07-30T12:20:13.975" v="9"/>
          <ac:spMkLst>
            <pc:docMk/>
            <pc:sldMk cId="2324960681" sldId="325"/>
            <ac:spMk id="6" creationId="{00000000-0000-0000-0000-000000000000}"/>
          </ac:spMkLst>
        </pc:spChg>
        <pc:spChg chg="mod">
          <ac:chgData name="Raeef W. Arnaoot" userId="c1e01317-2b7e-4972-851d-e3d863e911bc" providerId="ADAL" clId="{DC23350B-BCC0-4116-B774-EB457C6C2913}" dt="2025-07-30T12:20:27.771" v="21" actId="20577"/>
          <ac:spMkLst>
            <pc:docMk/>
            <pc:sldMk cId="2324960681" sldId="325"/>
            <ac:spMk id="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7DCF6F-D47A-4251-A947-55C6E670AA80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863C0-3C0C-4227-829A-BB3F7A60FC6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45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76A4C8-D79E-4F07-A1E7-71E24EC0BB7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E9774-26C6-4288-8776-D66481D44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93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Note: Please after inserting your picture, “Right Click” on the picture and “Send it to Back” to get the “Gradient”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E9774-26C6-4288-8776-D66481D447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97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4E9774-26C6-4288-8776-D66481D447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194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/>
          <p:cNvCxnSpPr>
            <a:cxnSpLocks/>
          </p:cNvCxnSpPr>
          <p:nvPr userDrawn="1"/>
        </p:nvCxnSpPr>
        <p:spPr>
          <a:xfrm flipH="1">
            <a:off x="5572664" y="12846998"/>
            <a:ext cx="1607218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18FC054-799B-79A1-0FCA-55E48C4AE8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1" t="787"/>
          <a:stretch>
            <a:fillRect/>
          </a:stretch>
        </p:blipFill>
        <p:spPr>
          <a:xfrm>
            <a:off x="1676400" y="12507273"/>
            <a:ext cx="4313207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64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2717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icture a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2192000" y="0"/>
            <a:ext cx="12192000" cy="13716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4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Oval 2"/>
          <p:cNvSpPr/>
          <p:nvPr userDrawn="1"/>
        </p:nvSpPr>
        <p:spPr>
          <a:xfrm>
            <a:off x="101219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" name="Title 6"/>
          <p:cNvSpPr>
            <a:spLocks noGrp="1"/>
          </p:cNvSpPr>
          <p:nvPr>
            <p:ph type="title"/>
          </p:nvPr>
        </p:nvSpPr>
        <p:spPr>
          <a:xfrm>
            <a:off x="1676400" y="663804"/>
            <a:ext cx="9055100" cy="230046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01806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676400" y="3286425"/>
            <a:ext cx="90551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/>
          <p:cNvCxnSpPr>
            <a:cxnSpLocks/>
          </p:cNvCxnSpPr>
          <p:nvPr userDrawn="1"/>
        </p:nvCxnSpPr>
        <p:spPr>
          <a:xfrm flipH="1" flipV="1">
            <a:off x="5440680" y="12835300"/>
            <a:ext cx="4228066" cy="1169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DB14F19-4D9D-6790-602B-223F31B794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1" t="787"/>
          <a:stretch>
            <a:fillRect/>
          </a:stretch>
        </p:blipFill>
        <p:spPr>
          <a:xfrm>
            <a:off x="1422587" y="12495575"/>
            <a:ext cx="4313207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41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icture a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13716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4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Oval 2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" name="Title 6"/>
          <p:cNvSpPr>
            <a:spLocks noGrp="1"/>
          </p:cNvSpPr>
          <p:nvPr>
            <p:ph type="title"/>
          </p:nvPr>
        </p:nvSpPr>
        <p:spPr>
          <a:xfrm>
            <a:off x="13652500" y="663803"/>
            <a:ext cx="9055100" cy="116309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3652500" y="1893612"/>
            <a:ext cx="90551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/>
          <p:cNvCxnSpPr>
            <a:cxnSpLocks/>
          </p:cNvCxnSpPr>
          <p:nvPr userDrawn="1"/>
        </p:nvCxnSpPr>
        <p:spPr>
          <a:xfrm flipH="1">
            <a:off x="17485316" y="12846998"/>
            <a:ext cx="415953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3B0509C-9D49-ADE7-F2C5-93F0352951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1" t="787"/>
          <a:stretch>
            <a:fillRect/>
          </a:stretch>
        </p:blipFill>
        <p:spPr>
          <a:xfrm>
            <a:off x="13172109" y="12464406"/>
            <a:ext cx="4313207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63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8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 20"/>
          <p:cNvCxnSpPr>
            <a:cxnSpLocks/>
          </p:cNvCxnSpPr>
          <p:nvPr userDrawn="1"/>
        </p:nvCxnSpPr>
        <p:spPr>
          <a:xfrm flipH="1">
            <a:off x="5532120" y="12846998"/>
            <a:ext cx="1611272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945463" y="3505200"/>
            <a:ext cx="3962399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34244" y="3505200"/>
            <a:ext cx="3962399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5538096" y="3505200"/>
            <a:ext cx="3962399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3CE968-3841-56C3-92A9-CD1C31F214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1" t="787"/>
          <a:stretch>
            <a:fillRect/>
          </a:stretch>
        </p:blipFill>
        <p:spPr>
          <a:xfrm>
            <a:off x="1422587" y="12495575"/>
            <a:ext cx="4313207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854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8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676400" y="3505200"/>
            <a:ext cx="5019241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006665" y="3505200"/>
            <a:ext cx="5019241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2336930" y="3505200"/>
            <a:ext cx="5019241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667195" y="3505200"/>
            <a:ext cx="5019241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1945635-99DE-7BF2-3630-CB873E5C8C90}"/>
              </a:ext>
            </a:extLst>
          </p:cNvPr>
          <p:cNvCxnSpPr>
            <a:cxnSpLocks/>
          </p:cNvCxnSpPr>
          <p:nvPr userDrawn="1"/>
        </p:nvCxnSpPr>
        <p:spPr>
          <a:xfrm flipH="1">
            <a:off x="5532120" y="12846998"/>
            <a:ext cx="1611272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6ACCBB-C163-80DE-3BF7-122DED74D9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1" t="787"/>
          <a:stretch>
            <a:fillRect/>
          </a:stretch>
        </p:blipFill>
        <p:spPr>
          <a:xfrm>
            <a:off x="1422587" y="12495575"/>
            <a:ext cx="4313207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20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8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676399" y="3505200"/>
            <a:ext cx="3962399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943598" y="3505200"/>
            <a:ext cx="3962399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0210799" y="3505200"/>
            <a:ext cx="3962399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4478000" y="3505200"/>
            <a:ext cx="3962399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8734085" y="3505200"/>
            <a:ext cx="3962399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3681759-EFA3-7CD4-84FC-F3547C5DBF89}"/>
              </a:ext>
            </a:extLst>
          </p:cNvPr>
          <p:cNvCxnSpPr>
            <a:cxnSpLocks/>
          </p:cNvCxnSpPr>
          <p:nvPr userDrawn="1"/>
        </p:nvCxnSpPr>
        <p:spPr>
          <a:xfrm flipH="1">
            <a:off x="5532120" y="12846998"/>
            <a:ext cx="1611272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1EA58C1-4B9B-FD83-E343-D342A371D0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1" t="787"/>
          <a:stretch>
            <a:fillRect/>
          </a:stretch>
        </p:blipFill>
        <p:spPr>
          <a:xfrm>
            <a:off x="1422587" y="12495575"/>
            <a:ext cx="4313207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61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Servic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676399" y="3073400"/>
            <a:ext cx="10343283" cy="564856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Oval 16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8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2353201" y="3073400"/>
            <a:ext cx="10343283" cy="564856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A1CD15F-C683-7282-7EE2-15D00192FF7C}"/>
              </a:ext>
            </a:extLst>
          </p:cNvPr>
          <p:cNvCxnSpPr>
            <a:cxnSpLocks/>
          </p:cNvCxnSpPr>
          <p:nvPr userDrawn="1"/>
        </p:nvCxnSpPr>
        <p:spPr>
          <a:xfrm flipH="1">
            <a:off x="5532120" y="12846998"/>
            <a:ext cx="1611272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1280A78-B626-1DB5-DB1A-164CCD4F5E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1" t="787"/>
          <a:stretch>
            <a:fillRect/>
          </a:stretch>
        </p:blipFill>
        <p:spPr>
          <a:xfrm>
            <a:off x="1422587" y="12495575"/>
            <a:ext cx="4313207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44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Servic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676400" y="3073400"/>
            <a:ext cx="6781800" cy="65151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5925800" y="3073400"/>
            <a:ext cx="6781800" cy="65151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801100" y="3073400"/>
            <a:ext cx="6781800" cy="65151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Oval 16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8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2015A81-1994-5EC1-CEF0-CFDEA3E8A9F7}"/>
              </a:ext>
            </a:extLst>
          </p:cNvPr>
          <p:cNvCxnSpPr>
            <a:cxnSpLocks/>
          </p:cNvCxnSpPr>
          <p:nvPr userDrawn="1"/>
        </p:nvCxnSpPr>
        <p:spPr>
          <a:xfrm flipH="1">
            <a:off x="5532120" y="12846998"/>
            <a:ext cx="1611272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62C62D8-66BE-45A7-5EF1-F450EA4DBF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1" t="787"/>
          <a:stretch>
            <a:fillRect/>
          </a:stretch>
        </p:blipFill>
        <p:spPr>
          <a:xfrm>
            <a:off x="1422587" y="12495575"/>
            <a:ext cx="4313207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17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ortfoli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676399" y="3073400"/>
            <a:ext cx="10343283" cy="7306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Oval 16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8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2353201" y="3073400"/>
            <a:ext cx="10343283" cy="7306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8B2AD57-3B8C-E2BB-9999-74A116622167}"/>
              </a:ext>
            </a:extLst>
          </p:cNvPr>
          <p:cNvCxnSpPr>
            <a:cxnSpLocks/>
          </p:cNvCxnSpPr>
          <p:nvPr userDrawn="1"/>
        </p:nvCxnSpPr>
        <p:spPr>
          <a:xfrm flipH="1">
            <a:off x="5532120" y="12846998"/>
            <a:ext cx="1611272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8269E7F-687C-1536-6596-A85C37FCA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1" t="787"/>
          <a:stretch>
            <a:fillRect/>
          </a:stretch>
        </p:blipFill>
        <p:spPr>
          <a:xfrm>
            <a:off x="1422587" y="12495575"/>
            <a:ext cx="4313207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55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ortfoli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676400" y="3064747"/>
            <a:ext cx="6737489" cy="5016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5958995" y="3064747"/>
            <a:ext cx="6737489" cy="5016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823256" y="6949552"/>
            <a:ext cx="6737489" cy="5016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Oval 14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C2CF583-466D-5F14-4723-052F81BA0C67}"/>
              </a:ext>
            </a:extLst>
          </p:cNvPr>
          <p:cNvCxnSpPr>
            <a:cxnSpLocks/>
          </p:cNvCxnSpPr>
          <p:nvPr userDrawn="1"/>
        </p:nvCxnSpPr>
        <p:spPr>
          <a:xfrm flipH="1">
            <a:off x="5532120" y="12846998"/>
            <a:ext cx="1611272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9AACB95-D89D-09A0-A9D0-9491F4274C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1" t="787"/>
          <a:stretch>
            <a:fillRect/>
          </a:stretch>
        </p:blipFill>
        <p:spPr>
          <a:xfrm>
            <a:off x="1422587" y="12495575"/>
            <a:ext cx="4313207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87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roduct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5914077" y="3064747"/>
            <a:ext cx="6793523" cy="758650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3" name="Oval 32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4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5" name="TextBox 34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676399" y="3064747"/>
            <a:ext cx="6793523" cy="758650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8795238" y="3064747"/>
            <a:ext cx="6793523" cy="758650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A7FFD9-2554-A096-A9F5-D562E55FE1A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32120" y="12846998"/>
            <a:ext cx="1611272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FB7F634-D794-D164-2D29-80A0DE77CC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1" t="787"/>
          <a:stretch>
            <a:fillRect/>
          </a:stretch>
        </p:blipFill>
        <p:spPr>
          <a:xfrm>
            <a:off x="1422587" y="12495575"/>
            <a:ext cx="4313207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0795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roduct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4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5" name="TextBox 34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676401" y="3064747"/>
            <a:ext cx="5035172" cy="760660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7008410" y="3064747"/>
            <a:ext cx="5035172" cy="760660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2340419" y="3064747"/>
            <a:ext cx="5035172" cy="760660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17672428" y="3064747"/>
            <a:ext cx="5035172" cy="760660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4CF0107-3179-A077-6876-A03C0E86E53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32120" y="12846998"/>
            <a:ext cx="1611272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6C2C115-47FF-AC0A-07B0-4652316CC3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1" t="787"/>
          <a:stretch>
            <a:fillRect/>
          </a:stretch>
        </p:blipFill>
        <p:spPr>
          <a:xfrm>
            <a:off x="1422587" y="12495575"/>
            <a:ext cx="4313207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69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roducts in i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216" y="2870200"/>
            <a:ext cx="6110332" cy="10698294"/>
          </a:xfrm>
          <a:prstGeom prst="rect">
            <a:avLst/>
          </a:prstGeom>
        </p:spPr>
      </p:pic>
      <p:sp>
        <p:nvSpPr>
          <p:cNvPr id="33" name="Oval 32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4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5" name="TextBox 34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825750" y="4565650"/>
            <a:ext cx="3848100" cy="66421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011" y="2870200"/>
            <a:ext cx="6110332" cy="10698294"/>
          </a:xfrm>
          <a:prstGeom prst="rect">
            <a:avLst/>
          </a:prstGeom>
        </p:spPr>
      </p:pic>
      <p:sp>
        <p:nvSpPr>
          <p:cNvPr id="19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8350545" y="4565650"/>
            <a:ext cx="3848100" cy="66421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E475C6-29AF-E538-7F20-0D4CF15DC2F7}"/>
              </a:ext>
            </a:extLst>
          </p:cNvPr>
          <p:cNvCxnSpPr>
            <a:cxnSpLocks/>
          </p:cNvCxnSpPr>
          <p:nvPr userDrawn="1"/>
        </p:nvCxnSpPr>
        <p:spPr>
          <a:xfrm flipH="1">
            <a:off x="5532120" y="12846998"/>
            <a:ext cx="1611272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DFA2B1D-FABF-F002-173B-6B229A24F4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1" t="787"/>
          <a:stretch>
            <a:fillRect/>
          </a:stretch>
        </p:blipFill>
        <p:spPr>
          <a:xfrm>
            <a:off x="1422587" y="12495575"/>
            <a:ext cx="4313207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5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roducts in Mac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72" y="3167971"/>
            <a:ext cx="13178357" cy="8616618"/>
          </a:xfrm>
          <a:prstGeom prst="rect">
            <a:avLst/>
          </a:prstGeom>
        </p:spPr>
      </p:pic>
      <p:sp>
        <p:nvSpPr>
          <p:cNvPr id="33" name="Oval 32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4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5" name="TextBox 34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472266" y="4217838"/>
            <a:ext cx="9550401" cy="592666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367EAF7-F5A9-0DFB-BEA7-002C9408E904}"/>
              </a:ext>
            </a:extLst>
          </p:cNvPr>
          <p:cNvCxnSpPr>
            <a:cxnSpLocks/>
          </p:cNvCxnSpPr>
          <p:nvPr userDrawn="1"/>
        </p:nvCxnSpPr>
        <p:spPr>
          <a:xfrm flipH="1">
            <a:off x="5532120" y="12846998"/>
            <a:ext cx="1611272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2796461-03A8-531F-2701-C440430DC5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1" t="787"/>
          <a:stretch>
            <a:fillRect/>
          </a:stretch>
        </p:blipFill>
        <p:spPr>
          <a:xfrm>
            <a:off x="1422587" y="12495575"/>
            <a:ext cx="4313207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77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4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244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57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83" r:id="rId3"/>
    <p:sldLayoutId id="2147483691" r:id="rId4"/>
    <p:sldLayoutId id="2147483700" r:id="rId5"/>
    <p:sldLayoutId id="2147483701" r:id="rId6"/>
    <p:sldLayoutId id="2147483699" r:id="rId7"/>
    <p:sldLayoutId id="2147483693" r:id="rId8"/>
    <p:sldLayoutId id="2147483692" r:id="rId9"/>
    <p:sldLayoutId id="2147483698" r:id="rId10"/>
    <p:sldLayoutId id="2147483696" r:id="rId11"/>
    <p:sldLayoutId id="2147483694" r:id="rId12"/>
    <p:sldLayoutId id="2147483697" r:id="rId13"/>
    <p:sldLayoutId id="2147483702" r:id="rId14"/>
    <p:sldLayoutId id="2147483703" r:id="rId15"/>
    <p:sldLayoutId id="2147483689" r:id="rId16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2" descr="A city skyline with water and blue sky&#10;&#10;AI-generated content may be incorrect.">
            <a:extLst>
              <a:ext uri="{FF2B5EF4-FFF2-40B4-BE49-F238E27FC236}">
                <a16:creationId xmlns:a16="http://schemas.microsoft.com/office/drawing/2014/main" id="{5A6BD03C-5529-FDD5-0696-296FF9BDB9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1" r="20641"/>
          <a:stretch>
            <a:fillRect/>
          </a:stretch>
        </p:blipFill>
        <p:spPr/>
      </p:pic>
      <p:sp>
        <p:nvSpPr>
          <p:cNvPr id="25" name="Rectangle 2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33000">
                <a:schemeClr val="accent2">
                  <a:alpha val="80261"/>
                </a:schemeClr>
              </a:gs>
              <a:gs pos="66000">
                <a:schemeClr val="accent4">
                  <a:alpha val="80000"/>
                </a:schemeClr>
              </a:gs>
              <a:gs pos="100000">
                <a:schemeClr val="accent6">
                  <a:alpha val="81000"/>
                </a:schemeClr>
              </a:gs>
            </a:gsLst>
            <a:lin ang="6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1828800" rtl="1" eaLnBrk="1" latinLnBrk="0" hangingPunct="1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156200" y="5508179"/>
            <a:ext cx="14071600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Janna LT" pitchFamily="2" charset="-78"/>
                <a:ea typeface="Open Sans Light" panose="020B0306030504020204" pitchFamily="34" charset="0"/>
                <a:cs typeface="Janna LT" pitchFamily="2" charset="-78"/>
              </a:rPr>
              <a:t>Executive Priority Requests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614934" y="5124381"/>
            <a:ext cx="13154132" cy="3046801"/>
            <a:chOff x="4713542" y="4227741"/>
            <a:chExt cx="13154132" cy="3046801"/>
          </a:xfrm>
        </p:grpSpPr>
        <p:grpSp>
          <p:nvGrpSpPr>
            <p:cNvPr id="5" name="Group 4"/>
            <p:cNvGrpSpPr/>
            <p:nvPr/>
          </p:nvGrpSpPr>
          <p:grpSpPr>
            <a:xfrm>
              <a:off x="4713542" y="4227741"/>
              <a:ext cx="3338566" cy="1463040"/>
              <a:chOff x="4422140" y="3769678"/>
              <a:chExt cx="3338566" cy="1463040"/>
            </a:xfrm>
          </p:grpSpPr>
          <p:cxnSp>
            <p:nvCxnSpPr>
              <p:cNvPr id="9" name="Straight Connector 8"/>
              <p:cNvCxnSpPr/>
              <p:nvPr/>
            </p:nvCxnSpPr>
            <p:spPr>
              <a:xfrm flipH="1">
                <a:off x="4432301" y="3784600"/>
                <a:ext cx="3328405" cy="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422140" y="3769678"/>
                <a:ext cx="0" cy="146304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/>
            <p:cNvGrpSpPr/>
            <p:nvPr/>
          </p:nvGrpSpPr>
          <p:grpSpPr>
            <a:xfrm rot="10800000">
              <a:off x="13809325" y="5811502"/>
              <a:ext cx="4058349" cy="1463040"/>
              <a:chOff x="6009640" y="3769678"/>
              <a:chExt cx="4058349" cy="1463040"/>
            </a:xfrm>
          </p:grpSpPr>
          <p:cxnSp>
            <p:nvCxnSpPr>
              <p:cNvPr id="7" name="Straight Connector 6"/>
              <p:cNvCxnSpPr/>
              <p:nvPr/>
            </p:nvCxnSpPr>
            <p:spPr>
              <a:xfrm rot="10800000">
                <a:off x="6019800" y="3784600"/>
                <a:ext cx="4048189" cy="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6009640" y="3769678"/>
                <a:ext cx="0" cy="146304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5614933" y="3757970"/>
            <a:ext cx="16902167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Janna LT" pitchFamily="2" charset="-78"/>
                <a:ea typeface="Open Sans Light" panose="020B0306030504020204" pitchFamily="34" charset="0"/>
                <a:cs typeface="Janna LT" pitchFamily="2" charset="-78"/>
              </a:rPr>
              <a:t>2025 Performance Outlook: ED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96800" y="8862578"/>
            <a:ext cx="627226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4000" dirty="0">
                <a:solidFill>
                  <a:schemeClr val="bg1"/>
                </a:solidFill>
                <a:latin typeface="Janna LT" pitchFamily="2" charset="-78"/>
                <a:ea typeface="Open Sans Light" panose="020B0306030504020204" pitchFamily="34" charset="0"/>
                <a:cs typeface="Janna LT" pitchFamily="2" charset="-78"/>
              </a:rPr>
              <a:t>Municipal Services Sector</a:t>
            </a:r>
          </a:p>
        </p:txBody>
      </p:sp>
      <p:pic>
        <p:nvPicPr>
          <p:cNvPr id="26" name="Picture 25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45B2D9C8-7A1B-86A0-3DBA-07BA5DBB7D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5405" y="429985"/>
            <a:ext cx="5433902" cy="241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696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Janna LT" pitchFamily="2" charset="-78"/>
                <a:cs typeface="Janna LT" pitchFamily="2" charset="-78"/>
              </a:rPr>
              <a:t>Content</a:t>
            </a:r>
            <a:endParaRPr lang="en-US" dirty="0">
              <a:solidFill>
                <a:schemeClr val="accent2"/>
              </a:solidFill>
              <a:latin typeface="Janna LT" pitchFamily="2" charset="-78"/>
              <a:cs typeface="Janna LT" pitchFamily="2" charset="-78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600" dirty="0">
                <a:latin typeface="Janna LT" pitchFamily="2" charset="-78"/>
                <a:cs typeface="Janna LT" pitchFamily="2" charset="-78"/>
              </a:rPr>
              <a:t>Initiatives and expected outcomes</a:t>
            </a:r>
          </a:p>
        </p:txBody>
      </p:sp>
      <p:sp>
        <p:nvSpPr>
          <p:cNvPr id="22" name="Oval 21"/>
          <p:cNvSpPr/>
          <p:nvPr/>
        </p:nvSpPr>
        <p:spPr>
          <a:xfrm>
            <a:off x="5321950" y="3398520"/>
            <a:ext cx="1199758" cy="1199756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Janna LT" pitchFamily="2" charset="-78"/>
              <a:cs typeface="Janna LT" pitchFamily="2" charset="-78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51929" y="3586522"/>
            <a:ext cx="939800" cy="8863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chemeClr val="bg1"/>
                </a:solidFill>
                <a:latin typeface="Janna LT" pitchFamily="2" charset="-78"/>
                <a:ea typeface="Open Sans Light" panose="020B0306030504020204" pitchFamily="34" charset="0"/>
                <a:cs typeface="Janna LT" pitchFamily="2" charset="-78"/>
              </a:rPr>
              <a:t>01</a:t>
            </a:r>
            <a:endParaRPr lang="en-US" sz="4800" spc="50" dirty="0">
              <a:solidFill>
                <a:schemeClr val="bg1"/>
              </a:solidFill>
              <a:latin typeface="Janna LT" pitchFamily="2" charset="-78"/>
              <a:ea typeface="Open Sans Light" panose="020B0306030504020204" pitchFamily="34" charset="0"/>
              <a:cs typeface="Janna LT" pitchFamily="2" charset="-78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29556" y="3706011"/>
            <a:ext cx="12152904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000" dirty="0">
                <a:solidFill>
                  <a:schemeClr val="tx2"/>
                </a:solidFill>
                <a:latin typeface="Janna LT" pitchFamily="2" charset="-78"/>
                <a:cs typeface="Janna LT" pitchFamily="2" charset="-78"/>
              </a:rPr>
              <a:t>Executive Initiative #5 </a:t>
            </a:r>
            <a:r>
              <a:rPr lang="en-US" sz="4000" dirty="0"/>
              <a:t>Proposed Work‑plan</a:t>
            </a:r>
            <a:r>
              <a:rPr lang="en-US" sz="4000" dirty="0">
                <a:solidFill>
                  <a:schemeClr val="tx2"/>
                </a:solidFill>
                <a:latin typeface="Janna LT" pitchFamily="2" charset="-78"/>
                <a:cs typeface="Janna LT" pitchFamily="2" charset="-78"/>
              </a:rPr>
              <a:t> </a:t>
            </a:r>
            <a:endParaRPr lang="en-US" sz="4000" dirty="0">
              <a:solidFill>
                <a:schemeClr val="tx2"/>
              </a:solidFill>
              <a:latin typeface="Janna LT" pitchFamily="2" charset="-78"/>
              <a:ea typeface="Open Sans Light" panose="020B0306030504020204" pitchFamily="34" charset="0"/>
              <a:cs typeface="Janna LT" pitchFamily="2" charset="-78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5321950" y="8066171"/>
            <a:ext cx="1199758" cy="1199756"/>
          </a:xfrm>
          <a:prstGeom prst="ellipse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Janna LT" pitchFamily="2" charset="-78"/>
              <a:cs typeface="Janna LT" pitchFamily="2" charset="-78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451929" y="8254173"/>
            <a:ext cx="939800" cy="8863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chemeClr val="bg1"/>
                </a:solidFill>
                <a:latin typeface="Janna LT" pitchFamily="2" charset="-78"/>
                <a:ea typeface="Open Sans Light" panose="020B0306030504020204" pitchFamily="34" charset="0"/>
                <a:cs typeface="Janna LT" pitchFamily="2" charset="-78"/>
              </a:rPr>
              <a:t>02</a:t>
            </a:r>
            <a:endParaRPr lang="en-US" sz="4800" spc="50" dirty="0">
              <a:solidFill>
                <a:schemeClr val="bg1"/>
              </a:solidFill>
              <a:latin typeface="Janna LT" pitchFamily="2" charset="-78"/>
              <a:ea typeface="Open Sans Light" panose="020B0306030504020204" pitchFamily="34" charset="0"/>
              <a:cs typeface="Janna LT" pitchFamily="2" charset="-78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529555" y="8373662"/>
            <a:ext cx="1140251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Janna LT" pitchFamily="2" charset="-78"/>
                <a:cs typeface="Janna LT" pitchFamily="2" charset="-78"/>
              </a:rPr>
              <a:t>Executive Initiative #10  </a:t>
            </a:r>
            <a:r>
              <a:rPr lang="en-US" dirty="0"/>
              <a:t>Proposed Work‑plan</a:t>
            </a:r>
            <a:endParaRPr lang="en-US" dirty="0">
              <a:solidFill>
                <a:schemeClr val="tx2"/>
              </a:solidFill>
              <a:latin typeface="Janna LT" pitchFamily="2" charset="-78"/>
              <a:ea typeface="Open Sans Light" panose="020B0306030504020204" pitchFamily="34" charset="0"/>
              <a:cs typeface="Janna LT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C708B-8D25-C8C3-BC05-368982C29273}"/>
              </a:ext>
            </a:extLst>
          </p:cNvPr>
          <p:cNvSpPr txBox="1"/>
          <p:nvPr/>
        </p:nvSpPr>
        <p:spPr>
          <a:xfrm>
            <a:off x="7529555" y="4598276"/>
            <a:ext cx="14859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Pet‑Friendly Neighborhood Planning</a:t>
            </a:r>
            <a:r>
              <a:rPr lang="en-US" dirty="0"/>
              <a:t> – </a:t>
            </a:r>
            <a:r>
              <a:rPr lang="en-US" i="1" dirty="0"/>
              <a:t>Develop an action plan for three neighborhoods to become pet‑friendly (aligned with Planning &amp; Mobility); weight = 9 %, </a:t>
            </a:r>
          </a:p>
          <a:p>
            <a:pPr algn="just"/>
            <a:r>
              <a:rPr lang="en-US" i="1" dirty="0"/>
              <a:t>deadline Q3 2025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1D5C72-105B-676D-7CA1-11A002CC8782}"/>
              </a:ext>
            </a:extLst>
          </p:cNvPr>
          <p:cNvSpPr txBox="1"/>
          <p:nvPr/>
        </p:nvSpPr>
        <p:spPr>
          <a:xfrm>
            <a:off x="7529555" y="9608426"/>
            <a:ext cx="14859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Stray‑Animal Population Control</a:t>
            </a:r>
            <a:r>
              <a:rPr lang="en-US" dirty="0"/>
              <a:t> – </a:t>
            </a:r>
            <a:r>
              <a:rPr lang="en-US" i="1" dirty="0"/>
              <a:t>Reduce the stray cat &amp; dog population, improving the city image through sterilization, impounding and enforcement against abandonment, in line with DMT targets;</a:t>
            </a:r>
          </a:p>
          <a:p>
            <a:pPr algn="just"/>
            <a:r>
              <a:rPr lang="en-US" i="1" dirty="0"/>
              <a:t>weight = 5 %,</a:t>
            </a:r>
          </a:p>
          <a:p>
            <a:pPr algn="just"/>
            <a:r>
              <a:rPr lang="en-US" i="1" dirty="0"/>
              <a:t>deadline Q4 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694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Janna LT" pitchFamily="2" charset="-78"/>
                <a:cs typeface="Janna LT" pitchFamily="2" charset="-78"/>
              </a:rPr>
              <a:t>Executive Initiative #5 </a:t>
            </a:r>
            <a:r>
              <a:rPr lang="en-US" dirty="0">
                <a:solidFill>
                  <a:schemeClr val="accent2"/>
                </a:solidFill>
                <a:cs typeface="Janna LT" pitchFamily="2" charset="-78"/>
              </a:rPr>
              <a:t>Proposed Work‑plan </a:t>
            </a:r>
            <a:endParaRPr lang="en-US" dirty="0">
              <a:solidFill>
                <a:schemeClr val="accent2"/>
              </a:solidFill>
              <a:latin typeface="Janna LT" pitchFamily="2" charset="-78"/>
              <a:cs typeface="Janna LT" pitchFamily="2" charset="-78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45FC8D6-907E-4F35-357D-ADA39AF8F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303969"/>
              </p:ext>
            </p:extLst>
          </p:nvPr>
        </p:nvGraphicFramePr>
        <p:xfrm>
          <a:off x="1438275" y="2708002"/>
          <a:ext cx="21507450" cy="899273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810125">
                  <a:extLst>
                    <a:ext uri="{9D8B030D-6E8A-4147-A177-3AD203B41FA5}">
                      <a16:colId xmlns:a16="http://schemas.microsoft.com/office/drawing/2014/main" val="1190993663"/>
                    </a:ext>
                  </a:extLst>
                </a:gridCol>
                <a:gridCol w="8782050">
                  <a:extLst>
                    <a:ext uri="{9D8B030D-6E8A-4147-A177-3AD203B41FA5}">
                      <a16:colId xmlns:a16="http://schemas.microsoft.com/office/drawing/2014/main" val="417019311"/>
                    </a:ext>
                  </a:extLst>
                </a:gridCol>
                <a:gridCol w="7915275">
                  <a:extLst>
                    <a:ext uri="{9D8B030D-6E8A-4147-A177-3AD203B41FA5}">
                      <a16:colId xmlns:a16="http://schemas.microsoft.com/office/drawing/2014/main" val="2805220093"/>
                    </a:ext>
                  </a:extLst>
                </a:gridCol>
              </a:tblGrid>
              <a:tr h="4414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2"/>
                          </a:solidFill>
                          <a:cs typeface="Janna LT"/>
                        </a:rPr>
                        <a:t>Phase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2"/>
                          </a:solidFill>
                          <a:cs typeface="Janna LT"/>
                        </a:rPr>
                        <a:t>Key Activities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2"/>
                          </a:solidFill>
                          <a:cs typeface="Janna LT"/>
                        </a:rPr>
                        <a:t>Deliverables &amp; KPIs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415954412"/>
                  </a:ext>
                </a:extLst>
              </a:tr>
              <a:tr h="1576572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1 – </a:t>
                      </a:r>
                      <a:r>
                        <a:rPr lang="en-US" sz="2800" b="1" dirty="0">
                          <a:solidFill>
                            <a:schemeClr val="tx2"/>
                          </a:solidFill>
                          <a:cs typeface="Janna LT"/>
                        </a:rPr>
                        <a:t>Site Selection</a:t>
                      </a:r>
                      <a:endParaRPr lang="en-US" sz="2800" dirty="0">
                        <a:solidFill>
                          <a:schemeClr val="tx2"/>
                        </a:solidFill>
                        <a:cs typeface="Janna LT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lphaLcParenR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Define selection criteria (population density, green‑space deficit, traffic volumes).</a:t>
                      </a:r>
                    </a:p>
                    <a:p>
                      <a:pPr marL="457200" indent="-457200">
                        <a:buFont typeface="+mj-lt"/>
                        <a:buAutoNum type="alphaLcParenR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Short‑list three zones with Planning Sector.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2"/>
                          </a:solidFill>
                          <a:cs typeface="Janna LT"/>
                        </a:rPr>
                        <a:t>Report:</a:t>
                      </a: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 justification &amp; baseline map.</a:t>
                      </a:r>
                    </a:p>
                    <a:p>
                      <a:r>
                        <a:rPr lang="en-US" sz="2800" b="1" dirty="0">
                          <a:solidFill>
                            <a:schemeClr val="tx2"/>
                          </a:solidFill>
                          <a:cs typeface="Janna LT"/>
                        </a:rPr>
                        <a:t>KPI:</a:t>
                      </a: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 neighborhoods approved (3).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866874306"/>
                  </a:ext>
                </a:extLst>
              </a:tr>
              <a:tr h="1576572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2 – </a:t>
                      </a:r>
                      <a:r>
                        <a:rPr lang="en-US" sz="2800" b="1" dirty="0">
                          <a:solidFill>
                            <a:schemeClr val="tx2"/>
                          </a:solidFill>
                          <a:cs typeface="Janna LT"/>
                        </a:rPr>
                        <a:t>Baseline Audit</a:t>
                      </a:r>
                      <a:endParaRPr lang="en-US" sz="2800" dirty="0">
                        <a:solidFill>
                          <a:schemeClr val="tx2"/>
                        </a:solidFill>
                        <a:cs typeface="Janna LT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lphaLcParenR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Field survey of parks, pedestrian links, pet‑waste bins, vet clinics.</a:t>
                      </a:r>
                    </a:p>
                    <a:p>
                      <a:pPr marL="457200" indent="-457200">
                        <a:buFont typeface="+mj-lt"/>
                        <a:buAutoNum type="alphaLcParenR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Analyses traffic circulation and public‑transport nodes.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2"/>
                          </a:solidFill>
                          <a:cs typeface="Janna LT"/>
                        </a:rPr>
                        <a:t>Gap analysis</a:t>
                      </a:r>
                      <a:r>
                        <a:rPr lang="en-US" sz="2800">
                          <a:solidFill>
                            <a:schemeClr val="tx2"/>
                          </a:solidFill>
                          <a:cs typeface="Janna LT"/>
                        </a:rPr>
                        <a:t> (GIS layer).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172249985"/>
                  </a:ext>
                </a:extLst>
              </a:tr>
              <a:tr h="1954949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2"/>
                          </a:solidFill>
                          <a:cs typeface="Janna LT"/>
                        </a:rPr>
                        <a:t>3 – </a:t>
                      </a:r>
                      <a:r>
                        <a:rPr lang="en-US" sz="2800" b="1">
                          <a:solidFill>
                            <a:schemeClr val="tx2"/>
                          </a:solidFill>
                          <a:cs typeface="Janna LT"/>
                        </a:rPr>
                        <a:t>Design Package</a:t>
                      </a:r>
                      <a:endParaRPr lang="en-US" sz="2800">
                        <a:solidFill>
                          <a:schemeClr val="tx2"/>
                        </a:solidFill>
                        <a:cs typeface="Janna LT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lphaLcParenR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Layout off‑leash dog areas, water stations, waste‑bag dispensers.</a:t>
                      </a:r>
                    </a:p>
                    <a:p>
                      <a:pPr marL="457200" indent="-457200">
                        <a:buFont typeface="+mj-lt"/>
                        <a:buAutoNum type="alphaLcParenR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Draft amendments to right‑of‑way standards for shared paths &amp; crossings.</a:t>
                      </a:r>
                    </a:p>
                    <a:p>
                      <a:pPr marL="457200" indent="-457200">
                        <a:buFont typeface="+mj-lt"/>
                        <a:buAutoNum type="alphaLcParenR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Estimate CAPEX/OPEX.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2"/>
                          </a:solidFill>
                          <a:cs typeface="Janna LT"/>
                        </a:rPr>
                        <a:t>Pet‑Friendly Toolkit</a:t>
                      </a:r>
                      <a:r>
                        <a:rPr lang="en-US" sz="2800">
                          <a:solidFill>
                            <a:schemeClr val="tx2"/>
                          </a:solidFill>
                          <a:cs typeface="Janna LT"/>
                        </a:rPr>
                        <a:t> (design standards + cost model).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322326190"/>
                  </a:ext>
                </a:extLst>
              </a:tr>
              <a:tr h="1576572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2"/>
                          </a:solidFill>
                          <a:cs typeface="Janna LT"/>
                        </a:rPr>
                        <a:t>4 – </a:t>
                      </a:r>
                      <a:r>
                        <a:rPr lang="en-US" sz="2800" b="1">
                          <a:solidFill>
                            <a:schemeClr val="tx2"/>
                          </a:solidFill>
                          <a:cs typeface="Janna LT"/>
                        </a:rPr>
                        <a:t>Stakeholder Engagement</a:t>
                      </a:r>
                      <a:endParaRPr lang="en-US" sz="2800">
                        <a:solidFill>
                          <a:schemeClr val="tx2"/>
                        </a:solidFill>
                        <a:cs typeface="Janna LT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lphaLcParenR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Workshops with residents, Transport Sector, private developers.</a:t>
                      </a:r>
                    </a:p>
                    <a:p>
                      <a:pPr marL="457200" indent="-457200">
                        <a:buFont typeface="+mj-lt"/>
                        <a:buAutoNum type="alphaLcParenR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Collect feedback; refine design.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2"/>
                          </a:solidFill>
                          <a:cs typeface="Janna LT"/>
                        </a:rPr>
                        <a:t>Engagement log</a:t>
                      </a: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 &amp; revised toolkit.</a:t>
                      </a:r>
                    </a:p>
                    <a:p>
                      <a:r>
                        <a:rPr lang="en-US" sz="2800" b="1" dirty="0">
                          <a:solidFill>
                            <a:schemeClr val="tx2"/>
                          </a:solidFill>
                          <a:cs typeface="Janna LT"/>
                        </a:rPr>
                        <a:t>KPI:</a:t>
                      </a: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 ≥ 70 % resident satisfaction in survey.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828499166"/>
                  </a:ext>
                </a:extLst>
              </a:tr>
              <a:tr h="1576572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2"/>
                          </a:solidFill>
                          <a:cs typeface="Janna LT"/>
                        </a:rPr>
                        <a:t>5 – </a:t>
                      </a:r>
                      <a:r>
                        <a:rPr lang="en-US" sz="2800" b="1">
                          <a:solidFill>
                            <a:schemeClr val="tx2"/>
                          </a:solidFill>
                          <a:cs typeface="Janna LT"/>
                        </a:rPr>
                        <a:t>Implementation Road‑map</a:t>
                      </a:r>
                      <a:endParaRPr lang="en-US" sz="2800">
                        <a:solidFill>
                          <a:schemeClr val="tx2"/>
                        </a:solidFill>
                        <a:cs typeface="Janna LT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lphaLcParenR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Phased construction plan (Q4 2025 – 2026).</a:t>
                      </a:r>
                    </a:p>
                    <a:p>
                      <a:pPr marL="457200" indent="-457200">
                        <a:buFont typeface="+mj-lt"/>
                        <a:buAutoNum type="alphaLcParenR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Assign responsibilities (Municipal Services, AD Mobility, contractors).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2"/>
                          </a:solidFill>
                          <a:cs typeface="Janna LT"/>
                        </a:rPr>
                        <a:t>Final Action Plan</a:t>
                      </a: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 with Gantt chart &amp; quarterly progress metrics (e.g., Number of amenities installed).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734742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164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28989-AA75-F6D2-4E53-DE1C0CACD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A51BB-7DCC-C741-6550-A2CAD288B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Janna LT" pitchFamily="2" charset="-78"/>
                <a:cs typeface="Janna LT" pitchFamily="2" charset="-78"/>
              </a:rPr>
              <a:t>Executive Initiative #10 </a:t>
            </a:r>
            <a:r>
              <a:rPr lang="en-US" dirty="0">
                <a:solidFill>
                  <a:schemeClr val="accent2"/>
                </a:solidFill>
                <a:cs typeface="Janna LT" pitchFamily="2" charset="-78"/>
              </a:rPr>
              <a:t>Proposed Work‑plan </a:t>
            </a:r>
            <a:endParaRPr lang="en-US" dirty="0">
              <a:solidFill>
                <a:schemeClr val="accent2"/>
              </a:solidFill>
              <a:latin typeface="Janna LT" pitchFamily="2" charset="-78"/>
              <a:cs typeface="Janna LT" pitchFamily="2" charset="-78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ACF72FD-5498-94AC-EF88-D0F7C0149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131856"/>
              </p:ext>
            </p:extLst>
          </p:nvPr>
        </p:nvGraphicFramePr>
        <p:xfrm>
          <a:off x="1438275" y="1826900"/>
          <a:ext cx="21507450" cy="10577717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314825">
                  <a:extLst>
                    <a:ext uri="{9D8B030D-6E8A-4147-A177-3AD203B41FA5}">
                      <a16:colId xmlns:a16="http://schemas.microsoft.com/office/drawing/2014/main" val="1190993663"/>
                    </a:ext>
                  </a:extLst>
                </a:gridCol>
                <a:gridCol w="9277350">
                  <a:extLst>
                    <a:ext uri="{9D8B030D-6E8A-4147-A177-3AD203B41FA5}">
                      <a16:colId xmlns:a16="http://schemas.microsoft.com/office/drawing/2014/main" val="417019311"/>
                    </a:ext>
                  </a:extLst>
                </a:gridCol>
                <a:gridCol w="7915275">
                  <a:extLst>
                    <a:ext uri="{9D8B030D-6E8A-4147-A177-3AD203B41FA5}">
                      <a16:colId xmlns:a16="http://schemas.microsoft.com/office/drawing/2014/main" val="2805220093"/>
                    </a:ext>
                  </a:extLst>
                </a:gridCol>
              </a:tblGrid>
              <a:tr h="4414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2"/>
                          </a:solidFill>
                          <a:cs typeface="Janna LT"/>
                        </a:rPr>
                        <a:t>Pillar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2"/>
                          </a:solidFill>
                          <a:cs typeface="Janna LT"/>
                        </a:rPr>
                        <a:t>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2"/>
                          </a:solidFill>
                          <a:cs typeface="Janna LT"/>
                        </a:rPr>
                        <a:t>Indicators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954412"/>
                  </a:ext>
                </a:extLst>
              </a:tr>
              <a:tr h="1576572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2"/>
                          </a:solidFill>
                          <a:cs typeface="Janna LT"/>
                        </a:rPr>
                        <a:t>A. Establish Baseline</a:t>
                      </a:r>
                      <a:endParaRPr lang="en-US" sz="2800" dirty="0">
                        <a:solidFill>
                          <a:schemeClr val="tx2"/>
                        </a:solidFill>
                        <a:cs typeface="Janna 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City‑wide visual counts + analysis of complaint data.</a:t>
                      </a:r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Map hot‑spots.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Baseline density (animals/km²) estimated Q2 2025.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6874306"/>
                  </a:ext>
                </a:extLst>
              </a:tr>
              <a:tr h="1576572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2"/>
                          </a:solidFill>
                          <a:cs typeface="Janna LT"/>
                        </a:rPr>
                        <a:t>B. Sterilisation (TNR)</a:t>
                      </a:r>
                      <a:endParaRPr lang="en-US" sz="2800">
                        <a:solidFill>
                          <a:schemeClr val="tx2"/>
                        </a:solidFill>
                        <a:cs typeface="Janna 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Expand trap‑neuter‑return teams; partner with private vet clinics.</a:t>
                      </a:r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Monthly sterilization quotas per hot‑spot.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% reduction in juvenile captures;</a:t>
                      </a:r>
                    </a:p>
                    <a:p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 ≥ 8 000 surgeries by Q4 2025.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2249985"/>
                  </a:ext>
                </a:extLst>
              </a:tr>
              <a:tr h="1954949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2"/>
                          </a:solidFill>
                          <a:cs typeface="Janna LT"/>
                        </a:rPr>
                        <a:t>C. Impounding &amp; Adoption</a:t>
                      </a:r>
                      <a:endParaRPr lang="en-US" sz="2800">
                        <a:solidFill>
                          <a:schemeClr val="tx2"/>
                        </a:solidFill>
                        <a:cs typeface="Janna 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Upgrade municipal shelter capacity.</a:t>
                      </a:r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Launch digital adoption portal with vet‑checked animals.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Shelter occupancy ≤ 85 %; </a:t>
                      </a:r>
                    </a:p>
                    <a:p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adoption rate ≥ 60 % of intakes.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2326190"/>
                  </a:ext>
                </a:extLst>
              </a:tr>
              <a:tr h="1576572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2"/>
                          </a:solidFill>
                          <a:cs typeface="Janna LT"/>
                        </a:rPr>
                        <a:t>D. Enforcement</a:t>
                      </a:r>
                      <a:endParaRPr lang="en-US" sz="2800">
                        <a:solidFill>
                          <a:schemeClr val="tx2"/>
                        </a:solidFill>
                        <a:cs typeface="Janna 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Issue fines for abandonment &amp; unlicensed breeding.</a:t>
                      </a:r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Quarterly inspections of pet shops and markets.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# violations issued / collected; </a:t>
                      </a:r>
                    </a:p>
                    <a:p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compliance &gt; 90 %.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499166"/>
                  </a:ext>
                </a:extLst>
              </a:tr>
              <a:tr h="1576572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2"/>
                          </a:solidFill>
                          <a:cs typeface="Janna LT"/>
                        </a:rPr>
                        <a:t>E. Public Awareness</a:t>
                      </a:r>
                      <a:endParaRPr lang="en-US" sz="2800">
                        <a:solidFill>
                          <a:schemeClr val="tx2"/>
                        </a:solidFill>
                        <a:cs typeface="Janna 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Media campaign on responsible ownership; school outreach.</a:t>
                      </a:r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 Community volunteer programs for feeding stations under permit.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Campaign reach (impressions), </a:t>
                      </a:r>
                    </a:p>
                    <a:p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volunteer hours logged.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4742847"/>
                  </a:ext>
                </a:extLst>
              </a:tr>
              <a:tr h="1576572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2"/>
                          </a:solidFill>
                          <a:cs typeface="Janna LT"/>
                        </a:rPr>
                        <a:t>F. Monitoring &amp; Reporting</a:t>
                      </a:r>
                      <a:endParaRPr lang="en-US" sz="2800">
                        <a:solidFill>
                          <a:schemeClr val="tx2"/>
                        </a:solidFill>
                        <a:cs typeface="Janna 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Quarterly KPI (dashboard if applicable) to DG &amp; DMT.</a:t>
                      </a:r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Adjust tactics based on trend analysis.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KPI reports delivered on time; </a:t>
                      </a:r>
                    </a:p>
                    <a:p>
                      <a:r>
                        <a:rPr lang="en-US" sz="2800" dirty="0">
                          <a:solidFill>
                            <a:schemeClr val="tx2"/>
                          </a:solidFill>
                          <a:cs typeface="Janna LT"/>
                        </a:rPr>
                        <a:t>≥ 15 % population reduction by Q4 2025.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94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8802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33000">
                <a:schemeClr val="accent2"/>
              </a:gs>
              <a:gs pos="66000">
                <a:schemeClr val="accent4"/>
              </a:gs>
              <a:gs pos="100000">
                <a:schemeClr val="accent6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Janna LT" pitchFamily="2" charset="-78"/>
              <a:cs typeface="Janna LT" pitchFamily="2" charset="-7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93877" y="5049331"/>
            <a:ext cx="11396245" cy="16989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200" dirty="0">
                <a:solidFill>
                  <a:schemeClr val="bg1"/>
                </a:solidFill>
                <a:latin typeface="Janna LT" pitchFamily="2" charset="-78"/>
                <a:ea typeface="Open Sans Light" panose="020B0306030504020204" pitchFamily="34" charset="0"/>
                <a:cs typeface="Janna LT" pitchFamily="2" charset="-78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3877" y="8135829"/>
            <a:ext cx="11396245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Janna LT" pitchFamily="2" charset="-78"/>
                <a:ea typeface="Open Sans Light" panose="020B0306030504020204" pitchFamily="34" charset="0"/>
                <a:cs typeface="Janna LT" pitchFamily="2" charset="-78"/>
              </a:rPr>
              <a:t>Municipal Services Sector</a:t>
            </a:r>
          </a:p>
          <a:p>
            <a:pPr algn="ctr"/>
            <a:endParaRPr lang="en-US" sz="4400" b="1" dirty="0">
              <a:solidFill>
                <a:schemeClr val="bg1"/>
              </a:solidFill>
              <a:latin typeface="Janna LT" pitchFamily="2" charset="-78"/>
              <a:ea typeface="Open Sans Light" panose="020B0306030504020204" pitchFamily="34" charset="0"/>
              <a:cs typeface="Janna LT" pitchFamily="2" charset="-7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3877" y="9040023"/>
            <a:ext cx="1139624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Janna LT" pitchFamily="2" charset="-78"/>
                <a:cs typeface="Janna LT" pitchFamily="2" charset="-78"/>
              </a:rPr>
              <a:t>30/07/2025</a:t>
            </a:r>
            <a:endParaRPr lang="en-US" sz="2800" dirty="0">
              <a:solidFill>
                <a:schemeClr val="bg1"/>
              </a:solidFill>
              <a:latin typeface="Janna LT" pitchFamily="2" charset="-78"/>
              <a:ea typeface="Open Sans Light" panose="020B0306030504020204" pitchFamily="34" charset="0"/>
              <a:cs typeface="Janna LT" pitchFamily="2" charset="-78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705109" y="4669998"/>
            <a:ext cx="10973779" cy="2548056"/>
            <a:chOff x="6893895" y="4913541"/>
            <a:chExt cx="10973779" cy="2548056"/>
          </a:xfrm>
        </p:grpSpPr>
        <p:grpSp>
          <p:nvGrpSpPr>
            <p:cNvPr id="16" name="Group 15"/>
            <p:cNvGrpSpPr/>
            <p:nvPr/>
          </p:nvGrpSpPr>
          <p:grpSpPr>
            <a:xfrm>
              <a:off x="6893895" y="4913541"/>
              <a:ext cx="1473200" cy="1463040"/>
              <a:chOff x="6602493" y="4455478"/>
              <a:chExt cx="1473200" cy="1463040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 flipH="1">
                <a:off x="6612653" y="4470400"/>
                <a:ext cx="1463040" cy="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6602493" y="4455478"/>
                <a:ext cx="0" cy="146304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>
            <a:xfrm rot="10800000">
              <a:off x="16394474" y="5998557"/>
              <a:ext cx="1473200" cy="1463040"/>
              <a:chOff x="6009640" y="3582623"/>
              <a:chExt cx="1473200" cy="1463040"/>
            </a:xfrm>
          </p:grpSpPr>
          <p:cxnSp>
            <p:nvCxnSpPr>
              <p:cNvPr id="18" name="Straight Connector 17"/>
              <p:cNvCxnSpPr/>
              <p:nvPr/>
            </p:nvCxnSpPr>
            <p:spPr>
              <a:xfrm flipH="1">
                <a:off x="6019800" y="3597545"/>
                <a:ext cx="1463040" cy="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6009640" y="3582623"/>
                <a:ext cx="0" cy="146304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24960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usiness Report">
      <a:dk1>
        <a:srgbClr val="999999"/>
      </a:dk1>
      <a:lt1>
        <a:sysClr val="window" lastClr="FFFFFF"/>
      </a:lt1>
      <a:dk2>
        <a:srgbClr val="050A19"/>
      </a:dk2>
      <a:lt2>
        <a:srgbClr val="FFFFFF"/>
      </a:lt2>
      <a:accent1>
        <a:srgbClr val="00CCD7"/>
      </a:accent1>
      <a:accent2>
        <a:srgbClr val="00AFD2"/>
      </a:accent2>
      <a:accent3>
        <a:srgbClr val="0092C3"/>
      </a:accent3>
      <a:accent4>
        <a:srgbClr val="006DA4"/>
      </a:accent4>
      <a:accent5>
        <a:srgbClr val="005986"/>
      </a:accent5>
      <a:accent6>
        <a:srgbClr val="0048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7057</TotalTime>
  <Words>577</Words>
  <Application>Microsoft Office PowerPoint</Application>
  <PresentationFormat>Custom</PresentationFormat>
  <Paragraphs>80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Janna LT</vt:lpstr>
      <vt:lpstr>Arial</vt:lpstr>
      <vt:lpstr>Calibri</vt:lpstr>
      <vt:lpstr>Open Sans</vt:lpstr>
      <vt:lpstr>Open Sans Light</vt:lpstr>
      <vt:lpstr>Roboto</vt:lpstr>
      <vt:lpstr>Office Theme</vt:lpstr>
      <vt:lpstr>PowerPoint Presentation</vt:lpstr>
      <vt:lpstr>Content</vt:lpstr>
      <vt:lpstr>Executive Initiative #5 Proposed Work‑plan </vt:lpstr>
      <vt:lpstr>Executive Initiative #10 Proposed Work‑plan </vt:lpstr>
      <vt:lpstr>PowerPoint Presentation</vt:lpstr>
    </vt:vector>
  </TitlesOfParts>
  <Company>JafarDesigns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JafarDesigns</dc:creator>
  <cp:lastModifiedBy>Raeef W. Arnaoot</cp:lastModifiedBy>
  <cp:revision>1271</cp:revision>
  <dcterms:created xsi:type="dcterms:W3CDTF">2016-06-20T18:47:00Z</dcterms:created>
  <dcterms:modified xsi:type="dcterms:W3CDTF">2025-07-30T12:20:33Z</dcterms:modified>
</cp:coreProperties>
</file>